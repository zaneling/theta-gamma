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8"/>
    <p:restoredTop sz="94719"/>
  </p:normalViewPr>
  <p:slideViewPr>
    <p:cSldViewPr snapToGrid="0">
      <p:cViewPr varScale="1">
        <p:scale>
          <a:sx n="148" d="100"/>
          <a:sy n="148" d="100"/>
        </p:scale>
        <p:origin x="1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01782-0BBA-90F5-84D1-336D4F49D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8ED5F5-0AA0-209D-2157-666D824AF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0F0220-7C93-85B0-DDDF-A5CDA7DF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E95C5-A237-4EC1-DB3E-CF01EBC1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75E6A-1BD3-22FA-C0DE-769637C9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003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78788-4832-BCCF-35BF-2F5538A8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A4D541-647C-F506-EE65-4360F08E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5B50F-41C3-466E-05F4-42C65331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9C205-07AB-9526-B3A4-6ED5AAF8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921A9-D778-A443-5870-1BE89769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0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027C6-E3BB-F195-5358-BBA68BD7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EEC017-C281-2D3B-FAB4-F814DBEFC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369F3-7572-8D8E-C100-009519EA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D132B2-B3C0-77DE-F7BC-C94773DF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2BA47-061C-3F86-8A61-4B7294BF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167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D502B-AEC7-10CF-A696-E84B4E3C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65B79-94EE-7F54-6116-CC8264A4D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CF69D9-4731-873D-717F-3222CCD4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2817B6-7579-5CBC-0171-80A8998A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B1301-FE56-424C-AA15-F3CD97B6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6262C2-CA8F-7373-D131-F11FD368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251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75A1-7CE9-7BAE-6FFE-77CD22A8E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C5D93-F6FB-F56E-56C6-C883E495E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296E95-9F93-FFCD-A822-F0B2E3962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12B6B8-4320-D9BA-2974-6452DD813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C7B3D4-790E-7158-21E6-30D03E71E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3C671B-6F15-A1A3-6392-75127797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C9EA99-0157-4188-5A62-421DDB28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F8394D-5562-B019-F4BB-BDD99667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809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533A6-53BC-F3F1-B105-5E6C37D0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213276-EC77-AAD5-FAB8-AF3FEADD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5F804E-254B-22FE-D414-2FD5E08E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70B0F2-73AC-CB19-2DF2-28E8C66C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780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486E9F-161B-12B7-8D91-D565728F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A58B21-EB08-5F62-1B8F-9FAF2549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CBE3A2-213D-DA4D-EFEB-8842158E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06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EE160-6010-6715-F738-5A0ED84F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7C4412-D24E-C127-1ECF-4CA7F4D73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B19DDA-6F8D-9089-D3D8-FF31793E0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98139-086C-69C2-5C5D-9089F718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FFB4BD-4401-2721-14AF-ECDFCB14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A7E0A3-CA20-569D-DE9B-6E4EEA40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78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1EA43-A373-C70A-C882-0AB7E582C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CB61FA-33CD-FF5A-86EE-A227EBE2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5AB1B-D2B3-24CD-5877-925E3F6B8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811983-36EC-146B-6478-D75C3F6E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727C4-E9EF-4F41-0823-BE742BBD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0AE554-6EA5-4E5B-E7BF-D85C9886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4073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6DA88-8251-1A36-3D90-00A6BC88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0119F2-ECFC-F0AD-6F3B-46EDD7771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27340-B14C-2AFD-2878-6A5EB9CD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C17625-AA04-B56A-5F42-52C6671D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009F9-1A97-5BC0-3C74-742DE628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901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5BB5F9-2CBD-ED1E-6DB1-EEFC5D890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3CDAAF-2773-2559-603B-9B291F0FD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6BE3C-545F-B0B8-7BF7-CDB11AB8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28910-E604-29EC-CA77-E6BF6FB8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D6786-3CA2-BC02-66B6-AEF863FC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24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322C6A-AC2C-4934-5E62-D0D033AF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AFDD78-DC69-3150-83AC-8DAE5DF7A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63D81-13F4-5F5A-5CD1-C5BC1F715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8CC61-20DA-F749-A5C5-B7F8A1DBB665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94574-D793-6CD4-4EC7-F8DAB1C59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B3F99-1010-85D7-062A-89060525D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2F896-3DE7-A544-B8C0-2ECBD2CF79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536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41D9-1DAB-BB60-0BDD-132755CF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AC3F9-5774-31CB-55C4-95E33CEB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7892"/>
            <a:ext cx="10515600" cy="5841999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zh-CN" altLang="en-US" sz="1800" b="1" dirty="0"/>
              <a:t>多跳问题的</a:t>
            </a:r>
            <a:r>
              <a:rPr lang="zh-CN" altLang="en-US" sz="1800" b="1" dirty="0">
                <a:solidFill>
                  <a:srgbClr val="FF0000"/>
                </a:solidFill>
              </a:rPr>
              <a:t>注意力衰减问题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800" b="1" dirty="0"/>
              <a:t>越往后越不知道自己原来想要干什么，加上大模型的幻觉，会逐渐偏离核心主问题。</a:t>
            </a:r>
            <a:endParaRPr lang="en-US" altLang="zh-CN" sz="1800" b="1" dirty="0"/>
          </a:p>
          <a:p>
            <a:pPr marL="0" indent="0">
              <a:buNone/>
            </a:pPr>
            <a:endParaRPr lang="en-US" altLang="zh-CN" sz="1800" b="1" dirty="0"/>
          </a:p>
          <a:p>
            <a:pPr marL="0" indent="0">
              <a:buNone/>
            </a:pPr>
            <a:endParaRPr lang="en-US" altLang="zh-CN" sz="1800" b="1" dirty="0"/>
          </a:p>
          <a:p>
            <a:pPr marL="0" indent="0">
              <a:buNone/>
            </a:pPr>
            <a:endParaRPr lang="en-US" altLang="zh-CN" sz="1800" b="1" dirty="0"/>
          </a:p>
          <a:p>
            <a:pPr marL="0" indent="0">
              <a:buNone/>
            </a:pPr>
            <a:endParaRPr lang="en-US" altLang="zh-CN" sz="1800" b="1" dirty="0"/>
          </a:p>
          <a:p>
            <a:pPr marL="0" indent="0">
              <a:buNone/>
            </a:pPr>
            <a:endParaRPr lang="en-US" altLang="zh-CN" sz="1800" b="1" dirty="0"/>
          </a:p>
          <a:p>
            <a:pPr marL="0" indent="0">
              <a:buNone/>
            </a:pPr>
            <a:endParaRPr kumimoji="1" lang="en-US" altLang="zh-CN" sz="1800" b="1" dirty="0"/>
          </a:p>
          <a:p>
            <a:pPr marL="0" indent="0">
              <a:buNone/>
            </a:pPr>
            <a:r>
              <a:rPr kumimoji="1" lang="en-US" altLang="zh-CN" sz="1800" b="1" dirty="0"/>
              <a:t>2.</a:t>
            </a:r>
            <a:r>
              <a:rPr kumimoji="1" lang="zh-CN" altLang="en-US" sz="1800" b="1" dirty="0"/>
              <a:t>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逻辑空间坍缩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sz="1800" b="1" dirty="0"/>
              <a:t>大模型或者</a:t>
            </a:r>
            <a:r>
              <a:rPr kumimoji="1" lang="en-US" altLang="zh-CN" sz="1800" b="1" dirty="0" err="1"/>
              <a:t>CoT</a:t>
            </a:r>
            <a:r>
              <a:rPr kumimoji="1" lang="zh-CN" altLang="en-US" sz="1800" b="1" dirty="0"/>
              <a:t>思考的推理路径过于单一，过早收敛，专注检索，没有多推理链发散。</a:t>
            </a:r>
            <a:endParaRPr kumimoji="1" lang="en-US" altLang="zh-CN" sz="1800" dirty="0"/>
          </a:p>
          <a:p>
            <a:pPr marL="0" indent="0">
              <a:buNone/>
            </a:pPr>
            <a:endParaRPr kumimoji="1" lang="en-US" altLang="zh-CN" sz="1800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3A8F7FB8-4EB6-4944-552C-7D64F5AB0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8" y="1443551"/>
            <a:ext cx="7772400" cy="17758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1AE30E-EF37-3972-0FDC-1408F4E8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04729" cy="759309"/>
          </a:xfrm>
        </p:spPr>
        <p:txBody>
          <a:bodyPr/>
          <a:lstStyle/>
          <a:p>
            <a:r>
              <a:rPr kumimoji="1" lang="en-US" altLang="zh-CN" b="1" dirty="0"/>
              <a:t>Problem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&amp;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Core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Bottleneck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Examples</a:t>
            </a:r>
            <a:endParaRPr kumimoji="1" lang="zh-CN" altLang="en-US" b="1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F302EE29-416B-0706-B3F3-219CBBE6186F}"/>
              </a:ext>
            </a:extLst>
          </p:cNvPr>
          <p:cNvCxnSpPr/>
          <p:nvPr/>
        </p:nvCxnSpPr>
        <p:spPr>
          <a:xfrm>
            <a:off x="283393" y="3009181"/>
            <a:ext cx="315806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B4E7C066-45D6-657C-A43D-3B82230F2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8" y="4405501"/>
            <a:ext cx="7772400" cy="1680124"/>
          </a:xfrm>
          <a:prstGeom prst="rect">
            <a:avLst/>
          </a:prstGeom>
        </p:spPr>
      </p:pic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0B92691-3CB8-E5E3-0D00-ADCCA0F1EA78}"/>
              </a:ext>
            </a:extLst>
          </p:cNvPr>
          <p:cNvCxnSpPr>
            <a:cxnSpLocks/>
          </p:cNvCxnSpPr>
          <p:nvPr/>
        </p:nvCxnSpPr>
        <p:spPr>
          <a:xfrm>
            <a:off x="283393" y="5351980"/>
            <a:ext cx="6654004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B2839128-17FD-019A-D3AF-D5A851E1B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28" y="1381664"/>
            <a:ext cx="4094672" cy="2047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2E4C412-B03A-E518-DF0C-284800C263A6}"/>
              </a:ext>
            </a:extLst>
          </p:cNvPr>
          <p:cNvSpPr txBox="1"/>
          <p:nvPr/>
        </p:nvSpPr>
        <p:spPr>
          <a:xfrm>
            <a:off x="8097328" y="3429000"/>
            <a:ext cx="432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注意力和子问题连贯性会随着跳数增加而逐步衰减。</a:t>
            </a:r>
          </a:p>
        </p:txBody>
      </p:sp>
    </p:spTree>
    <p:extLst>
      <p:ext uri="{BB962C8B-B14F-4D97-AF65-F5344CB8AC3E}">
        <p14:creationId xmlns:p14="http://schemas.microsoft.com/office/powerpoint/2010/main" val="8739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F7F15A3C-CEC7-7AA6-44F5-C711084B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499"/>
          <a:stretch>
            <a:fillRect/>
          </a:stretch>
        </p:blipFill>
        <p:spPr>
          <a:xfrm>
            <a:off x="94889" y="2201424"/>
            <a:ext cx="6219646" cy="45683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A2BA9C3-ACB2-4B72-C032-EBACA89E48B7}"/>
              </a:ext>
            </a:extLst>
          </p:cNvPr>
          <p:cNvSpPr txBox="1"/>
          <p:nvPr/>
        </p:nvSpPr>
        <p:spPr>
          <a:xfrm>
            <a:off x="0" y="0"/>
            <a:ext cx="69188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dirty="0"/>
              <a:t>Innovation and Architecture</a:t>
            </a:r>
            <a:endParaRPr kumimoji="1" lang="zh-CN" altLang="en-US" sz="44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8DF52CF-FE65-49BC-6EA4-041362EA5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03205"/>
              </p:ext>
            </p:extLst>
          </p:nvPr>
        </p:nvGraphicFramePr>
        <p:xfrm>
          <a:off x="6521569" y="2201424"/>
          <a:ext cx="5420266" cy="4568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133">
                  <a:extLst>
                    <a:ext uri="{9D8B030D-6E8A-4147-A177-3AD203B41FA5}">
                      <a16:colId xmlns:a16="http://schemas.microsoft.com/office/drawing/2014/main" val="333071152"/>
                    </a:ext>
                  </a:extLst>
                </a:gridCol>
                <a:gridCol w="2710133">
                  <a:extLst>
                    <a:ext uri="{9D8B030D-6E8A-4147-A177-3AD203B41FA5}">
                      <a16:colId xmlns:a16="http://schemas.microsoft.com/office/drawing/2014/main" val="660420532"/>
                    </a:ext>
                  </a:extLst>
                </a:gridCol>
              </a:tblGrid>
              <a:tr h="1076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Theta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Rhythm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l-GR" altLang="zh-CN" sz="1400" b="0" dirty="0">
                          <a:solidFill>
                            <a:schemeClr val="tx1"/>
                          </a:solidFill>
                        </a:rPr>
                        <a:t>θ</a:t>
                      </a:r>
                      <a:br>
                        <a:rPr lang="en-US" altLang="zh-CN" sz="1400" b="0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altLang="zh-CN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维持核心注意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zh-CN" sz="1400" b="0" dirty="0">
                          <a:solidFill>
                            <a:schemeClr val="tx1"/>
                          </a:solidFill>
                        </a:rPr>
                        <a:t>θ 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Controller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用于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维持核心问题语义表示作为全局锚点。</a:t>
                      </a:r>
                      <a:br>
                        <a:rPr lang="zh-CN" altLang="en-US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主要解决注意力衰减问题。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783343"/>
                  </a:ext>
                </a:extLst>
              </a:tr>
              <a:tr h="1746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Gamma</a:t>
                      </a:r>
                      <a:r>
                        <a:rPr lang="zh-CN" altLang="en-US" sz="1400" b="0" dirty="0"/>
                        <a:t> </a:t>
                      </a:r>
                      <a:r>
                        <a:rPr lang="en-US" altLang="zh-CN" sz="1400" b="0" dirty="0"/>
                        <a:t>Rhythm</a:t>
                      </a:r>
                      <a:r>
                        <a:rPr lang="zh-CN" altLang="en-US" sz="1400" b="0" dirty="0"/>
                        <a:t> </a:t>
                      </a:r>
                      <a:r>
                        <a:rPr lang="el-GR" altLang="zh-CN" sz="1400" b="0" dirty="0"/>
                        <a:t>γ </a:t>
                      </a:r>
                      <a:endParaRPr lang="en-US" altLang="zh-CN" sz="1400" b="0" dirty="0"/>
                    </a:p>
                    <a:p>
                      <a:pPr algn="ctr"/>
                      <a:endParaRPr lang="en-US" altLang="zh-CN" sz="1400" b="0" dirty="0"/>
                    </a:p>
                    <a:p>
                      <a:pPr algn="ctr"/>
                      <a:r>
                        <a:rPr lang="zh-CN" altLang="en-US" sz="1400" b="0" dirty="0"/>
                        <a:t>拓展推理空间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altLang="zh-CN" sz="1400" b="0" dirty="0"/>
                        <a:t>γ-</a:t>
                      </a:r>
                      <a:r>
                        <a:rPr lang="en-US" altLang="zh-CN" sz="1400" b="0" dirty="0"/>
                        <a:t>slot </a:t>
                      </a:r>
                      <a:r>
                        <a:rPr lang="zh-CN" altLang="en-US" sz="1400" b="0" dirty="0"/>
                        <a:t>在每个 </a:t>
                      </a:r>
                      <a:r>
                        <a:rPr lang="el-GR" altLang="zh-CN" sz="1400" b="0" dirty="0"/>
                        <a:t>θ </a:t>
                      </a:r>
                      <a:r>
                        <a:rPr lang="zh-CN" altLang="en-US" sz="1400" b="0" dirty="0"/>
                        <a:t>周期内生成多个并行推理分支。 每个 </a:t>
                      </a:r>
                      <a:r>
                        <a:rPr lang="el-GR" altLang="zh-CN" sz="1400" b="0" dirty="0"/>
                        <a:t>γ-</a:t>
                      </a:r>
                      <a:r>
                        <a:rPr lang="en-US" altLang="zh-CN" sz="1400" b="0" dirty="0"/>
                        <a:t>slot </a:t>
                      </a:r>
                      <a:r>
                        <a:rPr lang="zh-CN" altLang="en-US" sz="1400" b="0" dirty="0"/>
                        <a:t>存储一个“中间假设 </a:t>
                      </a:r>
                      <a:r>
                        <a:rPr lang="en-US" altLang="zh-CN" sz="1400" b="0" dirty="0"/>
                        <a:t>+ </a:t>
                      </a:r>
                      <a:r>
                        <a:rPr lang="zh-CN" altLang="en-US" sz="1400" b="0" dirty="0"/>
                        <a:t>支撑证据”。</a:t>
                      </a:r>
                      <a:endParaRPr lang="en-US" altLang="zh-CN" sz="1400" b="0" dirty="0"/>
                    </a:p>
                    <a:p>
                      <a:pPr algn="l"/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主要解决逻辑空间坍缩问题。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699849"/>
                  </a:ext>
                </a:extLst>
              </a:tr>
              <a:tr h="1746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Theta-Gamma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Coupling</a:t>
                      </a:r>
                      <a:r>
                        <a:rPr lang="zh-CN" altLang="en-US" sz="1400" dirty="0"/>
                        <a:t> </a:t>
                      </a:r>
                      <a:r>
                        <a:rPr lang="el-GR" altLang="zh-CN" sz="1400" b="1" dirty="0"/>
                        <a:t>θ–γ</a:t>
                      </a:r>
                      <a:endParaRPr lang="en-US" altLang="zh-CN" sz="1400" b="1" dirty="0"/>
                    </a:p>
                    <a:p>
                      <a:pPr algn="ctr"/>
                      <a:endParaRPr lang="en-US" altLang="zh-CN" sz="1400" b="1" dirty="0"/>
                    </a:p>
                    <a:p>
                      <a:pPr algn="ctr"/>
                      <a:r>
                        <a:rPr lang="zh-CN" altLang="el-GR" sz="1400" b="0" dirty="0"/>
                        <a:t>耦合机制</a:t>
                      </a:r>
                      <a:r>
                        <a:rPr lang="el-GR" altLang="zh-CN" sz="1400" b="0" dirty="0"/>
                        <a:t> 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前额叶在</a:t>
                      </a:r>
                      <a:r>
                        <a:rPr lang="el-GR" altLang="zh-CN" sz="1400" dirty="0"/>
                        <a:t>γ</a:t>
                      </a:r>
                      <a:r>
                        <a:rPr lang="zh-CN" altLang="el-GR" sz="1400" dirty="0"/>
                        <a:t>相位</a:t>
                      </a:r>
                      <a:r>
                        <a:rPr lang="zh-CN" altLang="en-US" sz="1400" dirty="0"/>
                        <a:t>负责任务规划，海马负责在</a:t>
                      </a:r>
                      <a:r>
                        <a:rPr lang="el-GR" altLang="zh-CN" sz="1400" dirty="0"/>
                        <a:t>θ</a:t>
                      </a:r>
                      <a:r>
                        <a:rPr lang="zh-CN" altLang="en-US" sz="1400" dirty="0"/>
                        <a:t>相位记忆重现与路径推理，两者通过</a:t>
                      </a:r>
                      <a:r>
                        <a:rPr lang="el-GR" altLang="zh-CN" sz="1400" dirty="0"/>
                        <a:t>θ–γ</a:t>
                      </a:r>
                      <a:r>
                        <a:rPr lang="zh-CN" altLang="en-US" sz="1400" dirty="0"/>
                        <a:t>耦合进行跨模态整合。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10859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064B815-1A1D-8E69-88D0-6B061D22294D}"/>
              </a:ext>
            </a:extLst>
          </p:cNvPr>
          <p:cNvSpPr txBox="1"/>
          <p:nvPr/>
        </p:nvSpPr>
        <p:spPr>
          <a:xfrm>
            <a:off x="0" y="769441"/>
            <a:ext cx="12097111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Theta-Gamma</a:t>
            </a:r>
            <a:r>
              <a:rPr lang="zh-CN" altLang="en-US" sz="1600" b="1" dirty="0"/>
              <a:t>框架</a:t>
            </a:r>
            <a:r>
              <a:rPr lang="zh-CN" altLang="en-US" sz="1600" dirty="0"/>
              <a:t>是一个脑启发、模块化计算机架构，旨在解决</a:t>
            </a:r>
            <a:r>
              <a:rPr lang="en-US" altLang="zh-CN" sz="1600" dirty="0"/>
              <a:t>NLP</a:t>
            </a:r>
            <a:r>
              <a:rPr lang="zh-CN" altLang="en-US" sz="1600" dirty="0"/>
              <a:t>多跳推理问题，通过模拟人脑</a:t>
            </a:r>
            <a:r>
              <a:rPr lang="en-US" altLang="zh-CN" sz="1600" dirty="0"/>
              <a:t>theta-gamma</a:t>
            </a:r>
            <a:r>
              <a:rPr lang="zh-CN" altLang="en-US" sz="1600" dirty="0"/>
              <a:t>耦合（序列组织与局部编码）。从输入查询 → </a:t>
            </a:r>
            <a:r>
              <a:rPr lang="en-US" altLang="zh-CN" sz="1600" dirty="0"/>
              <a:t>Theta</a:t>
            </a:r>
            <a:r>
              <a:rPr lang="zh-CN" altLang="en-US" sz="1600" dirty="0"/>
              <a:t>生成全局链条，整合信息 → </a:t>
            </a:r>
            <a:r>
              <a:rPr lang="en-US" altLang="zh-CN" sz="1600" dirty="0"/>
              <a:t>Gamma</a:t>
            </a:r>
            <a:r>
              <a:rPr lang="zh-CN" altLang="en-US" sz="1600" dirty="0"/>
              <a:t>填充局部细节，探索逻辑推理路径 → 输出优化链条。核心耦合通过频率嵌入（</a:t>
            </a:r>
            <a:r>
              <a:rPr lang="en-US" altLang="zh-CN" sz="1600" dirty="0"/>
              <a:t>theta</a:t>
            </a:r>
            <a:r>
              <a:rPr lang="zh-CN" altLang="en-US" sz="1600" dirty="0"/>
              <a:t>低频全局、</a:t>
            </a:r>
            <a:r>
              <a:rPr lang="en-US" altLang="zh-CN" sz="1600" dirty="0"/>
              <a:t>gamma</a:t>
            </a:r>
            <a:r>
              <a:rPr lang="zh-CN" altLang="en-US" sz="1600" dirty="0"/>
              <a:t>高频局部）和反馈信号实现，类似于脑中相位</a:t>
            </a:r>
            <a:r>
              <a:rPr lang="en-US" altLang="zh-CN" sz="1600" dirty="0"/>
              <a:t>-</a:t>
            </a:r>
            <a:r>
              <a:rPr lang="zh-CN" altLang="en-US" sz="1600" dirty="0"/>
              <a:t>幅度耦合（</a:t>
            </a:r>
            <a:r>
              <a:rPr lang="en-US" altLang="zh-CN" sz="1600" dirty="0"/>
              <a:t>PAC</a:t>
            </a:r>
            <a:r>
              <a:rPr lang="zh-CN" altLang="en-US" sz="16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44245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281</Words>
  <Application>Microsoft Macintosh PowerPoint</Application>
  <PresentationFormat>宽屏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Problem &amp; Core Bottleneck Examples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凌子扬</dc:creator>
  <cp:lastModifiedBy>凌子扬</cp:lastModifiedBy>
  <cp:revision>5</cp:revision>
  <dcterms:created xsi:type="dcterms:W3CDTF">2025-11-03T01:52:38Z</dcterms:created>
  <dcterms:modified xsi:type="dcterms:W3CDTF">2025-11-03T03:30:30Z</dcterms:modified>
</cp:coreProperties>
</file>