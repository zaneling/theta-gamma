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2"/>
    <p:sldId id="278" r:id="rId3"/>
    <p:sldId id="279" r:id="rId4"/>
    <p:sldId id="277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B39"/>
    <a:srgbClr val="FF6362"/>
    <a:srgbClr val="23F2B8"/>
    <a:srgbClr val="F2863A"/>
    <a:srgbClr val="F29E71"/>
    <a:srgbClr val="F28526"/>
    <a:srgbClr val="E67D8C"/>
    <a:srgbClr val="F2C4CD"/>
    <a:srgbClr val="10659B"/>
    <a:srgbClr val="5598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1"/>
    <p:restoredTop sz="94719"/>
  </p:normalViewPr>
  <p:slideViewPr>
    <p:cSldViewPr snapToGrid="0">
      <p:cViewPr varScale="1">
        <p:scale>
          <a:sx n="145" d="100"/>
          <a:sy n="145" d="100"/>
        </p:scale>
        <p:origin x="36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F01782-0BBA-90F5-84D1-336D4F49DE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D8ED5F5-0AA0-209D-2157-666D824AFF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F0220-7C93-85B0-DDDF-A5CDA7DF4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CE95C5-A237-4EC1-DB3E-CF01EBC15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475E6A-1BD3-22FA-C0DE-769637C9D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10039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678788-4832-BCCF-35BF-2F5538A8C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A4D541-647C-F506-EE65-4360F08EF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B5B50F-41C3-466E-05F4-42C65331D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19C205-07AB-9526-B3A4-6ED5AAF89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F921A9-D778-A443-5870-1BE89769D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404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C027C6-E3BB-F195-5358-BBA68BD7E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DEEC017-C281-2D3B-FAB4-F814DBEFC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A369F3-7572-8D8E-C100-009519EA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D132B2-B3C0-77DE-F7BC-C94773DF6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2BA47-061C-3F86-8A61-4B7294BF5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21673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6D502B-AEC7-10CF-A696-E84B4E3C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865B79-94EE-7F54-6116-CC8264A4DD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8CF69D9-4731-873D-717F-3222CCD4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32817B6-7579-5CBC-0171-80A8998A5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FDB1301-FE56-424C-AA15-F3CD97B6A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86262C2-CA8F-7373-D131-F11FD368D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12515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8F75A1-7CE9-7BAE-6FFE-77CD22A8E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C0C5D93-F6FB-F56E-56C6-C883E495E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296E95-9F93-FFCD-A822-F0B2E3962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112B6B8-4320-D9BA-2974-6452DD8131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6C7B3D4-790E-7158-21E6-30D03E71E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3C671B-6F15-A1A3-6392-75127797A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6C9EA99-0157-4188-5A62-421DDB287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7F8394D-5562-B019-F4BB-BDD99667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8098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E533A6-53BC-F3F1-B105-5E6C37D07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213276-EC77-AAD5-FAB8-AF3FEADD6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B5F804E-254B-22FE-D414-2FD5E08E6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370B0F2-73AC-CB19-2DF2-28E8C66CB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7809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C486E9F-161B-12B7-8D91-D565728F1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A58B21-EB08-5F62-1B8F-9FAF25497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3CBE3A2-213D-DA4D-EFEB-8842158E0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9062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EE160-6010-6715-F738-5A0ED84F8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B7C4412-D24E-C127-1ECF-4CA7F4D73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3B19DDA-6F8D-9089-D3D8-FF31793E01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E398139-086C-69C2-5C5D-9089F718B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FFB4BD-4401-2721-14AF-ECDFCB14D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8A7E0A3-CA20-569D-DE9B-6E4EEA407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378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E1EA43-A373-C70A-C882-0AB7E582C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1CB61FA-33CD-FF5A-86EE-A227EBE28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5AB1B-D2B3-24CD-5877-925E3F6B87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811983-36EC-146B-6478-D75C3F6EA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C727C4-E9EF-4F41-0823-BE742BBD7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0AE554-6EA5-4E5B-E7BF-D85C9886F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54073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36DA88-8251-1A36-3D90-00A6BC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F0119F2-ECFC-F0AD-6F3B-46EDD77711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727340-B14C-2AFD-2878-6A5EB9CDA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C17625-AA04-B56A-5F42-52C6671D3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6009F9-1A97-5BC0-3C74-742DE628B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49010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45BB5F9-2CBD-ED1E-6DB1-EEFC5D8902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93CDAAF-2773-2559-603B-9B291F0FD2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96BE3C-545F-B0B8-7BF7-CDB11AB86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028910-E604-29EC-CA77-E6BF6FB89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2D6786-3CA2-BC02-66B6-AEF863FC7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52246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6322C6A-AC2C-4934-5E62-D0D033AF9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3AFDD78-DC69-3150-83AC-8DAE5DF7A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663D81-13F4-5F5A-5CD1-C5BC1F715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E8CC61-20DA-F749-A5C5-B7F8A1DBB665}" type="datetimeFigureOut">
              <a:rPr kumimoji="1" lang="zh-CN" altLang="en-US" smtClean="0"/>
              <a:t>2025/12/2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094574-D793-6CD4-4EC7-F8DAB1C595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AB3F99-1010-85D7-062A-89060525D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02F896-3DE7-A544-B8C0-2ECBD2CF79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05360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41D9-1DAB-BB60-0BDD-132755CF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3AC3F9-5774-31CB-55C4-95E33CEB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87892"/>
            <a:ext cx="10515600" cy="5841999"/>
          </a:xfrm>
        </p:spPr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zh-CN" altLang="en-US" sz="1800" b="1" dirty="0"/>
              <a:t>多跳问题的</a:t>
            </a:r>
            <a:r>
              <a:rPr lang="zh-CN" altLang="en-US" sz="1800" b="1" dirty="0">
                <a:solidFill>
                  <a:srgbClr val="FF0000"/>
                </a:solidFill>
              </a:rPr>
              <a:t>注意力衰减问题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zh-CN" altLang="en-US" sz="1800" b="1" dirty="0"/>
              <a:t>越往后越不知道自己原来想要干什么，加上大模型的幻觉，会逐渐偏离核心主问题。</a:t>
            </a:r>
            <a:endParaRPr lang="en-US" altLang="zh-CN" sz="1800" b="1" dirty="0"/>
          </a:p>
          <a:p>
            <a:pPr marL="0" indent="0">
              <a:buNone/>
            </a:pPr>
            <a:endParaRPr lang="en-US" altLang="zh-CN" sz="1800" b="1" dirty="0"/>
          </a:p>
          <a:p>
            <a:pPr marL="0" indent="0">
              <a:buNone/>
            </a:pPr>
            <a:endParaRPr lang="en-US" altLang="zh-CN" sz="1800" b="1" dirty="0"/>
          </a:p>
          <a:p>
            <a:pPr marL="0" indent="0">
              <a:buNone/>
            </a:pPr>
            <a:endParaRPr lang="en-US" altLang="zh-CN" sz="1800" b="1" dirty="0"/>
          </a:p>
          <a:p>
            <a:pPr marL="0" indent="0">
              <a:buNone/>
            </a:pPr>
            <a:endParaRPr lang="en-US" altLang="zh-CN" sz="1800" b="1" dirty="0"/>
          </a:p>
          <a:p>
            <a:pPr marL="0" indent="0">
              <a:buNone/>
            </a:pPr>
            <a:endParaRPr lang="en-US" altLang="zh-CN" sz="1800" b="1" dirty="0"/>
          </a:p>
          <a:p>
            <a:pPr marL="0" indent="0">
              <a:buNone/>
            </a:pPr>
            <a:endParaRPr kumimoji="1" lang="en-US" altLang="zh-CN" sz="1800" b="1" dirty="0"/>
          </a:p>
          <a:p>
            <a:pPr marL="0" indent="0">
              <a:buNone/>
            </a:pPr>
            <a:r>
              <a:rPr kumimoji="1" lang="en-US" altLang="zh-CN" sz="1800" b="1" dirty="0"/>
              <a:t>2.</a:t>
            </a:r>
            <a:r>
              <a:rPr kumimoji="1" lang="zh-CN" altLang="en-US" sz="1800" b="1" dirty="0"/>
              <a:t> </a:t>
            </a:r>
            <a:r>
              <a:rPr kumimoji="1" lang="zh-CN" altLang="en-US" sz="1800" b="1" dirty="0">
                <a:solidFill>
                  <a:srgbClr val="FF0000"/>
                </a:solidFill>
              </a:rPr>
              <a:t>逻辑空间坍缩</a:t>
            </a:r>
            <a:endParaRPr kumimoji="1" lang="en-US" altLang="zh-CN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kumimoji="1" lang="zh-CN" altLang="en-US" sz="1800" b="1" dirty="0"/>
              <a:t>大模型或者</a:t>
            </a:r>
            <a:r>
              <a:rPr kumimoji="1" lang="en-US" altLang="zh-CN" sz="1800" b="1" dirty="0" err="1"/>
              <a:t>CoT</a:t>
            </a:r>
            <a:r>
              <a:rPr kumimoji="1" lang="zh-CN" altLang="en-US" sz="1800" b="1" dirty="0"/>
              <a:t>思考的推理路径过于单一，过早收敛，专注检索，没有多推理链发散。</a:t>
            </a:r>
            <a:endParaRPr kumimoji="1" lang="en-US" altLang="zh-CN" sz="1800" dirty="0"/>
          </a:p>
          <a:p>
            <a:pPr marL="0" indent="0">
              <a:buNone/>
            </a:pPr>
            <a:endParaRPr kumimoji="1" lang="en-US" altLang="zh-CN" sz="1800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3A8F7FB8-4EB6-4944-552C-7D64F5AB0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28" y="1443551"/>
            <a:ext cx="7772400" cy="1775813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BA1AE30E-EF37-3972-0FDC-1408F4E86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204729" cy="759309"/>
          </a:xfrm>
        </p:spPr>
        <p:txBody>
          <a:bodyPr/>
          <a:lstStyle/>
          <a:p>
            <a:r>
              <a:rPr kumimoji="1" lang="en-US" altLang="zh-CN" b="1" dirty="0"/>
              <a:t>Problem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&amp;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Core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Bottleneck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Examples</a:t>
            </a:r>
            <a:endParaRPr kumimoji="1" lang="zh-CN" altLang="en-US" b="1" dirty="0"/>
          </a:p>
        </p:txBody>
      </p: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F302EE29-416B-0706-B3F3-219CBBE6186F}"/>
              </a:ext>
            </a:extLst>
          </p:cNvPr>
          <p:cNvCxnSpPr/>
          <p:nvPr/>
        </p:nvCxnSpPr>
        <p:spPr>
          <a:xfrm>
            <a:off x="283393" y="3009181"/>
            <a:ext cx="3158067" cy="0"/>
          </a:xfrm>
          <a:prstGeom prst="line">
            <a:avLst/>
          </a:prstGeom>
          <a:ln w="444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图片 11">
            <a:extLst>
              <a:ext uri="{FF2B5EF4-FFF2-40B4-BE49-F238E27FC236}">
                <a16:creationId xmlns:a16="http://schemas.microsoft.com/office/drawing/2014/main" id="{B4E7C066-45D6-657C-A43D-3B82230F2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8" y="4405501"/>
            <a:ext cx="7772400" cy="1680124"/>
          </a:xfrm>
          <a:prstGeom prst="rect">
            <a:avLst/>
          </a:prstGeom>
        </p:spPr>
      </p:pic>
      <p:cxnSp>
        <p:nvCxnSpPr>
          <p:cNvPr id="13" name="直线连接符 12">
            <a:extLst>
              <a:ext uri="{FF2B5EF4-FFF2-40B4-BE49-F238E27FC236}">
                <a16:creationId xmlns:a16="http://schemas.microsoft.com/office/drawing/2014/main" id="{40B92691-3CB8-E5E3-0D00-ADCCA0F1EA78}"/>
              </a:ext>
            </a:extLst>
          </p:cNvPr>
          <p:cNvCxnSpPr>
            <a:cxnSpLocks/>
          </p:cNvCxnSpPr>
          <p:nvPr/>
        </p:nvCxnSpPr>
        <p:spPr>
          <a:xfrm>
            <a:off x="283393" y="5351980"/>
            <a:ext cx="6654004" cy="0"/>
          </a:xfrm>
          <a:prstGeom prst="line">
            <a:avLst/>
          </a:prstGeom>
          <a:ln w="444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图片 5" descr="图表, 条形图&#10;&#10;AI 生成的内容可能不正确。">
            <a:extLst>
              <a:ext uri="{FF2B5EF4-FFF2-40B4-BE49-F238E27FC236}">
                <a16:creationId xmlns:a16="http://schemas.microsoft.com/office/drawing/2014/main" id="{B2839128-17FD-019A-D3AF-D5A851E1B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28" y="1381664"/>
            <a:ext cx="4094672" cy="20473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2E4C412-B03A-E518-DF0C-284800C263A6}"/>
              </a:ext>
            </a:extLst>
          </p:cNvPr>
          <p:cNvSpPr txBox="1"/>
          <p:nvPr/>
        </p:nvSpPr>
        <p:spPr>
          <a:xfrm>
            <a:off x="8097328" y="3429000"/>
            <a:ext cx="43292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/>
              <a:t>注意力和子问题连贯性会随着跳数增加而逐步衰减。</a:t>
            </a:r>
          </a:p>
        </p:txBody>
      </p:sp>
    </p:spTree>
    <p:extLst>
      <p:ext uri="{BB962C8B-B14F-4D97-AF65-F5344CB8AC3E}">
        <p14:creationId xmlns:p14="http://schemas.microsoft.com/office/powerpoint/2010/main" val="87399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E0BFC-F167-EB10-934F-9E931B717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B1AFA-0BEA-1C86-9AFC-BA9383DE6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204729" cy="759309"/>
          </a:xfrm>
        </p:spPr>
        <p:txBody>
          <a:bodyPr/>
          <a:lstStyle/>
          <a:p>
            <a:r>
              <a:rPr kumimoji="1" lang="en-US" altLang="zh-CN" b="1" dirty="0"/>
              <a:t>Problem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&amp;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Core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Bottleneck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Examples</a:t>
            </a:r>
            <a:endParaRPr kumimoji="1" lang="zh-CN" altLang="en-US" b="1" dirty="0"/>
          </a:p>
        </p:txBody>
      </p:sp>
      <p:pic>
        <p:nvPicPr>
          <p:cNvPr id="6" name="图片 5" descr="图表, 条形图&#10;&#10;AI 生成的内容可能不正确。">
            <a:extLst>
              <a:ext uri="{FF2B5EF4-FFF2-40B4-BE49-F238E27FC236}">
                <a16:creationId xmlns:a16="http://schemas.microsoft.com/office/drawing/2014/main" id="{D138A896-B530-CC42-6143-9FBF07C43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328" y="623548"/>
            <a:ext cx="4094672" cy="20473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230BDE9-A5DB-A0F0-8299-D1AB5AEFE57B}"/>
              </a:ext>
            </a:extLst>
          </p:cNvPr>
          <p:cNvSpPr txBox="1"/>
          <p:nvPr/>
        </p:nvSpPr>
        <p:spPr>
          <a:xfrm>
            <a:off x="8040106" y="2986070"/>
            <a:ext cx="43292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/>
              <a:t>注意力和子问题连贯性会随着跳数增加而逐步衰减。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0396D1B0-5968-30BB-2FE4-1DD656C11600}"/>
              </a:ext>
            </a:extLst>
          </p:cNvPr>
          <p:cNvSpPr/>
          <p:nvPr/>
        </p:nvSpPr>
        <p:spPr>
          <a:xfrm>
            <a:off x="201475" y="4651131"/>
            <a:ext cx="6885125" cy="207498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38100" cap="rnd">
            <a:noFill/>
            <a:miter lim="800000"/>
          </a:ln>
          <a:effectLst>
            <a:outerShdw blurRad="63500" sx="101000" sy="101000" algn="ctr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Anchor Shift</a:t>
            </a:r>
          </a:p>
          <a:p>
            <a:r>
              <a:rPr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Question: When was the employer of </a:t>
            </a:r>
            <a:r>
              <a:rPr lang="en-US" altLang="zh-CN" u="sng" dirty="0">
                <a:solidFill>
                  <a:srgbClr val="FF3B39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John J. Collins </a:t>
            </a:r>
            <a:r>
              <a:rPr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established?</a:t>
            </a:r>
            <a:endParaRPr kumimoji="1" lang="en-US" altLang="zh-CN" dirty="0">
              <a:solidFill>
                <a:schemeClr val="tx1"/>
              </a:solidFill>
              <a:latin typeface="Baloo Bhai 2" panose="03080502040302020200" pitchFamily="66" charset="0"/>
              <a:cs typeface="Baloo Bhai 2" panose="03080502040302020200" pitchFamily="66" charset="0"/>
            </a:endParaRPr>
          </a:p>
          <a:p>
            <a:r>
              <a:rPr kumimoji="1"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Sub-questions:</a:t>
            </a:r>
          </a:p>
          <a:p>
            <a:pPr marL="342900" indent="-342900">
              <a:buAutoNum type="arabicPeriod"/>
            </a:pPr>
            <a:r>
              <a:rPr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Who was the employer of John J. Collins?               ❌</a:t>
            </a:r>
          </a:p>
          <a:p>
            <a:pPr lvl="1"/>
            <a:r>
              <a:rPr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Fact [1] mentions Lucas Bradley employed </a:t>
            </a:r>
            <a:r>
              <a:rPr lang="en-US" altLang="zh-CN" u="sng" dirty="0">
                <a:solidFill>
                  <a:srgbClr val="FF3B39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John Collins </a:t>
            </a:r>
            <a:r>
              <a:rPr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as an architect.</a:t>
            </a:r>
          </a:p>
          <a:p>
            <a:pPr marL="342900" indent="-342900">
              <a:buFontTx/>
              <a:buAutoNum type="arabicPeriod"/>
            </a:pPr>
            <a:r>
              <a:rPr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When was </a:t>
            </a:r>
            <a:r>
              <a:rPr lang="en-US" altLang="zh-CN" dirty="0">
                <a:solidFill>
                  <a:srgbClr val="FF3B39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Lucas Bradley </a:t>
            </a:r>
            <a:r>
              <a:rPr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established? </a:t>
            </a:r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B8F662CB-EF30-E2CB-1633-2CFF43032840}"/>
              </a:ext>
            </a:extLst>
          </p:cNvPr>
          <p:cNvCxnSpPr>
            <a:cxnSpLocks/>
          </p:cNvCxnSpPr>
          <p:nvPr/>
        </p:nvCxnSpPr>
        <p:spPr>
          <a:xfrm>
            <a:off x="5301761" y="5292969"/>
            <a:ext cx="0" cy="465992"/>
          </a:xfrm>
          <a:prstGeom prst="straightConnector1">
            <a:avLst/>
          </a:prstGeom>
          <a:ln>
            <a:solidFill>
              <a:srgbClr val="FF3B39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圆角矩形 8">
            <a:extLst>
              <a:ext uri="{FF2B5EF4-FFF2-40B4-BE49-F238E27FC236}">
                <a16:creationId xmlns:a16="http://schemas.microsoft.com/office/drawing/2014/main" id="{26BC86E5-A103-7221-A730-E72F922FD56C}"/>
              </a:ext>
            </a:extLst>
          </p:cNvPr>
          <p:cNvSpPr/>
          <p:nvPr/>
        </p:nvSpPr>
        <p:spPr>
          <a:xfrm>
            <a:off x="201475" y="2535123"/>
            <a:ext cx="6885125" cy="202808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8100" cap="rnd">
            <a:noFill/>
            <a:miter lim="800000"/>
          </a:ln>
          <a:effectLst>
            <a:outerShdw blurRad="63500" sx="101000" sy="101000" algn="ctr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b="1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Frame Shift</a:t>
            </a:r>
          </a:p>
          <a:p>
            <a:r>
              <a:rPr kumimoji="1"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Question: “George Lucas created what character to raise Boba Fett?”</a:t>
            </a:r>
          </a:p>
          <a:p>
            <a:r>
              <a:rPr kumimoji="1"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Sub-questions:</a:t>
            </a:r>
          </a:p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What is the name of the character that George Lucas created?</a:t>
            </a:r>
          </a:p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Which character is associated with raising Boba Fett?</a:t>
            </a:r>
          </a:p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3B39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Where was George Lucas born? </a:t>
            </a:r>
            <a:r>
              <a:rPr lang="en-US" altLang="zh-CN" dirty="0">
                <a:solidFill>
                  <a:srgbClr val="FF3B39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❌</a:t>
            </a:r>
            <a:endParaRPr kumimoji="1" lang="en-US" altLang="zh-CN" dirty="0">
              <a:solidFill>
                <a:srgbClr val="FF3B39"/>
              </a:solidFill>
              <a:latin typeface="Baloo Bhai 2" panose="03080502040302020200" pitchFamily="66" charset="0"/>
              <a:cs typeface="Baloo Bhai 2" panose="030805020403020202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331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D8CFF-E11F-ADC0-61C1-8DDE994EA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802D02-F117-FE8D-227C-C01B88B46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204729" cy="759309"/>
          </a:xfrm>
        </p:spPr>
        <p:txBody>
          <a:bodyPr/>
          <a:lstStyle/>
          <a:p>
            <a:r>
              <a:rPr kumimoji="1" lang="en-US" altLang="zh-CN" b="1" dirty="0"/>
              <a:t>Problem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&amp;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Core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Bottleneck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Examples</a:t>
            </a:r>
            <a:endParaRPr kumimoji="1" lang="zh-CN" altLang="en-US" b="1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329BA2B2-2AA8-0F9D-CFBF-29EC8240053F}"/>
              </a:ext>
            </a:extLst>
          </p:cNvPr>
          <p:cNvSpPr/>
          <p:nvPr/>
        </p:nvSpPr>
        <p:spPr>
          <a:xfrm>
            <a:off x="4913363" y="1514387"/>
            <a:ext cx="5995429" cy="1411693"/>
          </a:xfrm>
          <a:prstGeom prst="roundRect">
            <a:avLst/>
          </a:prstGeom>
          <a:solidFill>
            <a:srgbClr val="BACCD9"/>
          </a:solidFill>
          <a:ln w="38100" cap="rnd">
            <a:noFill/>
            <a:miter lim="800000"/>
          </a:ln>
          <a:effectLst>
            <a:outerShdw blurRad="63500" sx="101000" sy="101000" algn="ctr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Decomposition Error</a:t>
            </a:r>
          </a:p>
          <a:p>
            <a:r>
              <a:rPr lang="en-US" altLang="zh-CN" dirty="0">
                <a:latin typeface="Baloo Bhai 2" panose="03080502040302020200" pitchFamily="66" charset="0"/>
                <a:cs typeface="Baloo Bhai 2" panose="03080502040302020200" pitchFamily="66" charset="0"/>
              </a:rPr>
              <a:t>Model fails at breaking the question into the right sub-questions</a:t>
            </a:r>
            <a:r>
              <a:rPr lang="zh-CN" altLang="en-US" dirty="0">
                <a:latin typeface="Baloo Bhai 2" panose="03080502040302020200" pitchFamily="66" charset="0"/>
                <a:cs typeface="Baloo Bhai 2" panose="03080502040302020200" pitchFamily="66" charset="0"/>
              </a:rPr>
              <a:t> </a:t>
            </a:r>
            <a:r>
              <a:rPr lang="en-US" altLang="zh-CN" dirty="0">
                <a:latin typeface="Baloo Bhai 2" panose="03080502040302020200" pitchFamily="66" charset="0"/>
                <a:cs typeface="Baloo Bhai 2" panose="03080502040302020200" pitchFamily="66" charset="0"/>
              </a:rPr>
              <a:t>and the subsequent reasoning is built on an incorrect path.</a:t>
            </a:r>
            <a:endParaRPr lang="en-US" altLang="zh-CN" b="1" dirty="0">
              <a:solidFill>
                <a:schemeClr val="tx1"/>
              </a:solidFill>
              <a:latin typeface="Baloo Bhai 2" panose="03080502040302020200" pitchFamily="66" charset="0"/>
              <a:cs typeface="Baloo Bhai 2" panose="03080502040302020200" pitchFamily="66" charset="0"/>
            </a:endParaRPr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68DCA421-0A3C-B03B-5ADA-838237692AD8}"/>
              </a:ext>
            </a:extLst>
          </p:cNvPr>
          <p:cNvCxnSpPr>
            <a:cxnSpLocks/>
          </p:cNvCxnSpPr>
          <p:nvPr/>
        </p:nvCxnSpPr>
        <p:spPr>
          <a:xfrm>
            <a:off x="5301761" y="5292969"/>
            <a:ext cx="0" cy="46599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图片 9" descr="图表, 条形图&#10;&#10;AI 生成的内容可能不正确。">
            <a:extLst>
              <a:ext uri="{FF2B5EF4-FFF2-40B4-BE49-F238E27FC236}">
                <a16:creationId xmlns:a16="http://schemas.microsoft.com/office/drawing/2014/main" id="{EF03C6DC-02BE-303A-1ACC-75E0059C9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" y="1514387"/>
            <a:ext cx="4572000" cy="4572000"/>
          </a:xfrm>
          <a:prstGeom prst="rect">
            <a:avLst/>
          </a:prstGeom>
          <a:effectLst/>
        </p:spPr>
      </p:pic>
      <p:sp>
        <p:nvSpPr>
          <p:cNvPr id="12" name="圆角矩形 11">
            <a:extLst>
              <a:ext uri="{FF2B5EF4-FFF2-40B4-BE49-F238E27FC236}">
                <a16:creationId xmlns:a16="http://schemas.microsoft.com/office/drawing/2014/main" id="{3B3CBB49-0AE4-E822-1FCC-F246D1D845D1}"/>
              </a:ext>
            </a:extLst>
          </p:cNvPr>
          <p:cNvSpPr/>
          <p:nvPr/>
        </p:nvSpPr>
        <p:spPr>
          <a:xfrm>
            <a:off x="4913363" y="3094540"/>
            <a:ext cx="5995429" cy="1411693"/>
          </a:xfrm>
          <a:prstGeom prst="roundRect">
            <a:avLst/>
          </a:prstGeom>
          <a:solidFill>
            <a:srgbClr val="5598C4"/>
          </a:solidFill>
          <a:ln w="38100" cap="rnd">
            <a:noFill/>
            <a:miter lim="800000"/>
          </a:ln>
          <a:effectLst>
            <a:outerShdw blurRad="63500" sx="101000" sy="101000" algn="ctr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Integration Error</a:t>
            </a:r>
          </a:p>
          <a:p>
            <a:r>
              <a:rPr lang="en-US" altLang="zh-CN" dirty="0">
                <a:latin typeface="Baloo Bhai 2" panose="03080502040302020200" pitchFamily="66" charset="0"/>
                <a:cs typeface="Baloo Bhai 2" panose="03080502040302020200" pitchFamily="66" charset="0"/>
              </a:rPr>
              <a:t>Model failures in the final answer integration or logical aggregation step, given that the model has already retrieved all the necessary evidence.</a:t>
            </a:r>
            <a:endParaRPr lang="en-US" altLang="zh-CN" b="1" dirty="0">
              <a:solidFill>
                <a:schemeClr val="tx1"/>
              </a:solidFill>
              <a:latin typeface="Baloo Bhai 2" panose="03080502040302020200" pitchFamily="66" charset="0"/>
              <a:cs typeface="Baloo Bhai 2" panose="03080502040302020200" pitchFamily="66" charset="0"/>
            </a:endParaRP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45BFF761-BC6A-DAFE-406F-DE46A07CABEF}"/>
              </a:ext>
            </a:extLst>
          </p:cNvPr>
          <p:cNvSpPr/>
          <p:nvPr/>
        </p:nvSpPr>
        <p:spPr>
          <a:xfrm>
            <a:off x="4913363" y="4674694"/>
            <a:ext cx="5995429" cy="1411693"/>
          </a:xfrm>
          <a:prstGeom prst="roundRect">
            <a:avLst/>
          </a:prstGeom>
          <a:solidFill>
            <a:srgbClr val="10659B"/>
          </a:solidFill>
          <a:ln w="38100" cap="rnd">
            <a:noFill/>
            <a:miter lim="800000"/>
          </a:ln>
          <a:effectLst>
            <a:outerShdw blurRad="63500" sx="101000" sy="101000" algn="ctr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 dirty="0">
                <a:solidFill>
                  <a:schemeClr val="tx1"/>
                </a:solidFill>
                <a:latin typeface="Baloo Bhai 2" panose="03080502040302020200" pitchFamily="66" charset="0"/>
                <a:cs typeface="Baloo Bhai 2" panose="03080502040302020200" pitchFamily="66" charset="0"/>
              </a:rPr>
              <a:t>Evidence Error</a:t>
            </a:r>
          </a:p>
          <a:p>
            <a:r>
              <a:rPr lang="en-US" altLang="zh-CN" dirty="0">
                <a:latin typeface="Baloo Bhai 2" panose="03080502040302020200" pitchFamily="66" charset="0"/>
                <a:cs typeface="Baloo Bhai 2" panose="03080502040302020200" pitchFamily="66" charset="0"/>
              </a:rPr>
              <a:t>Model retrieval</a:t>
            </a:r>
            <a:r>
              <a:rPr lang="zh-CN" altLang="en-US" dirty="0">
                <a:latin typeface="Baloo Bhai 2" panose="03080502040302020200" pitchFamily="66" charset="0"/>
                <a:cs typeface="Baloo Bhai 2" panose="03080502040302020200" pitchFamily="66" charset="0"/>
              </a:rPr>
              <a:t> </a:t>
            </a:r>
            <a:r>
              <a:rPr lang="en-US" altLang="zh-CN" dirty="0">
                <a:latin typeface="Baloo Bhai 2" panose="03080502040302020200" pitchFamily="66" charset="0"/>
                <a:cs typeface="Baloo Bhai 2" panose="03080502040302020200" pitchFamily="66" charset="0"/>
              </a:rPr>
              <a:t>insufficient facts or cite the wrong supporting fact even if the surface structure of the question decomposition is correct.</a:t>
            </a:r>
            <a:endParaRPr lang="en-US" altLang="zh-CN" b="1" dirty="0">
              <a:solidFill>
                <a:schemeClr val="tx1"/>
              </a:solidFill>
              <a:latin typeface="Baloo Bhai 2" panose="03080502040302020200" pitchFamily="66" charset="0"/>
              <a:cs typeface="Baloo Bhai 2" panose="030805020403020202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8465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表, 直方图&#10;&#10;AI 生成的内容可能不正确。">
            <a:extLst>
              <a:ext uri="{FF2B5EF4-FFF2-40B4-BE49-F238E27FC236}">
                <a16:creationId xmlns:a16="http://schemas.microsoft.com/office/drawing/2014/main" id="{F7F15A3C-CEC7-7AA6-44F5-C711084B0A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499"/>
          <a:stretch>
            <a:fillRect/>
          </a:stretch>
        </p:blipFill>
        <p:spPr>
          <a:xfrm>
            <a:off x="94889" y="2201424"/>
            <a:ext cx="6219646" cy="456837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FA2BA9C3-ACB2-4B72-C032-EBACA89E48B7}"/>
              </a:ext>
            </a:extLst>
          </p:cNvPr>
          <p:cNvSpPr txBox="1"/>
          <p:nvPr/>
        </p:nvSpPr>
        <p:spPr>
          <a:xfrm>
            <a:off x="0" y="0"/>
            <a:ext cx="69188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4400" dirty="0"/>
              <a:t>Innovation and Architecture</a:t>
            </a:r>
            <a:endParaRPr kumimoji="1" lang="zh-CN" altLang="en-US" sz="4400" dirty="0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8DF52CF-FE65-49BC-6EA4-041362EA5E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103205"/>
              </p:ext>
            </p:extLst>
          </p:nvPr>
        </p:nvGraphicFramePr>
        <p:xfrm>
          <a:off x="6521569" y="2201424"/>
          <a:ext cx="5420266" cy="4568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0133">
                  <a:extLst>
                    <a:ext uri="{9D8B030D-6E8A-4147-A177-3AD203B41FA5}">
                      <a16:colId xmlns:a16="http://schemas.microsoft.com/office/drawing/2014/main" val="333071152"/>
                    </a:ext>
                  </a:extLst>
                </a:gridCol>
                <a:gridCol w="2710133">
                  <a:extLst>
                    <a:ext uri="{9D8B030D-6E8A-4147-A177-3AD203B41FA5}">
                      <a16:colId xmlns:a16="http://schemas.microsoft.com/office/drawing/2014/main" val="660420532"/>
                    </a:ext>
                  </a:extLst>
                </a:gridCol>
              </a:tblGrid>
              <a:tr h="107631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Theta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Rhythm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l-GR" altLang="zh-CN" sz="1400" b="0" dirty="0">
                          <a:solidFill>
                            <a:schemeClr val="tx1"/>
                          </a:solidFill>
                        </a:rPr>
                        <a:t>θ</a:t>
                      </a:r>
                      <a:br>
                        <a:rPr lang="en-US" altLang="zh-CN" sz="1400" b="0" dirty="0">
                          <a:solidFill>
                            <a:schemeClr val="tx1"/>
                          </a:solidFill>
                        </a:rPr>
                      </a:br>
                      <a:br>
                        <a:rPr lang="en-US" altLang="zh-CN" sz="14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维持核心注意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altLang="zh-CN" sz="1400" b="0" dirty="0">
                          <a:solidFill>
                            <a:schemeClr val="tx1"/>
                          </a:solidFill>
                        </a:rPr>
                        <a:t>θ </a:t>
                      </a: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Controller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用于</a:t>
                      </a: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维持核心问题语义表示作为全局锚点。</a:t>
                      </a:r>
                      <a:br>
                        <a:rPr lang="zh-CN" altLang="en-US" sz="14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zh-CN" altLang="en-US" sz="1400" b="1" dirty="0">
                          <a:solidFill>
                            <a:srgbClr val="FF0000"/>
                          </a:solidFill>
                        </a:rPr>
                        <a:t>主要解决注意力衰减问题。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783343"/>
                  </a:ext>
                </a:extLst>
              </a:tr>
              <a:tr h="17460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/>
                        <a:t>Gamma</a:t>
                      </a:r>
                      <a:r>
                        <a:rPr lang="zh-CN" altLang="en-US" sz="1400" b="0" dirty="0"/>
                        <a:t> </a:t>
                      </a:r>
                      <a:r>
                        <a:rPr lang="en-US" altLang="zh-CN" sz="1400" b="0" dirty="0"/>
                        <a:t>Rhythm</a:t>
                      </a:r>
                      <a:r>
                        <a:rPr lang="zh-CN" altLang="en-US" sz="1400" b="0" dirty="0"/>
                        <a:t> </a:t>
                      </a:r>
                      <a:r>
                        <a:rPr lang="el-GR" altLang="zh-CN" sz="1400" b="0" dirty="0"/>
                        <a:t>γ </a:t>
                      </a:r>
                      <a:endParaRPr lang="en-US" altLang="zh-CN" sz="1400" b="0" dirty="0"/>
                    </a:p>
                    <a:p>
                      <a:pPr algn="ctr"/>
                      <a:endParaRPr lang="en-US" altLang="zh-CN" sz="1400" b="0" dirty="0"/>
                    </a:p>
                    <a:p>
                      <a:pPr algn="ctr"/>
                      <a:r>
                        <a:rPr lang="zh-CN" altLang="en-US" sz="1400" b="0" dirty="0"/>
                        <a:t>拓展推理空间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altLang="zh-CN" sz="1400" b="0" dirty="0"/>
                        <a:t>γ-</a:t>
                      </a:r>
                      <a:r>
                        <a:rPr lang="en-US" altLang="zh-CN" sz="1400" b="0" dirty="0"/>
                        <a:t>slot </a:t>
                      </a:r>
                      <a:r>
                        <a:rPr lang="zh-CN" altLang="en-US" sz="1400" b="0" dirty="0"/>
                        <a:t>在每个 </a:t>
                      </a:r>
                      <a:r>
                        <a:rPr lang="el-GR" altLang="zh-CN" sz="1400" b="0" dirty="0"/>
                        <a:t>θ </a:t>
                      </a:r>
                      <a:r>
                        <a:rPr lang="zh-CN" altLang="en-US" sz="1400" b="0" dirty="0"/>
                        <a:t>周期内生成多个并行推理分支。 每个 </a:t>
                      </a:r>
                      <a:r>
                        <a:rPr lang="el-GR" altLang="zh-CN" sz="1400" b="0" dirty="0"/>
                        <a:t>γ-</a:t>
                      </a:r>
                      <a:r>
                        <a:rPr lang="en-US" altLang="zh-CN" sz="1400" b="0" dirty="0"/>
                        <a:t>slot </a:t>
                      </a:r>
                      <a:r>
                        <a:rPr lang="zh-CN" altLang="en-US" sz="1400" b="0" dirty="0"/>
                        <a:t>存储一个“中间假设 </a:t>
                      </a:r>
                      <a:r>
                        <a:rPr lang="en-US" altLang="zh-CN" sz="1400" b="0" dirty="0"/>
                        <a:t>+ </a:t>
                      </a:r>
                      <a:r>
                        <a:rPr lang="zh-CN" altLang="en-US" sz="1400" b="0" dirty="0"/>
                        <a:t>支撑证据”。</a:t>
                      </a:r>
                      <a:endParaRPr lang="en-US" altLang="zh-CN" sz="1400" b="0" dirty="0"/>
                    </a:p>
                    <a:p>
                      <a:pPr algn="l"/>
                      <a:r>
                        <a:rPr lang="zh-CN" altLang="en-US" sz="1400" b="1" dirty="0">
                          <a:solidFill>
                            <a:srgbClr val="FF0000"/>
                          </a:solidFill>
                        </a:rPr>
                        <a:t>主要解决逻辑空间坍缩问题。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9699849"/>
                  </a:ext>
                </a:extLst>
              </a:tr>
              <a:tr h="17460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Theta-Gamma</a:t>
                      </a:r>
                      <a:r>
                        <a:rPr lang="zh-CN" altLang="en-US" sz="1400" dirty="0"/>
                        <a:t> </a:t>
                      </a:r>
                      <a:r>
                        <a:rPr lang="en-US" altLang="zh-CN" sz="1400" dirty="0"/>
                        <a:t>Coupling</a:t>
                      </a:r>
                      <a:r>
                        <a:rPr lang="zh-CN" altLang="en-US" sz="1400" dirty="0"/>
                        <a:t> </a:t>
                      </a:r>
                      <a:r>
                        <a:rPr lang="el-GR" altLang="zh-CN" sz="1400" b="1" dirty="0"/>
                        <a:t>θ–γ</a:t>
                      </a:r>
                      <a:endParaRPr lang="en-US" altLang="zh-CN" sz="1400" b="1" dirty="0"/>
                    </a:p>
                    <a:p>
                      <a:pPr algn="ctr"/>
                      <a:endParaRPr lang="en-US" altLang="zh-CN" sz="1400" b="1" dirty="0"/>
                    </a:p>
                    <a:p>
                      <a:pPr algn="ctr"/>
                      <a:r>
                        <a:rPr lang="zh-CN" altLang="el-GR" sz="1400" b="0" dirty="0"/>
                        <a:t>耦合机制</a:t>
                      </a:r>
                      <a:r>
                        <a:rPr lang="el-GR" altLang="zh-CN" sz="1400" b="0" dirty="0"/>
                        <a:t> </a:t>
                      </a:r>
                      <a:endParaRPr lang="zh-CN" altLang="en-US" sz="1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/>
                        <a:t>前额叶在</a:t>
                      </a:r>
                      <a:r>
                        <a:rPr lang="el-GR" altLang="zh-CN" sz="1400" dirty="0"/>
                        <a:t>γ</a:t>
                      </a:r>
                      <a:r>
                        <a:rPr lang="zh-CN" altLang="el-GR" sz="1400" dirty="0"/>
                        <a:t>相位</a:t>
                      </a:r>
                      <a:r>
                        <a:rPr lang="zh-CN" altLang="en-US" sz="1400" dirty="0"/>
                        <a:t>负责任务规划，海马负责在</a:t>
                      </a:r>
                      <a:r>
                        <a:rPr lang="el-GR" altLang="zh-CN" sz="1400" dirty="0"/>
                        <a:t>θ</a:t>
                      </a:r>
                      <a:r>
                        <a:rPr lang="zh-CN" altLang="en-US" sz="1400" dirty="0"/>
                        <a:t>相位记忆重现与路径推理，两者通过</a:t>
                      </a:r>
                      <a:r>
                        <a:rPr lang="el-GR" altLang="zh-CN" sz="1400" dirty="0"/>
                        <a:t>θ–γ</a:t>
                      </a:r>
                      <a:r>
                        <a:rPr lang="zh-CN" altLang="en-US" sz="1400" dirty="0"/>
                        <a:t>耦合进行跨模态整合。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5108599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5064B815-1A1D-8E69-88D0-6B061D22294D}"/>
              </a:ext>
            </a:extLst>
          </p:cNvPr>
          <p:cNvSpPr txBox="1"/>
          <p:nvPr/>
        </p:nvSpPr>
        <p:spPr>
          <a:xfrm>
            <a:off x="0" y="769441"/>
            <a:ext cx="12097111" cy="1162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/>
              <a:t>Theta-Gamma</a:t>
            </a:r>
            <a:r>
              <a:rPr lang="zh-CN" altLang="en-US" sz="1600" b="1" dirty="0"/>
              <a:t>框架</a:t>
            </a:r>
            <a:r>
              <a:rPr lang="zh-CN" altLang="en-US" sz="1600" dirty="0"/>
              <a:t>是一个脑启发、模块化计算机架构，旨在解决</a:t>
            </a:r>
            <a:r>
              <a:rPr lang="en-US" altLang="zh-CN" sz="1600" dirty="0"/>
              <a:t>NLP</a:t>
            </a:r>
            <a:r>
              <a:rPr lang="zh-CN" altLang="en-US" sz="1600" dirty="0"/>
              <a:t>多跳推理问题，通过模拟人脑</a:t>
            </a:r>
            <a:r>
              <a:rPr lang="en-US" altLang="zh-CN" sz="1600" dirty="0"/>
              <a:t>theta-gamma</a:t>
            </a:r>
            <a:r>
              <a:rPr lang="zh-CN" altLang="en-US" sz="1600" dirty="0"/>
              <a:t>耦合（序列组织与局部编码）。从输入查询 → </a:t>
            </a:r>
            <a:r>
              <a:rPr lang="en-US" altLang="zh-CN" sz="1600" dirty="0"/>
              <a:t>Theta</a:t>
            </a:r>
            <a:r>
              <a:rPr lang="zh-CN" altLang="en-US" sz="1600" dirty="0"/>
              <a:t>生成全局链条，整合信息 → </a:t>
            </a:r>
            <a:r>
              <a:rPr lang="en-US" altLang="zh-CN" sz="1600" dirty="0"/>
              <a:t>Gamma</a:t>
            </a:r>
            <a:r>
              <a:rPr lang="zh-CN" altLang="en-US" sz="1600" dirty="0"/>
              <a:t>填充局部细节，探索逻辑推理路径 → 输出优化链条。核心耦合通过频率嵌入（</a:t>
            </a:r>
            <a:r>
              <a:rPr lang="en-US" altLang="zh-CN" sz="1600" dirty="0"/>
              <a:t>theta</a:t>
            </a:r>
            <a:r>
              <a:rPr lang="zh-CN" altLang="en-US" sz="1600" dirty="0"/>
              <a:t>低频全局、</a:t>
            </a:r>
            <a:r>
              <a:rPr lang="en-US" altLang="zh-CN" sz="1600" dirty="0"/>
              <a:t>gamma</a:t>
            </a:r>
            <a:r>
              <a:rPr lang="zh-CN" altLang="en-US" sz="1600" dirty="0"/>
              <a:t>高频局部）和反馈信号实现，类似于脑中相位</a:t>
            </a:r>
            <a:r>
              <a:rPr lang="en-US" altLang="zh-CN" sz="1600" dirty="0"/>
              <a:t>-</a:t>
            </a:r>
            <a:r>
              <a:rPr lang="zh-CN" altLang="en-US" sz="1600" dirty="0"/>
              <a:t>幅度耦合（</a:t>
            </a:r>
            <a:r>
              <a:rPr lang="en-US" altLang="zh-CN" sz="1600" dirty="0"/>
              <a:t>PAC</a:t>
            </a:r>
            <a:r>
              <a:rPr lang="zh-CN" altLang="en-US" sz="1600" dirty="0"/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2442458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2184</TotalTime>
  <Words>471</Words>
  <Application>Microsoft Macintosh PowerPoint</Application>
  <PresentationFormat>宽屏</PresentationFormat>
  <Paragraphs>46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Baloo Bhai 2</vt:lpstr>
      <vt:lpstr>Office 主题​​</vt:lpstr>
      <vt:lpstr>Problem &amp; Core Bottleneck Examples</vt:lpstr>
      <vt:lpstr>Problem &amp; Core Bottleneck Examples</vt:lpstr>
      <vt:lpstr>Problem &amp; Core Bottleneck Examples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凌子扬</dc:creator>
  <cp:lastModifiedBy>凌子扬</cp:lastModifiedBy>
  <cp:revision>10</cp:revision>
  <dcterms:created xsi:type="dcterms:W3CDTF">2025-11-03T01:52:38Z</dcterms:created>
  <dcterms:modified xsi:type="dcterms:W3CDTF">2025-12-03T14:13:51Z</dcterms:modified>
</cp:coreProperties>
</file>