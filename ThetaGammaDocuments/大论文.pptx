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5" r:id="rId6"/>
    <p:sldId id="268" r:id="rId7"/>
    <p:sldId id="269" r:id="rId8"/>
    <p:sldId id="272" r:id="rId9"/>
    <p:sldId id="276" r:id="rId10"/>
    <p:sldId id="270" r:id="rId11"/>
    <p:sldId id="261" r:id="rId12"/>
    <p:sldId id="275" r:id="rId13"/>
    <p:sldId id="271" r:id="rId14"/>
    <p:sldId id="263" r:id="rId15"/>
    <p:sldId id="274" r:id="rId16"/>
    <p:sldId id="262" r:id="rId17"/>
    <p:sldId id="264" r:id="rId18"/>
    <p:sldId id="266" r:id="rId19"/>
    <p:sldId id="267"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10"/>
    <p:restoredTop sz="94719"/>
  </p:normalViewPr>
  <p:slideViewPr>
    <p:cSldViewPr snapToGrid="0">
      <p:cViewPr varScale="1">
        <p:scale>
          <a:sx n="119" d="100"/>
          <a:sy n="119" d="100"/>
        </p:scale>
        <p:origin x="232" y="8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E362B-07AA-EB4C-8259-B958D4C5A1D8}" type="datetimeFigureOut">
              <a:rPr kumimoji="1" lang="zh-CN" altLang="en-US" smtClean="0"/>
              <a:t>2025/10/21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9D291-3C9B-4D40-A6EA-D1DC509D7361}" type="slidenum">
              <a:rPr kumimoji="1" lang="zh-CN" altLang="en-US" smtClean="0"/>
              <a:t>‹#›</a:t>
            </a:fld>
            <a:endParaRPr kumimoji="1" lang="zh-CN" altLang="en-US"/>
          </a:p>
        </p:txBody>
      </p:sp>
    </p:spTree>
    <p:extLst>
      <p:ext uri="{BB962C8B-B14F-4D97-AF65-F5344CB8AC3E}">
        <p14:creationId xmlns:p14="http://schemas.microsoft.com/office/powerpoint/2010/main" val="4074892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4B9D291-3C9B-4D40-A6EA-D1DC509D7361}" type="slidenum">
              <a:rPr kumimoji="1" lang="zh-CN" altLang="en-US" smtClean="0"/>
              <a:t>16</a:t>
            </a:fld>
            <a:endParaRPr kumimoji="1" lang="zh-CN" altLang="en-US"/>
          </a:p>
        </p:txBody>
      </p:sp>
    </p:spTree>
    <p:extLst>
      <p:ext uri="{BB962C8B-B14F-4D97-AF65-F5344CB8AC3E}">
        <p14:creationId xmlns:p14="http://schemas.microsoft.com/office/powerpoint/2010/main" val="1352936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0BBD77-1088-7C94-92A8-6565CF152B7D}"/>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96588A1-2B7D-031F-4AB0-788954A9D5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823D105-D76C-4440-A244-6E47F8318D20}"/>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5" name="页脚占位符 4">
            <a:extLst>
              <a:ext uri="{FF2B5EF4-FFF2-40B4-BE49-F238E27FC236}">
                <a16:creationId xmlns:a16="http://schemas.microsoft.com/office/drawing/2014/main" id="{AF4F5291-6FCD-306B-3D01-92A5EB9B52C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AE60564-4755-44E4-5B76-2551BE02CBD1}"/>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1347834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70D73-D526-15D1-BE2B-0C72F8F6E26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A6C43EC-66D4-13F7-7070-9953E119B4E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32E54D5-1CDB-6EC4-B680-84223B6524D1}"/>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5" name="页脚占位符 4">
            <a:extLst>
              <a:ext uri="{FF2B5EF4-FFF2-40B4-BE49-F238E27FC236}">
                <a16:creationId xmlns:a16="http://schemas.microsoft.com/office/drawing/2014/main" id="{AA513E2B-45EA-3262-A657-A194A7A1AA3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666C039-C144-2BA9-7E9C-8F64C17A89B4}"/>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2488464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53C563-CEA8-4720-52E5-50F39CEDF3CC}"/>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8D9E1A9-B04E-38CE-FBC5-1B8F25F257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306F339F-01AA-453E-E0F5-85A64A6AF825}"/>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5" name="页脚占位符 4">
            <a:extLst>
              <a:ext uri="{FF2B5EF4-FFF2-40B4-BE49-F238E27FC236}">
                <a16:creationId xmlns:a16="http://schemas.microsoft.com/office/drawing/2014/main" id="{43AC147F-37A0-8E65-FE4B-42244F4A897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CE6AD94-CA94-D395-5E38-DC2156AABAB0}"/>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981883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0F6457-8509-2894-F7E6-E39077FB04A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CB64502B-96DE-3EE8-57CD-78AF3DEC12CF}"/>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30140D96-51C6-7D5F-1547-022E966302A3}"/>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8423BA74-C21A-AD83-24C8-4EE6CA8B3C08}"/>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6" name="页脚占位符 5">
            <a:extLst>
              <a:ext uri="{FF2B5EF4-FFF2-40B4-BE49-F238E27FC236}">
                <a16:creationId xmlns:a16="http://schemas.microsoft.com/office/drawing/2014/main" id="{095B99CA-A388-5731-5290-041455DA779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782740E-DDAC-4F0B-71E7-6E40071A7015}"/>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303687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258376-F262-EB99-6354-DEF101F298B9}"/>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4501017-B0B7-0637-F537-97C7AE0A42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55C0E15A-8293-3AA5-2244-DBDC49FBEDE7}"/>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F6CB4DA9-63B6-7B54-D7BD-43B753FE78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7F8E8291-D27F-D103-9192-956DB2069CAA}"/>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4FC46446-7987-4D34-5600-484CE70E36D9}"/>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8" name="页脚占位符 7">
            <a:extLst>
              <a:ext uri="{FF2B5EF4-FFF2-40B4-BE49-F238E27FC236}">
                <a16:creationId xmlns:a16="http://schemas.microsoft.com/office/drawing/2014/main" id="{AF3EB757-6EDB-7DC4-24D7-A863A104CF26}"/>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3D5B3AB5-2BC0-E478-1D72-B854F1BAD242}"/>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1377207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ECDBA-70EC-F37E-5E62-112B0EC2BA31}"/>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BEC07CF7-1C4B-9C1A-C27A-BD52B3F2D919}"/>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4" name="页脚占位符 3">
            <a:extLst>
              <a:ext uri="{FF2B5EF4-FFF2-40B4-BE49-F238E27FC236}">
                <a16:creationId xmlns:a16="http://schemas.microsoft.com/office/drawing/2014/main" id="{763014E1-4B55-642E-B138-02BB95D61AD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C78D78D-CED8-1536-D862-FF8F915495B0}"/>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3105333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AA215F8-1CE9-6CDC-DDAE-09E9EA534C94}"/>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3" name="页脚占位符 2">
            <a:extLst>
              <a:ext uri="{FF2B5EF4-FFF2-40B4-BE49-F238E27FC236}">
                <a16:creationId xmlns:a16="http://schemas.microsoft.com/office/drawing/2014/main" id="{235D0FAD-378A-88E8-2FD6-B2AA43A39785}"/>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1DB0475A-4216-DDFA-EEDA-6F556E58E19C}"/>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3346159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942A6-1C41-4BA5-A74A-C30698BE8CA2}"/>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1E1E343-F506-8275-9C5A-0E0916B923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E1B00AF0-90C8-DAE0-3084-3DD3182293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BCC0D83-F27E-6AB6-DE68-6841C627F70E}"/>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6" name="页脚占位符 5">
            <a:extLst>
              <a:ext uri="{FF2B5EF4-FFF2-40B4-BE49-F238E27FC236}">
                <a16:creationId xmlns:a16="http://schemas.microsoft.com/office/drawing/2014/main" id="{F2D12E3E-C750-3C8C-F0ED-30776972651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5F9259F-CE4C-7D14-A356-5F52129DD6EE}"/>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411641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A85123-8FB8-70BB-89C0-A55E98AE20D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DCCCCFE9-C5C5-D1A4-0997-8B960563F7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5E22DCC7-1AF1-A314-C598-E239E25E0C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5A7EE502-74D7-0F46-1B7B-41508AAC4E9A}"/>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6" name="页脚占位符 5">
            <a:extLst>
              <a:ext uri="{FF2B5EF4-FFF2-40B4-BE49-F238E27FC236}">
                <a16:creationId xmlns:a16="http://schemas.microsoft.com/office/drawing/2014/main" id="{4888A096-0893-1136-57A3-62DA085D358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5680E85-847C-484D-18B9-ECC2C34309AA}"/>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874188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2A6352-86B9-C07D-DFFF-4C3904859E82}"/>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AD77E15-1988-AACA-EC15-074A1F81E0DA}"/>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8FBE890-0DD0-B403-8A7C-4F09681FAFF5}"/>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5" name="页脚占位符 4">
            <a:extLst>
              <a:ext uri="{FF2B5EF4-FFF2-40B4-BE49-F238E27FC236}">
                <a16:creationId xmlns:a16="http://schemas.microsoft.com/office/drawing/2014/main" id="{8092185F-0A0C-DE77-5221-83F743DF584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8A4351C-17E2-700D-E443-2A7800839609}"/>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2569395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3585988-A9A3-367F-95B1-4900F96616B8}"/>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CBAA754-7364-D348-BD3C-975192A2D1F2}"/>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7019DC8-C816-038E-4196-6DC9EBAF1688}"/>
              </a:ext>
            </a:extLst>
          </p:cNvPr>
          <p:cNvSpPr>
            <a:spLocks noGrp="1"/>
          </p:cNvSpPr>
          <p:nvPr>
            <p:ph type="dt" sz="half" idx="10"/>
          </p:nvPr>
        </p:nvSpPr>
        <p:spPr/>
        <p:txBody>
          <a:bodyPr/>
          <a:lstStyle/>
          <a:p>
            <a:fld id="{D87334A4-EE90-9144-8710-42AED7512C60}" type="datetimeFigureOut">
              <a:rPr kumimoji="1" lang="zh-CN" altLang="en-US" smtClean="0"/>
              <a:t>2025/10/21</a:t>
            </a:fld>
            <a:endParaRPr kumimoji="1" lang="zh-CN" altLang="en-US"/>
          </a:p>
        </p:txBody>
      </p:sp>
      <p:sp>
        <p:nvSpPr>
          <p:cNvPr id="5" name="页脚占位符 4">
            <a:extLst>
              <a:ext uri="{FF2B5EF4-FFF2-40B4-BE49-F238E27FC236}">
                <a16:creationId xmlns:a16="http://schemas.microsoft.com/office/drawing/2014/main" id="{3597C36C-2651-D9D5-9BC7-4416DE7AAF4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7D571F8-91EE-6A32-84C3-CC69BCD5FB7F}"/>
              </a:ext>
            </a:extLst>
          </p:cNvPr>
          <p:cNvSpPr>
            <a:spLocks noGrp="1"/>
          </p:cNvSpPr>
          <p:nvPr>
            <p:ph type="sldNum" sz="quarter" idx="12"/>
          </p:nvPr>
        </p:nvSpPr>
        <p:spPr/>
        <p:txBody>
          <a:body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924486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EA2FFA5-5E6B-D068-FB80-B2C51F5291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653DCC17-F471-72E1-BA06-0D0E884931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9E367BD-C87C-1A63-059C-CB62AA14A1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7334A4-EE90-9144-8710-42AED7512C60}" type="datetimeFigureOut">
              <a:rPr kumimoji="1" lang="zh-CN" altLang="en-US" smtClean="0"/>
              <a:t>2025/10/21</a:t>
            </a:fld>
            <a:endParaRPr kumimoji="1" lang="zh-CN" altLang="en-US"/>
          </a:p>
        </p:txBody>
      </p:sp>
      <p:sp>
        <p:nvSpPr>
          <p:cNvPr id="5" name="页脚占位符 4">
            <a:extLst>
              <a:ext uri="{FF2B5EF4-FFF2-40B4-BE49-F238E27FC236}">
                <a16:creationId xmlns:a16="http://schemas.microsoft.com/office/drawing/2014/main" id="{B909BE48-726B-69D3-F8C0-A91E271E91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5FA77AB6-E074-970F-3322-F1E62BD310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E10B1B-000E-5840-9519-B0C62A91C21E}" type="slidenum">
              <a:rPr kumimoji="1" lang="zh-CN" altLang="en-US" smtClean="0"/>
              <a:t>‹#›</a:t>
            </a:fld>
            <a:endParaRPr kumimoji="1" lang="zh-CN" altLang="en-US"/>
          </a:p>
        </p:txBody>
      </p:sp>
    </p:spTree>
    <p:extLst>
      <p:ext uri="{BB962C8B-B14F-4D97-AF65-F5344CB8AC3E}">
        <p14:creationId xmlns:p14="http://schemas.microsoft.com/office/powerpoint/2010/main" val="219223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A158F9-EDAC-9611-DEF9-E35BBA20964A}"/>
              </a:ext>
            </a:extLst>
          </p:cNvPr>
          <p:cNvSpPr>
            <a:spLocks noGrp="1"/>
          </p:cNvSpPr>
          <p:nvPr>
            <p:ph type="ctrTitle"/>
          </p:nvPr>
        </p:nvSpPr>
        <p:spPr/>
        <p:txBody>
          <a:bodyPr/>
          <a:lstStyle/>
          <a:p>
            <a:r>
              <a:rPr kumimoji="1" lang="en-US" altLang="zh-CN" dirty="0"/>
              <a:t>New Idea</a:t>
            </a:r>
            <a:endParaRPr kumimoji="1" lang="zh-CN" altLang="en-US" dirty="0"/>
          </a:p>
        </p:txBody>
      </p:sp>
      <p:sp>
        <p:nvSpPr>
          <p:cNvPr id="3" name="副标题 2">
            <a:extLst>
              <a:ext uri="{FF2B5EF4-FFF2-40B4-BE49-F238E27FC236}">
                <a16:creationId xmlns:a16="http://schemas.microsoft.com/office/drawing/2014/main" id="{9FEAED73-C548-DA55-581E-1C776A4A2D55}"/>
              </a:ext>
            </a:extLst>
          </p:cNvPr>
          <p:cNvSpPr>
            <a:spLocks noGrp="1"/>
          </p:cNvSpPr>
          <p:nvPr>
            <p:ph type="subTitle" idx="1"/>
          </p:nvPr>
        </p:nvSpPr>
        <p:spPr/>
        <p:txBody>
          <a:bodyPr/>
          <a:lstStyle/>
          <a:p>
            <a:r>
              <a:rPr lang="en-US" altLang="zh-CN" dirty="0"/>
              <a:t>Theta–Gamma Inspired Architecture for Multi-hop Reasoning in Biomedical Knowledge Discovery</a:t>
            </a:r>
          </a:p>
          <a:p>
            <a:endParaRPr kumimoji="1" lang="zh-CN" altLang="en-US" dirty="0"/>
          </a:p>
        </p:txBody>
      </p:sp>
    </p:spTree>
    <p:extLst>
      <p:ext uri="{BB962C8B-B14F-4D97-AF65-F5344CB8AC3E}">
        <p14:creationId xmlns:p14="http://schemas.microsoft.com/office/powerpoint/2010/main" val="3317770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5504DB-3855-7C52-C272-CD81E41AD46E}"/>
              </a:ext>
            </a:extLst>
          </p:cNvPr>
          <p:cNvSpPr>
            <a:spLocks noGrp="1"/>
          </p:cNvSpPr>
          <p:nvPr>
            <p:ph type="title"/>
          </p:nvPr>
        </p:nvSpPr>
        <p:spPr/>
        <p:txBody>
          <a:bodyPr/>
          <a:lstStyle/>
          <a:p>
            <a:r>
              <a:rPr kumimoji="1" lang="en-US" altLang="zh-CN" dirty="0"/>
              <a:t>Outline</a:t>
            </a:r>
            <a:endParaRPr kumimoji="1" lang="zh-CN" altLang="en-US" dirty="0"/>
          </a:p>
        </p:txBody>
      </p:sp>
      <p:sp>
        <p:nvSpPr>
          <p:cNvPr id="3" name="内容占位符 2">
            <a:extLst>
              <a:ext uri="{FF2B5EF4-FFF2-40B4-BE49-F238E27FC236}">
                <a16:creationId xmlns:a16="http://schemas.microsoft.com/office/drawing/2014/main" id="{2C5B2107-03BB-2857-DE19-18CDA0F4C7C4}"/>
              </a:ext>
            </a:extLst>
          </p:cNvPr>
          <p:cNvSpPr>
            <a:spLocks noGrp="1"/>
          </p:cNvSpPr>
          <p:nvPr>
            <p:ph idx="1"/>
          </p:nvPr>
        </p:nvSpPr>
        <p:spPr/>
        <p:txBody>
          <a:bodyPr>
            <a:normAutofit fontScale="77500" lnSpcReduction="20000"/>
          </a:bodyPr>
          <a:lstStyle/>
          <a:p>
            <a:pPr marL="514350" indent="-514350">
              <a:buFont typeface="+mj-lt"/>
              <a:buAutoNum type="arabicPeriod"/>
            </a:pPr>
            <a:r>
              <a:rPr lang="en-US" altLang="zh-CN" dirty="0"/>
              <a:t>Motivation</a:t>
            </a:r>
          </a:p>
          <a:p>
            <a:pPr marL="514350" indent="-514350">
              <a:buFont typeface="+mj-lt"/>
              <a:buAutoNum type="arabicPeriod"/>
            </a:pPr>
            <a:r>
              <a:rPr lang="en-US" altLang="zh-CN" dirty="0"/>
              <a:t>Why Multi-hop Reasoning Matters</a:t>
            </a:r>
          </a:p>
          <a:p>
            <a:pPr marL="514350" indent="-514350">
              <a:buFont typeface="+mj-lt"/>
              <a:buAutoNum type="arabicPeriod"/>
            </a:pPr>
            <a:r>
              <a:rPr lang="en-US" altLang="zh-CN" dirty="0"/>
              <a:t>Example</a:t>
            </a:r>
            <a:r>
              <a:rPr lang="zh-CN" altLang="en-US" dirty="0"/>
              <a:t> </a:t>
            </a:r>
            <a:r>
              <a:rPr lang="en-US" altLang="zh-CN" dirty="0"/>
              <a:t>on Biomedical &amp; Result</a:t>
            </a:r>
          </a:p>
          <a:p>
            <a:pPr marL="514350" indent="-514350">
              <a:buFont typeface="+mj-lt"/>
              <a:buAutoNum type="arabicPeriod"/>
            </a:pPr>
            <a:r>
              <a:rPr lang="en-US" altLang="zh-CN" dirty="0"/>
              <a:t>Problem</a:t>
            </a:r>
            <a:r>
              <a:rPr lang="zh-CN" altLang="en-US" dirty="0"/>
              <a:t> </a:t>
            </a:r>
            <a:r>
              <a:rPr lang="en-US" altLang="zh-CN" dirty="0"/>
              <a:t>&amp; Core Bottleneck </a:t>
            </a:r>
          </a:p>
          <a:p>
            <a:pPr marL="514350" indent="-514350">
              <a:buFont typeface="+mj-lt"/>
              <a:buAutoNum type="arabicPeriod"/>
            </a:pPr>
            <a:r>
              <a:rPr lang="en-US" altLang="zh-CN" dirty="0"/>
              <a:t>Current Work</a:t>
            </a:r>
          </a:p>
          <a:p>
            <a:pPr marL="514350" indent="-514350">
              <a:buFont typeface="+mj-lt"/>
              <a:buAutoNum type="arabicPeriod"/>
            </a:pPr>
            <a:r>
              <a:rPr lang="en-US" altLang="zh-CN" dirty="0"/>
              <a:t>Biological Inspiration: Theta–Gamma</a:t>
            </a:r>
          </a:p>
          <a:p>
            <a:pPr marL="514350" indent="-514350">
              <a:buFont typeface="+mj-lt"/>
              <a:buAutoNum type="arabicPeriod"/>
            </a:pPr>
            <a:r>
              <a:rPr lang="en-US" altLang="zh-CN" dirty="0"/>
              <a:t>Mechanism Proposed Architecture</a:t>
            </a:r>
          </a:p>
          <a:p>
            <a:pPr marL="514350" indent="-514350">
              <a:buFont typeface="+mj-lt"/>
              <a:buAutoNum type="arabicPeriod"/>
            </a:pPr>
            <a:r>
              <a:rPr lang="en-US" altLang="zh-CN" dirty="0"/>
              <a:t>Key Technical Contributions</a:t>
            </a:r>
          </a:p>
          <a:p>
            <a:pPr marL="514350" indent="-514350">
              <a:buFont typeface="+mj-lt"/>
              <a:buAutoNum type="arabicPeriod"/>
            </a:pPr>
            <a:r>
              <a:rPr lang="en-US" altLang="zh-CN" dirty="0"/>
              <a:t>Experiment</a:t>
            </a:r>
          </a:p>
          <a:p>
            <a:pPr marL="514350" indent="-514350">
              <a:buFont typeface="+mj-lt"/>
              <a:buAutoNum type="arabicPeriod"/>
            </a:pPr>
            <a:r>
              <a:rPr lang="en-US" altLang="zh-CN" dirty="0"/>
              <a:t>Summary</a:t>
            </a:r>
          </a:p>
          <a:p>
            <a:pPr marL="514350" indent="-514350">
              <a:buFont typeface="+mj-lt"/>
              <a:buAutoNum type="arabicPeriod"/>
            </a:pPr>
            <a:r>
              <a:rPr lang="en-US" altLang="zh-CN" dirty="0"/>
              <a:t>Future Research Roadmap</a:t>
            </a:r>
          </a:p>
          <a:p>
            <a:pPr marL="514350" indent="-514350">
              <a:buFont typeface="+mj-lt"/>
              <a:buAutoNum type="arabicPeriod"/>
            </a:pPr>
            <a:r>
              <a:rPr lang="en-US" altLang="zh-CN" dirty="0"/>
              <a:t>Milestone &amp; Target &amp; Summary</a:t>
            </a:r>
          </a:p>
        </p:txBody>
      </p:sp>
    </p:spTree>
    <p:extLst>
      <p:ext uri="{BB962C8B-B14F-4D97-AF65-F5344CB8AC3E}">
        <p14:creationId xmlns:p14="http://schemas.microsoft.com/office/powerpoint/2010/main" val="4258311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D99B06-CAFF-C4DE-D150-88FED348E7F9}"/>
              </a:ext>
            </a:extLst>
          </p:cNvPr>
          <p:cNvSpPr>
            <a:spLocks noGrp="1"/>
          </p:cNvSpPr>
          <p:nvPr>
            <p:ph type="title"/>
          </p:nvPr>
        </p:nvSpPr>
        <p:spPr/>
        <p:txBody>
          <a:bodyPr/>
          <a:lstStyle/>
          <a:p>
            <a:r>
              <a:rPr kumimoji="1" lang="en-US" altLang="zh-CN" dirty="0"/>
              <a:t>Motivation</a:t>
            </a:r>
            <a:endParaRPr kumimoji="1" lang="zh-CN" altLang="en-US" dirty="0"/>
          </a:p>
        </p:txBody>
      </p:sp>
      <p:sp>
        <p:nvSpPr>
          <p:cNvPr id="3" name="内容占位符 2">
            <a:extLst>
              <a:ext uri="{FF2B5EF4-FFF2-40B4-BE49-F238E27FC236}">
                <a16:creationId xmlns:a16="http://schemas.microsoft.com/office/drawing/2014/main" id="{7F1EBD2D-1BB1-39BA-A6A7-002DDDBD7D4C}"/>
              </a:ext>
            </a:extLst>
          </p:cNvPr>
          <p:cNvSpPr>
            <a:spLocks noGrp="1"/>
          </p:cNvSpPr>
          <p:nvPr>
            <p:ph idx="1"/>
          </p:nvPr>
        </p:nvSpPr>
        <p:spPr>
          <a:xfrm>
            <a:off x="838200" y="1825625"/>
            <a:ext cx="10515600" cy="4857186"/>
          </a:xfrm>
        </p:spPr>
        <p:txBody>
          <a:bodyPr>
            <a:normAutofit lnSpcReduction="10000"/>
          </a:bodyPr>
          <a:lstStyle/>
          <a:p>
            <a:r>
              <a:rPr kumimoji="1" lang="zh-CN" altLang="en-US" sz="1800" dirty="0"/>
              <a:t>在生物医学（</a:t>
            </a:r>
            <a:r>
              <a:rPr kumimoji="1" lang="en-US" altLang="zh-CN" sz="1800" dirty="0"/>
              <a:t>Biomedical</a:t>
            </a:r>
            <a:r>
              <a:rPr kumimoji="1" lang="zh-CN" altLang="en-US" sz="1800" dirty="0"/>
              <a:t>）领域中，某一篇</a:t>
            </a:r>
            <a:r>
              <a:rPr lang="zh-CN" altLang="en-US" sz="1800" dirty="0"/>
              <a:t>科学文献常常是独立研究小领域的某一小个关键问题，某些生物实验验证的结论往往只关联</a:t>
            </a:r>
            <a:r>
              <a:rPr lang="en-US" altLang="zh-CN" sz="1800" dirty="0"/>
              <a:t>1-2</a:t>
            </a:r>
            <a:r>
              <a:rPr lang="zh-CN" altLang="en-US" sz="1800" dirty="0"/>
              <a:t>个关键实体，大模型对单篇文献的理解能力现在已经比较成熟。但是研究规模的扩大和全面铺开，生物医学领域的最新研究往往是</a:t>
            </a:r>
            <a:r>
              <a:rPr lang="zh-CN" altLang="en-US" sz="1800" b="1" dirty="0"/>
              <a:t>跨实体层次的逻辑链条</a:t>
            </a:r>
            <a:r>
              <a:rPr lang="zh-CN" altLang="en-US" sz="1800" dirty="0"/>
              <a:t>，比如在药物作用机制和药物冲突领域，通常需要完整的逻辑链条来证明结论（</a:t>
            </a:r>
            <a:r>
              <a:rPr lang="en-US" altLang="zh-CN" sz="1800" dirty="0"/>
              <a:t>drug → protein → phenotype</a:t>
            </a:r>
            <a:r>
              <a:rPr lang="zh-CN" altLang="en-US" sz="1800" dirty="0"/>
              <a:t> </a:t>
            </a:r>
            <a:r>
              <a:rPr lang="en-US" altLang="zh-CN" sz="1800" dirty="0"/>
              <a:t>→ pathway → drug</a:t>
            </a:r>
            <a:r>
              <a:rPr lang="zh-CN" altLang="en-US" sz="1800" dirty="0"/>
              <a:t>），这就需要整合多源证据，多篇文档来分析并推理，最终得到结论。</a:t>
            </a:r>
            <a:endParaRPr lang="en-US" altLang="zh-CN" sz="1800" dirty="0"/>
          </a:p>
          <a:p>
            <a:r>
              <a:rPr kumimoji="1" lang="zh-CN" altLang="en-US" sz="1800" dirty="0"/>
              <a:t>跨文档推理（</a:t>
            </a:r>
            <a:r>
              <a:rPr kumimoji="1" lang="en-US" altLang="zh-CN" sz="1800" b="1" dirty="0"/>
              <a:t>Multi-Document</a:t>
            </a:r>
            <a:r>
              <a:rPr kumimoji="1" lang="zh-CN" altLang="en-US" sz="1800" b="1" dirty="0"/>
              <a:t> </a:t>
            </a:r>
            <a:r>
              <a:rPr kumimoji="1" lang="en-US" altLang="zh-CN" sz="1800" b="1" dirty="0"/>
              <a:t>Reasoning</a:t>
            </a:r>
            <a:r>
              <a:rPr kumimoji="1" lang="zh-CN" altLang="en-US" sz="1800" b="1" dirty="0"/>
              <a:t> </a:t>
            </a:r>
            <a:r>
              <a:rPr kumimoji="1" lang="en-US" altLang="zh-CN" sz="1800" b="1" dirty="0"/>
              <a:t>QA</a:t>
            </a:r>
            <a:r>
              <a:rPr kumimoji="1" lang="zh-CN" altLang="en-US" sz="1800" dirty="0"/>
              <a:t>）应运而生，虽然大模型理解一篇文档的能力已较为成熟，虽然利用检索增强生成（</a:t>
            </a:r>
            <a:r>
              <a:rPr kumimoji="1" lang="en-US" altLang="zh-CN" sz="1800" b="1" dirty="0"/>
              <a:t>Retrieval-Augmented</a:t>
            </a:r>
            <a:r>
              <a:rPr kumimoji="1" lang="zh-CN" altLang="en-US" sz="1800" b="1" dirty="0"/>
              <a:t> </a:t>
            </a:r>
            <a:r>
              <a:rPr kumimoji="1" lang="en-US" altLang="zh-CN" sz="1800" b="1" dirty="0"/>
              <a:t>Generation</a:t>
            </a:r>
            <a:r>
              <a:rPr kumimoji="1" lang="zh-CN" altLang="en-US" sz="1800" dirty="0"/>
              <a:t>）外接数据库检索生成答案的能力也有一定成效，在需要面对</a:t>
            </a:r>
            <a:r>
              <a:rPr kumimoji="1" lang="zh-CN" altLang="en-US" sz="1800" b="1" u="sng" dirty="0"/>
              <a:t>深层跨文档理解而非表层检索答案</a:t>
            </a:r>
            <a:r>
              <a:rPr kumimoji="1" lang="zh-CN" altLang="en-US" sz="1800" dirty="0"/>
              <a:t>时，就会遇到需要瓶颈。</a:t>
            </a:r>
            <a:endParaRPr lang="en-US" altLang="zh-CN" sz="1800" dirty="0"/>
          </a:p>
          <a:p>
            <a:r>
              <a:rPr kumimoji="1" lang="zh-CN" altLang="en-US" sz="1800" dirty="0"/>
              <a:t>跨文档推理的能力基础是多跳推理能力（</a:t>
            </a:r>
            <a:r>
              <a:rPr kumimoji="1" lang="en-US" altLang="zh-CN" sz="1800" b="1" dirty="0"/>
              <a:t>Multi-hop</a:t>
            </a:r>
            <a:r>
              <a:rPr kumimoji="1" lang="zh-CN" altLang="en-US" sz="1800" b="1" dirty="0"/>
              <a:t> </a:t>
            </a:r>
            <a:r>
              <a:rPr kumimoji="1" lang="en-US" altLang="zh-CN" sz="1800" b="1" dirty="0"/>
              <a:t>Reasoning</a:t>
            </a:r>
            <a:r>
              <a:rPr kumimoji="1" lang="zh-CN" altLang="en-US" sz="1800" dirty="0"/>
              <a:t>），目前在自然语言处理领域内有颇多研究，有很多应用广泛的</a:t>
            </a:r>
            <a:r>
              <a:rPr kumimoji="1" lang="en-US" altLang="zh-CN" sz="1800" b="1" dirty="0"/>
              <a:t>Multi-hop</a:t>
            </a:r>
            <a:r>
              <a:rPr kumimoji="1" lang="zh-CN" altLang="en-US" sz="1800" b="1" dirty="0"/>
              <a:t> </a:t>
            </a:r>
            <a:r>
              <a:rPr kumimoji="1" lang="en-US" altLang="zh-CN" sz="1800" b="1" dirty="0"/>
              <a:t>QA</a:t>
            </a:r>
            <a:r>
              <a:rPr kumimoji="1" lang="zh-CN" altLang="en-US" sz="1800" dirty="0"/>
              <a:t> </a:t>
            </a:r>
            <a:r>
              <a:rPr kumimoji="1" lang="en-US" altLang="zh-CN" sz="1800" dirty="0"/>
              <a:t>benchmark</a:t>
            </a:r>
            <a:r>
              <a:rPr kumimoji="1" lang="zh-CN" altLang="en-US" sz="1800" dirty="0"/>
              <a:t>和创新方法。多跳推理能力在当前主要包含以下内容：</a:t>
            </a:r>
            <a:endParaRPr kumimoji="1" lang="en-US" altLang="zh-CN" sz="1800" dirty="0"/>
          </a:p>
          <a:p>
            <a:pPr lvl="1"/>
            <a:r>
              <a:rPr lang="zh-CN" altLang="en-US" sz="1600" dirty="0"/>
              <a:t>因果</a:t>
            </a:r>
            <a:r>
              <a:rPr lang="en-US" altLang="zh-CN" sz="1600" dirty="0"/>
              <a:t>/</a:t>
            </a:r>
            <a:r>
              <a:rPr lang="zh-CN" altLang="en-US" sz="1600" dirty="0"/>
              <a:t>时间推理</a:t>
            </a:r>
            <a:endParaRPr lang="en-US" altLang="zh-CN" sz="1600" dirty="0"/>
          </a:p>
          <a:p>
            <a:pPr lvl="1"/>
            <a:r>
              <a:rPr lang="zh-CN" altLang="en-US" sz="1600" dirty="0"/>
              <a:t>多跳逻辑路径构建</a:t>
            </a:r>
            <a:endParaRPr lang="en-US" altLang="zh-CN" sz="1600" dirty="0"/>
          </a:p>
          <a:p>
            <a:pPr lvl="1"/>
            <a:r>
              <a:rPr lang="zh-CN" altLang="en-US" sz="1600" dirty="0"/>
              <a:t>跨实体层次识别</a:t>
            </a:r>
            <a:endParaRPr lang="en-US" altLang="zh-CN" sz="1600" dirty="0"/>
          </a:p>
          <a:p>
            <a:pPr lvl="1"/>
            <a:r>
              <a:rPr lang="zh-CN" altLang="en-US" sz="1600" dirty="0"/>
              <a:t>证据分散的检索与整合</a:t>
            </a:r>
            <a:endParaRPr lang="en-US" altLang="zh-CN" sz="1600" dirty="0"/>
          </a:p>
          <a:p>
            <a:pPr lvl="1"/>
            <a:r>
              <a:rPr lang="zh-CN" altLang="en-US" sz="1600" dirty="0"/>
              <a:t>可解释的证据溯源</a:t>
            </a:r>
            <a:endParaRPr kumimoji="1" lang="en-US" altLang="zh-CN" sz="1600" dirty="0"/>
          </a:p>
          <a:p>
            <a:r>
              <a:rPr lang="zh-CN" altLang="en-US" sz="1800" dirty="0"/>
              <a:t>同时，在知识发现，生物医学假设的后续应用中，多跳推理非常关键，多跳推理不仅仅能分析分布在各个科学文献和数据库之间的实体关系，还能找出深层次的领域研究空白，潜在机制，为后续生物医学研究打下基础。</a:t>
            </a:r>
            <a:endParaRPr lang="en-US" altLang="zh-CN" sz="1800" dirty="0"/>
          </a:p>
          <a:p>
            <a:endParaRPr kumimoji="1" lang="zh-CN" altLang="en-US" sz="1800" dirty="0"/>
          </a:p>
        </p:txBody>
      </p:sp>
    </p:spTree>
    <p:extLst>
      <p:ext uri="{BB962C8B-B14F-4D97-AF65-F5344CB8AC3E}">
        <p14:creationId xmlns:p14="http://schemas.microsoft.com/office/powerpoint/2010/main" val="2257209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06CD5F-C372-CF7D-5629-712CB0181E89}"/>
              </a:ext>
            </a:extLst>
          </p:cNvPr>
          <p:cNvSpPr>
            <a:spLocks noGrp="1"/>
          </p:cNvSpPr>
          <p:nvPr>
            <p:ph type="title"/>
          </p:nvPr>
        </p:nvSpPr>
        <p:spPr/>
        <p:txBody>
          <a:bodyPr/>
          <a:lstStyle/>
          <a:p>
            <a:r>
              <a:rPr lang="en-US" altLang="zh-CN" dirty="0"/>
              <a:t>Why Multi-hop Reasoning Matters</a:t>
            </a:r>
            <a:endParaRPr kumimoji="1" lang="zh-CN" altLang="en-US" dirty="0"/>
          </a:p>
        </p:txBody>
      </p:sp>
      <p:sp>
        <p:nvSpPr>
          <p:cNvPr id="3" name="内容占位符 2">
            <a:extLst>
              <a:ext uri="{FF2B5EF4-FFF2-40B4-BE49-F238E27FC236}">
                <a16:creationId xmlns:a16="http://schemas.microsoft.com/office/drawing/2014/main" id="{B2FD132D-910A-4373-8DB9-936151F0C28F}"/>
              </a:ext>
            </a:extLst>
          </p:cNvPr>
          <p:cNvSpPr>
            <a:spLocks noGrp="1"/>
          </p:cNvSpPr>
          <p:nvPr>
            <p:ph idx="1"/>
          </p:nvPr>
        </p:nvSpPr>
        <p:spPr>
          <a:xfrm>
            <a:off x="838200" y="1606609"/>
            <a:ext cx="10515600" cy="5067656"/>
          </a:xfrm>
        </p:spPr>
        <p:txBody>
          <a:bodyPr>
            <a:normAutofit fontScale="92500" lnSpcReduction="10000"/>
          </a:bodyPr>
          <a:lstStyle/>
          <a:p>
            <a:r>
              <a:rPr kumimoji="1" lang="en-US" altLang="zh-CN" b="1" dirty="0"/>
              <a:t>Why is “multi-hop reasoning” itself important</a:t>
            </a:r>
            <a:r>
              <a:rPr kumimoji="1" lang="zh-CN" altLang="en-US" b="1" dirty="0"/>
              <a:t>？</a:t>
            </a:r>
            <a:endParaRPr kumimoji="1" lang="en-US" altLang="zh-CN" b="1" dirty="0"/>
          </a:p>
          <a:p>
            <a:pPr marL="0" indent="0">
              <a:buNone/>
            </a:pPr>
            <a:r>
              <a:rPr kumimoji="1" lang="zh-CN" altLang="en-US" sz="1800" dirty="0"/>
              <a:t>人类科学关系是多层蕴含关系的组合，不是简单的检索。</a:t>
            </a:r>
            <a:r>
              <a:rPr lang="en-US" altLang="zh-CN" sz="1800" b="1" dirty="0"/>
              <a:t> </a:t>
            </a:r>
          </a:p>
          <a:p>
            <a:pPr marL="0" indent="0" algn="r">
              <a:buNone/>
            </a:pPr>
            <a:r>
              <a:rPr lang="en-US" altLang="zh-CN" sz="1800" b="1" dirty="0"/>
              <a:t>-</a:t>
            </a:r>
            <a:r>
              <a:rPr lang="en-US" altLang="zh-CN" sz="1800" i="1" dirty="0"/>
              <a:t>Entailment Graph / Reasoning Chains (Clark et al., AI Magazine 2020)</a:t>
            </a:r>
          </a:p>
          <a:p>
            <a:pPr marL="0" indent="0">
              <a:buNone/>
            </a:pPr>
            <a:r>
              <a:rPr kumimoji="1" lang="zh-CN" altLang="en-US" sz="1800" dirty="0"/>
              <a:t>不是将所有证据检索到，就可以得到答案，科学常识推理常常需要将多个原子事实串在一起形成结论。</a:t>
            </a:r>
            <a:endParaRPr kumimoji="1" lang="en-US" altLang="zh-CN" sz="1800" dirty="0"/>
          </a:p>
          <a:p>
            <a:pPr marL="0" indent="0" algn="r">
              <a:buNone/>
            </a:pPr>
            <a:r>
              <a:rPr kumimoji="1" lang="en-US" altLang="zh-CN" sz="1800" i="1" dirty="0"/>
              <a:t>-</a:t>
            </a:r>
            <a:r>
              <a:rPr lang="en-US" altLang="zh-CN" sz="1800" i="1" dirty="0"/>
              <a:t>QASC (Khot et al., AAAI 2020)</a:t>
            </a:r>
            <a:endParaRPr kumimoji="1" lang="en-US" altLang="zh-CN" sz="1800" i="1" dirty="0"/>
          </a:p>
          <a:p>
            <a:r>
              <a:rPr kumimoji="1" lang="en-US" altLang="zh-CN" b="1" dirty="0"/>
              <a:t>Why is this ability particularly crucial in the field of BME?</a:t>
            </a:r>
          </a:p>
          <a:p>
            <a:pPr marL="0" indent="0">
              <a:buNone/>
            </a:pPr>
            <a:r>
              <a:rPr lang="zh-CN" altLang="en-US" sz="1800" dirty="0"/>
              <a:t>指出模型易陷入“单文档回答”困境，无法整合跨文档因果证据</a:t>
            </a:r>
            <a:endParaRPr lang="en-US" altLang="zh-CN" sz="1800" dirty="0"/>
          </a:p>
          <a:p>
            <a:pPr marL="0" indent="0" algn="r">
              <a:buNone/>
            </a:pPr>
            <a:r>
              <a:rPr lang="en-US" altLang="zh-CN" sz="1800" i="1" dirty="0"/>
              <a:t>-</a:t>
            </a:r>
            <a:r>
              <a:rPr lang="en-US" altLang="zh-CN" sz="1800" i="1" dirty="0" err="1"/>
              <a:t>MedQA</a:t>
            </a:r>
            <a:r>
              <a:rPr lang="en-US" altLang="zh-CN" sz="1800" i="1" dirty="0"/>
              <a:t> + </a:t>
            </a:r>
            <a:r>
              <a:rPr lang="en-US" altLang="zh-CN" sz="1800" i="1" dirty="0" err="1"/>
              <a:t>PubMedQA</a:t>
            </a:r>
            <a:r>
              <a:rPr lang="en-US" altLang="zh-CN" sz="1800" i="1" dirty="0"/>
              <a:t>  Analysis(ACL 2021, </a:t>
            </a:r>
            <a:r>
              <a:rPr lang="en-US" altLang="zh-CN" sz="1800" i="1" dirty="0" err="1"/>
              <a:t>BioNLP</a:t>
            </a:r>
            <a:r>
              <a:rPr lang="en-US" altLang="zh-CN" sz="1800" i="1" dirty="0"/>
              <a:t> 2023)</a:t>
            </a:r>
          </a:p>
          <a:p>
            <a:pPr marL="0" indent="0">
              <a:buNone/>
            </a:pPr>
            <a:r>
              <a:rPr lang="zh-CN" altLang="en-US" sz="1800" dirty="0"/>
              <a:t>明确提出 </a:t>
            </a:r>
            <a:r>
              <a:rPr lang="en-US" altLang="zh-CN" sz="1800" dirty="0"/>
              <a:t>BME </a:t>
            </a:r>
            <a:r>
              <a:rPr lang="zh-CN" altLang="en-US" sz="1800" dirty="0"/>
              <a:t>领域“</a:t>
            </a:r>
            <a:r>
              <a:rPr lang="en-US" altLang="zh-CN" sz="1800" dirty="0"/>
              <a:t>multi-hop semantic paths”</a:t>
            </a:r>
            <a:r>
              <a:rPr lang="zh-CN" altLang="en-US" sz="1800" dirty="0"/>
              <a:t>用于药物发现与疾病因果分析。</a:t>
            </a:r>
            <a:r>
              <a:rPr lang="en-US" altLang="zh-CN" sz="1800" b="1" dirty="0"/>
              <a:t> </a:t>
            </a:r>
          </a:p>
          <a:p>
            <a:pPr marL="0" indent="0" algn="r">
              <a:buNone/>
            </a:pPr>
            <a:r>
              <a:rPr lang="en-US" altLang="zh-CN" sz="1800" i="1" dirty="0"/>
              <a:t>-</a:t>
            </a:r>
            <a:r>
              <a:rPr lang="en-US" altLang="zh-CN" sz="1800" i="1" dirty="0" err="1"/>
              <a:t>PrimeKG</a:t>
            </a:r>
            <a:r>
              <a:rPr lang="en-US" altLang="zh-CN" sz="1800" i="1" dirty="0"/>
              <a:t> (Nature Scientific Data 2023)</a:t>
            </a:r>
          </a:p>
          <a:p>
            <a:pPr marL="0" indent="0">
              <a:buNone/>
            </a:pPr>
            <a:r>
              <a:rPr lang="zh-CN" altLang="en-US" sz="1800" dirty="0"/>
              <a:t>尝试用多跳链路发现药物</a:t>
            </a:r>
            <a:r>
              <a:rPr lang="en-US" altLang="zh-CN" sz="1800" dirty="0"/>
              <a:t>-</a:t>
            </a:r>
            <a:r>
              <a:rPr lang="zh-CN" altLang="en-US" sz="1800" dirty="0"/>
              <a:t>疾病潜在关联。 </a:t>
            </a:r>
            <a:endParaRPr lang="en-US" altLang="zh-CN" sz="1800" dirty="0"/>
          </a:p>
          <a:p>
            <a:pPr marL="0" indent="0" algn="r">
              <a:buNone/>
            </a:pPr>
            <a:r>
              <a:rPr lang="en-US" altLang="zh-CN" sz="1800" i="1" dirty="0"/>
              <a:t>-Bio-</a:t>
            </a:r>
            <a:r>
              <a:rPr lang="en-US" altLang="zh-CN" sz="1800" i="1" dirty="0" err="1"/>
              <a:t>MedHop</a:t>
            </a:r>
            <a:r>
              <a:rPr lang="en-US" altLang="zh-CN" sz="1800" i="1" dirty="0"/>
              <a:t> (Zhao et al., Bioinformatics 2022)</a:t>
            </a:r>
          </a:p>
          <a:p>
            <a:pPr marL="0" indent="0">
              <a:buNone/>
            </a:pPr>
            <a:r>
              <a:rPr lang="zh-CN" altLang="en-US" sz="1800" dirty="0"/>
              <a:t>将多领域生物医学知识图谱连接起来以支持复合推理。</a:t>
            </a:r>
            <a:endParaRPr lang="en-US" altLang="zh-CN" sz="1800" b="1" dirty="0"/>
          </a:p>
          <a:p>
            <a:pPr marL="0" indent="0" algn="r">
              <a:buNone/>
            </a:pPr>
            <a:r>
              <a:rPr lang="en-US" altLang="zh-CN" sz="1800" i="1" dirty="0"/>
              <a:t>-DRKG: Deep Reasoning Knowledge Graph (Ioannidis et al., Nature Scientific Data 2021) </a:t>
            </a:r>
            <a:endParaRPr kumimoji="1" lang="zh-CN" altLang="en-US" sz="1800" i="1" dirty="0"/>
          </a:p>
        </p:txBody>
      </p:sp>
    </p:spTree>
    <p:extLst>
      <p:ext uri="{BB962C8B-B14F-4D97-AF65-F5344CB8AC3E}">
        <p14:creationId xmlns:p14="http://schemas.microsoft.com/office/powerpoint/2010/main" val="383909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17427C-50A6-79F9-B861-4505CB303FCF}"/>
              </a:ext>
            </a:extLst>
          </p:cNvPr>
          <p:cNvSpPr>
            <a:spLocks noGrp="1"/>
          </p:cNvSpPr>
          <p:nvPr>
            <p:ph type="title"/>
          </p:nvPr>
        </p:nvSpPr>
        <p:spPr/>
        <p:txBody>
          <a:bodyPr/>
          <a:lstStyle/>
          <a:p>
            <a:r>
              <a:rPr lang="en-US" altLang="zh-CN" dirty="0"/>
              <a:t>Example on Biomedical</a:t>
            </a:r>
            <a:endParaRPr kumimoji="1" lang="zh-CN" altLang="en-US" dirty="0"/>
          </a:p>
        </p:txBody>
      </p:sp>
      <p:sp>
        <p:nvSpPr>
          <p:cNvPr id="3" name="内容占位符 2">
            <a:extLst>
              <a:ext uri="{FF2B5EF4-FFF2-40B4-BE49-F238E27FC236}">
                <a16:creationId xmlns:a16="http://schemas.microsoft.com/office/drawing/2014/main" id="{382274CC-4803-C948-8B8A-9344209D42F1}"/>
              </a:ext>
            </a:extLst>
          </p:cNvPr>
          <p:cNvSpPr>
            <a:spLocks noGrp="1"/>
          </p:cNvSpPr>
          <p:nvPr>
            <p:ph idx="1"/>
          </p:nvPr>
        </p:nvSpPr>
        <p:spPr>
          <a:xfrm>
            <a:off x="838200" y="1509430"/>
            <a:ext cx="10515600" cy="4669179"/>
          </a:xfrm>
        </p:spPr>
        <p:txBody>
          <a:bodyPr>
            <a:noAutofit/>
          </a:bodyPr>
          <a:lstStyle/>
          <a:p>
            <a:r>
              <a:rPr kumimoji="1" lang="en-US" altLang="zh-CN" sz="1800" dirty="0"/>
              <a:t>Which one interacts with DB01171</a:t>
            </a:r>
            <a:r>
              <a:rPr kumimoji="1" lang="zh-CN" altLang="en-US" sz="1800" dirty="0"/>
              <a:t>？</a:t>
            </a:r>
            <a:endParaRPr kumimoji="1" lang="en-US" altLang="zh-CN" sz="1800" dirty="0"/>
          </a:p>
          <a:p>
            <a:pPr marL="457200" indent="-457200">
              <a:buFont typeface="+mj-ea"/>
              <a:buAutoNum type="circleNumDbPlain"/>
            </a:pPr>
            <a:r>
              <a:rPr lang="en-US" altLang="zh-CN" sz="1800" dirty="0"/>
              <a:t>DB01171 = Moclobemide, identified as the first P21397 inhibitor </a:t>
            </a:r>
            <a:r>
              <a:rPr lang="en-US" altLang="zh-CN" sz="1800" i="1" dirty="0"/>
              <a:t>(Support: "[ Moclobemide ( DB01171 ) , the first P21397 -inhibitor ...]").</a:t>
            </a:r>
          </a:p>
          <a:p>
            <a:pPr marL="457200" indent="-457200">
              <a:buFont typeface="+mj-ea"/>
              <a:buAutoNum type="circleNumDbPlain"/>
            </a:pPr>
            <a:r>
              <a:rPr lang="en-US" altLang="zh-CN" sz="1800" dirty="0"/>
              <a:t>P21397 = monoamine oxidase A (MAO-A), a key enzyme that degrades monoamine neurotransmitters (dopamine, serotonin, norepinephrine) </a:t>
            </a:r>
            <a:r>
              <a:rPr lang="en-US" altLang="zh-CN" sz="1800" i="1" dirty="0"/>
              <a:t>(Supports: vitiligo dopamine study; Xenopus embryogenesis study).</a:t>
            </a:r>
          </a:p>
          <a:p>
            <a:pPr marL="457200" indent="-457200">
              <a:buFont typeface="+mj-ea"/>
              <a:buAutoNum type="circleNumDbPlain"/>
            </a:pPr>
            <a:r>
              <a:rPr lang="en-US" altLang="zh-CN" sz="1800" dirty="0"/>
              <a:t>Among the candidates, DB04844 = Tetrabenazine, a vesicular monoamine transporter 2 (VMAT2, Q05940) inhibitor </a:t>
            </a:r>
            <a:r>
              <a:rPr lang="en-US" altLang="zh-CN" sz="1800" i="1" dirty="0"/>
              <a:t>(Support: DTBZ/TBZ radiotracer study).</a:t>
            </a:r>
          </a:p>
          <a:p>
            <a:pPr marL="457200" indent="-457200">
              <a:buFont typeface="+mj-ea"/>
              <a:buAutoNum type="circleNumDbPlain"/>
            </a:pPr>
            <a:r>
              <a:rPr lang="en-US" altLang="zh-CN" sz="1800" dirty="0"/>
              <a:t>Both MAO-A and VMAT2 are critical regulators of monoamine </a:t>
            </a:r>
            <a:r>
              <a:rPr lang="en-US" altLang="zh-CN" sz="1800" dirty="0" err="1"/>
              <a:t>homeostasis:MAO-A</a:t>
            </a:r>
            <a:r>
              <a:rPr lang="en-US" altLang="zh-CN" sz="1800" dirty="0"/>
              <a:t> inhibition (by DB01171) → ↑ cytoplasmic and synaptic monoamines.VMAT2 inhibition (by DB04844) → ↓ vesicular storage → ↑ cytoplasmic monoamines → risk of oxidative stress and toxicity.</a:t>
            </a:r>
          </a:p>
          <a:p>
            <a:pPr marL="457200" indent="-457200">
              <a:buFont typeface="+mj-ea"/>
              <a:buAutoNum type="circleNumDbPlain"/>
            </a:pPr>
            <a:r>
              <a:rPr lang="en-US" altLang="zh-CN" sz="1800" dirty="0"/>
              <a:t>Pharmacologically, combining MAO inhibitors and VMAT2 inhibitors is contraindicated due to risk of severe adverse effects (e.g., parkinsonism exacerbation, serotonin-like toxicity).</a:t>
            </a:r>
          </a:p>
          <a:p>
            <a:pPr marL="457200" indent="-457200">
              <a:buFont typeface="+mj-ea"/>
              <a:buAutoNum type="circleNumDbPlain"/>
            </a:pPr>
            <a:r>
              <a:rPr lang="en-US" altLang="zh-CN" sz="1800" dirty="0"/>
              <a:t>Therefore, DB04844 is the only candidate that meaningfully “</a:t>
            </a:r>
            <a:r>
              <a:rPr lang="en-US" altLang="zh-CN" sz="1800" dirty="0" err="1"/>
              <a:t>interacts_with</a:t>
            </a:r>
            <a:r>
              <a:rPr lang="en-US" altLang="zh-CN" sz="1800" dirty="0"/>
              <a:t>” DB01171, based on shared biological system and known drug-drug interaction.</a:t>
            </a:r>
          </a:p>
          <a:p>
            <a:endParaRPr kumimoji="1" lang="zh-CN" altLang="en-US" sz="1800" dirty="0"/>
          </a:p>
        </p:txBody>
      </p:sp>
    </p:spTree>
    <p:extLst>
      <p:ext uri="{BB962C8B-B14F-4D97-AF65-F5344CB8AC3E}">
        <p14:creationId xmlns:p14="http://schemas.microsoft.com/office/powerpoint/2010/main" val="1473024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FFE42-7398-B645-53FE-2B8D3C7A9F3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C4FFCFD-8EDC-41DF-6FF8-E88CA349E8C4}"/>
              </a:ext>
            </a:extLst>
          </p:cNvPr>
          <p:cNvSpPr>
            <a:spLocks noGrp="1"/>
          </p:cNvSpPr>
          <p:nvPr>
            <p:ph type="title"/>
          </p:nvPr>
        </p:nvSpPr>
        <p:spPr/>
        <p:txBody>
          <a:bodyPr/>
          <a:lstStyle/>
          <a:p>
            <a:r>
              <a:rPr lang="en-US" altLang="zh-CN" dirty="0"/>
              <a:t>Example on Biomedical</a:t>
            </a:r>
            <a:endParaRPr kumimoji="1" lang="zh-CN" altLang="en-US" dirty="0"/>
          </a:p>
        </p:txBody>
      </p:sp>
      <p:sp>
        <p:nvSpPr>
          <p:cNvPr id="3" name="内容占位符 2">
            <a:extLst>
              <a:ext uri="{FF2B5EF4-FFF2-40B4-BE49-F238E27FC236}">
                <a16:creationId xmlns:a16="http://schemas.microsoft.com/office/drawing/2014/main" id="{64520E35-E6E2-50FA-0AEE-0D7A36802B80}"/>
              </a:ext>
            </a:extLst>
          </p:cNvPr>
          <p:cNvSpPr>
            <a:spLocks noGrp="1"/>
          </p:cNvSpPr>
          <p:nvPr>
            <p:ph idx="1"/>
          </p:nvPr>
        </p:nvSpPr>
        <p:spPr>
          <a:xfrm>
            <a:off x="838200" y="1509430"/>
            <a:ext cx="10515600" cy="4669179"/>
          </a:xfrm>
        </p:spPr>
        <p:txBody>
          <a:bodyPr>
            <a:noAutofit/>
          </a:bodyPr>
          <a:lstStyle/>
          <a:p>
            <a:r>
              <a:rPr kumimoji="1" lang="zh-CN" altLang="en-US" sz="1800" dirty="0"/>
              <a:t>下列哪个药物与</a:t>
            </a:r>
            <a:r>
              <a:rPr kumimoji="1" lang="en-US" altLang="zh-CN" sz="1800" dirty="0"/>
              <a:t>DB01171</a:t>
            </a:r>
            <a:r>
              <a:rPr kumimoji="1" lang="zh-CN" altLang="en-US" sz="1800" dirty="0"/>
              <a:t>可能有冲突？</a:t>
            </a:r>
            <a:endParaRPr kumimoji="1" lang="en-US" altLang="zh-CN" sz="1800" dirty="0"/>
          </a:p>
          <a:p>
            <a:pPr marL="457200" indent="-457200">
              <a:buFont typeface="+mj-ea"/>
              <a:buAutoNum type="circleNumDbPlain"/>
            </a:pPr>
            <a:r>
              <a:rPr lang="en-US" altLang="zh-CN" sz="1800" b="1" u="sng" dirty="0"/>
              <a:t>DB01171</a:t>
            </a:r>
            <a:r>
              <a:rPr lang="en-US" altLang="zh-CN" sz="1800" dirty="0"/>
              <a:t> = </a:t>
            </a:r>
            <a:r>
              <a:rPr lang="zh-CN" altLang="en-US" sz="1800" dirty="0"/>
              <a:t>摩洛布米德，被确认为首个 </a:t>
            </a:r>
            <a:r>
              <a:rPr lang="en-US" altLang="zh-CN" sz="1800" dirty="0"/>
              <a:t>P21397 </a:t>
            </a:r>
            <a:r>
              <a:rPr lang="zh-CN" altLang="en-US" sz="1800" dirty="0"/>
              <a:t>抑制剂</a:t>
            </a:r>
            <a:r>
              <a:rPr lang="zh-CN" altLang="en-US" sz="1800" i="1" dirty="0"/>
              <a:t>（支持信息：“摩洛布米德（</a:t>
            </a:r>
            <a:r>
              <a:rPr lang="en-US" altLang="zh-CN" sz="1800" i="1" dirty="0"/>
              <a:t>DB01171</a:t>
            </a:r>
            <a:r>
              <a:rPr lang="zh-CN" altLang="en-US" sz="1800" i="1" dirty="0"/>
              <a:t>），首个 </a:t>
            </a:r>
            <a:r>
              <a:rPr lang="en-US" altLang="zh-CN" sz="1800" i="1" dirty="0"/>
              <a:t>P21397 </a:t>
            </a:r>
            <a:r>
              <a:rPr lang="zh-CN" altLang="en-US" sz="1800" i="1" dirty="0"/>
              <a:t>抑制剂</a:t>
            </a:r>
            <a:r>
              <a:rPr lang="en-US" altLang="zh-CN" sz="1800" i="1" dirty="0"/>
              <a:t>……”</a:t>
            </a:r>
            <a:r>
              <a:rPr lang="zh-CN" altLang="en-US" sz="1800" i="1" dirty="0"/>
              <a:t>）。</a:t>
            </a:r>
          </a:p>
          <a:p>
            <a:pPr marL="457200" indent="-457200">
              <a:buFont typeface="+mj-ea"/>
              <a:buAutoNum type="circleNumDbPlain"/>
            </a:pPr>
            <a:r>
              <a:rPr lang="en-US" altLang="zh-CN" sz="1800" dirty="0"/>
              <a:t>P21397 = </a:t>
            </a:r>
            <a:r>
              <a:rPr lang="zh-CN" altLang="en-US" sz="1800" dirty="0"/>
              <a:t>单胺氧化酶 </a:t>
            </a:r>
            <a:r>
              <a:rPr lang="en-US" altLang="zh-CN" sz="1800" dirty="0"/>
              <a:t>A</a:t>
            </a:r>
            <a:r>
              <a:rPr lang="zh-CN" altLang="en-US" sz="1800" dirty="0"/>
              <a:t>（</a:t>
            </a:r>
            <a:r>
              <a:rPr lang="en-US" altLang="zh-CN" sz="1800" dirty="0"/>
              <a:t>MAO-A</a:t>
            </a:r>
            <a:r>
              <a:rPr lang="zh-CN" altLang="en-US" sz="1800" dirty="0"/>
              <a:t>），一种能分解单胺类神经递质</a:t>
            </a:r>
            <a:r>
              <a:rPr lang="zh-CN" altLang="en-US" sz="1800" i="1" dirty="0"/>
              <a:t>（多巴胺、血清素、去甲肾上腺素）的关键酶（支持信息：白癜风多巴胺研究；非洲爪蟾胚胎发育研究）</a:t>
            </a:r>
            <a:r>
              <a:rPr lang="zh-CN" altLang="en-US" sz="1800" dirty="0"/>
              <a:t>。</a:t>
            </a:r>
          </a:p>
          <a:p>
            <a:pPr marL="457200" indent="-457200">
              <a:buFont typeface="+mj-ea"/>
              <a:buAutoNum type="circleNumDbPlain"/>
            </a:pPr>
            <a:r>
              <a:rPr lang="zh-CN" altLang="en-US" sz="1800" dirty="0"/>
              <a:t>在候选药物中，</a:t>
            </a:r>
            <a:r>
              <a:rPr lang="en-US" altLang="zh-CN" sz="1800" dirty="0"/>
              <a:t>DB04844 = </a:t>
            </a:r>
            <a:r>
              <a:rPr lang="zh-CN" altLang="en-US" sz="1800" dirty="0"/>
              <a:t>四贝嗪，一种突触单胺转运体 </a:t>
            </a:r>
            <a:r>
              <a:rPr lang="en-US" altLang="zh-CN" sz="1800" dirty="0"/>
              <a:t>2</a:t>
            </a:r>
            <a:r>
              <a:rPr lang="zh-CN" altLang="en-US" sz="1800" dirty="0"/>
              <a:t>（</a:t>
            </a:r>
            <a:r>
              <a:rPr lang="en-US" altLang="zh-CN" sz="1800" dirty="0"/>
              <a:t>VMAT2</a:t>
            </a:r>
            <a:r>
              <a:rPr lang="zh-CN" altLang="en-US" sz="1800" dirty="0"/>
              <a:t>，</a:t>
            </a:r>
            <a:r>
              <a:rPr lang="en-US" altLang="zh-CN" sz="1800" dirty="0"/>
              <a:t>Q05940</a:t>
            </a:r>
            <a:r>
              <a:rPr lang="zh-CN" altLang="en-US" sz="1800" dirty="0"/>
              <a:t>）抑制剂</a:t>
            </a:r>
            <a:r>
              <a:rPr lang="zh-CN" altLang="en-US" sz="1800" i="1" dirty="0"/>
              <a:t>（支持信息：</a:t>
            </a:r>
            <a:r>
              <a:rPr lang="en-US" altLang="zh-CN" sz="1800" i="1" dirty="0"/>
              <a:t>DTBZ/TBZ </a:t>
            </a:r>
            <a:r>
              <a:rPr lang="zh-CN" altLang="en-US" sz="1800" i="1" dirty="0"/>
              <a:t>放射性示踪剂研究）</a:t>
            </a:r>
            <a:r>
              <a:rPr lang="zh-CN" altLang="en-US" sz="1800" dirty="0"/>
              <a:t>。</a:t>
            </a:r>
          </a:p>
          <a:p>
            <a:pPr marL="457200" indent="-457200">
              <a:buFont typeface="+mj-ea"/>
              <a:buAutoNum type="circleNumDbPlain"/>
            </a:pPr>
            <a:r>
              <a:rPr lang="en-US" altLang="zh-CN" sz="1800" dirty="0"/>
              <a:t>MAO-A </a:t>
            </a:r>
            <a:r>
              <a:rPr lang="zh-CN" altLang="en-US" sz="1800" dirty="0"/>
              <a:t>和 </a:t>
            </a:r>
            <a:r>
              <a:rPr lang="en-US" altLang="zh-CN" sz="1800" dirty="0"/>
              <a:t>VMAT2 </a:t>
            </a:r>
            <a:r>
              <a:rPr lang="zh-CN" altLang="en-US" sz="1800" dirty="0"/>
              <a:t>都是单胺类物质稳态的关键调节因子：</a:t>
            </a:r>
            <a:r>
              <a:rPr lang="en-US" altLang="zh-CN" sz="1800" dirty="0"/>
              <a:t>MAO-A </a:t>
            </a:r>
            <a:r>
              <a:rPr lang="zh-CN" altLang="en-US" sz="1800" dirty="0"/>
              <a:t>抑制（通过 </a:t>
            </a:r>
            <a:r>
              <a:rPr lang="en-US" altLang="zh-CN" sz="1800" dirty="0"/>
              <a:t>DB01171 </a:t>
            </a:r>
            <a:r>
              <a:rPr lang="zh-CN" altLang="en-US" sz="1800" dirty="0"/>
              <a:t>实现）→ 细胞质和突触中的单胺类物质增加。</a:t>
            </a:r>
            <a:r>
              <a:rPr lang="en-US" altLang="zh-CN" sz="1800" dirty="0"/>
              <a:t>VMAT2 </a:t>
            </a:r>
            <a:r>
              <a:rPr lang="zh-CN" altLang="en-US" sz="1800" dirty="0"/>
              <a:t>抑制（通过 </a:t>
            </a:r>
            <a:r>
              <a:rPr lang="en-US" altLang="zh-CN" sz="1800" dirty="0"/>
              <a:t>DB04844 </a:t>
            </a:r>
            <a:r>
              <a:rPr lang="zh-CN" altLang="en-US" sz="1800" dirty="0"/>
              <a:t>实现）→ 突触囊泡储存减少→ 细胞质中的单胺类物质增加→ 氧化应激和毒性风险增加。</a:t>
            </a:r>
          </a:p>
          <a:p>
            <a:pPr marL="457200" indent="-457200">
              <a:buFont typeface="+mj-ea"/>
              <a:buAutoNum type="circleNumDbPlain"/>
            </a:pPr>
            <a:r>
              <a:rPr lang="zh-CN" altLang="en-US" sz="1800" dirty="0"/>
              <a:t>从药理学角度来看，由于存在严重不良反应的风险（例如帕金森综合征加重、类似血清素的毒性），将 </a:t>
            </a:r>
            <a:r>
              <a:rPr lang="en-US" altLang="zh-CN" sz="1800" dirty="0"/>
              <a:t>MAO </a:t>
            </a:r>
            <a:r>
              <a:rPr lang="zh-CN" altLang="en-US" sz="1800" dirty="0"/>
              <a:t>抑制剂和 </a:t>
            </a:r>
            <a:r>
              <a:rPr lang="en-US" altLang="zh-CN" sz="1800" dirty="0"/>
              <a:t>VMAT2 </a:t>
            </a:r>
            <a:r>
              <a:rPr lang="zh-CN" altLang="en-US" sz="1800" dirty="0"/>
              <a:t>抑制剂联合使用是不被推荐的（例如 </a:t>
            </a:r>
            <a:r>
              <a:rPr lang="en-US" altLang="zh-CN" sz="1800" dirty="0"/>
              <a:t>DB01171 </a:t>
            </a:r>
            <a:r>
              <a:rPr lang="zh-CN" altLang="en-US" sz="1800" dirty="0"/>
              <a:t>和 </a:t>
            </a:r>
            <a:r>
              <a:rPr lang="en-US" altLang="zh-CN" sz="1800" dirty="0"/>
              <a:t>DB04844 </a:t>
            </a:r>
            <a:r>
              <a:rPr lang="zh-CN" altLang="en-US" sz="1800" dirty="0"/>
              <a:t>的组合使用）。</a:t>
            </a:r>
          </a:p>
          <a:p>
            <a:pPr marL="457200" indent="-457200">
              <a:buFont typeface="+mj-ea"/>
              <a:buAutoNum type="circleNumDbPlain"/>
            </a:pPr>
            <a:r>
              <a:rPr lang="zh-CN" altLang="en-US" sz="1800" dirty="0"/>
              <a:t>因此，基于共享的生物系统和已知的药物相互作用，</a:t>
            </a:r>
            <a:r>
              <a:rPr lang="en-US" altLang="zh-CN" sz="1800" b="1" u="sng" dirty="0"/>
              <a:t>DB04844</a:t>
            </a:r>
            <a:r>
              <a:rPr lang="en-US" altLang="zh-CN" sz="1800" dirty="0"/>
              <a:t> </a:t>
            </a:r>
            <a:r>
              <a:rPr lang="zh-CN" altLang="en-US" sz="1800" dirty="0"/>
              <a:t>是唯一与 </a:t>
            </a:r>
            <a:r>
              <a:rPr lang="en-US" altLang="zh-CN" sz="1800" b="1" u="sng" dirty="0"/>
              <a:t>DB01171</a:t>
            </a:r>
            <a:r>
              <a:rPr lang="en-US" altLang="zh-CN" sz="1800" dirty="0"/>
              <a:t> </a:t>
            </a:r>
            <a:r>
              <a:rPr lang="zh-CN" altLang="en-US" sz="1800" dirty="0"/>
              <a:t>具有意义地“相互作用”的候选药物。</a:t>
            </a:r>
            <a:endParaRPr kumimoji="1" lang="zh-CN" altLang="en-US" sz="1800" dirty="0"/>
          </a:p>
        </p:txBody>
      </p:sp>
    </p:spTree>
    <p:extLst>
      <p:ext uri="{BB962C8B-B14F-4D97-AF65-F5344CB8AC3E}">
        <p14:creationId xmlns:p14="http://schemas.microsoft.com/office/powerpoint/2010/main" val="2933783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DA3F9-1716-E157-1ADD-A7BEE7163DD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68E152-4841-0327-6282-BA3490118F00}"/>
              </a:ext>
            </a:extLst>
          </p:cNvPr>
          <p:cNvSpPr>
            <a:spLocks noGrp="1"/>
          </p:cNvSpPr>
          <p:nvPr>
            <p:ph type="title"/>
          </p:nvPr>
        </p:nvSpPr>
        <p:spPr>
          <a:xfrm>
            <a:off x="0" y="1"/>
            <a:ext cx="5588950" cy="675118"/>
          </a:xfrm>
        </p:spPr>
        <p:txBody>
          <a:bodyPr>
            <a:normAutofit fontScale="90000"/>
          </a:bodyPr>
          <a:lstStyle/>
          <a:p>
            <a:r>
              <a:rPr lang="en-US" altLang="zh-CN" dirty="0"/>
              <a:t>Example Result of LLM</a:t>
            </a:r>
            <a:endParaRPr kumimoji="1" lang="zh-CN" altLang="en-US" dirty="0"/>
          </a:p>
        </p:txBody>
      </p:sp>
      <p:pic>
        <p:nvPicPr>
          <p:cNvPr id="7" name="图片 6">
            <a:extLst>
              <a:ext uri="{FF2B5EF4-FFF2-40B4-BE49-F238E27FC236}">
                <a16:creationId xmlns:a16="http://schemas.microsoft.com/office/drawing/2014/main" id="{2F682B89-8AF4-FF0B-F055-FE320E479E77}"/>
              </a:ext>
            </a:extLst>
          </p:cNvPr>
          <p:cNvPicPr>
            <a:picLocks noChangeAspect="1"/>
          </p:cNvPicPr>
          <p:nvPr/>
        </p:nvPicPr>
        <p:blipFill>
          <a:blip r:embed="rId2"/>
          <a:stretch>
            <a:fillRect/>
          </a:stretch>
        </p:blipFill>
        <p:spPr>
          <a:xfrm>
            <a:off x="7559415" y="4930655"/>
            <a:ext cx="4632585" cy="683075"/>
          </a:xfrm>
          <a:prstGeom prst="rect">
            <a:avLst/>
          </a:prstGeom>
        </p:spPr>
      </p:pic>
      <p:sp>
        <p:nvSpPr>
          <p:cNvPr id="8" name="文本框 7">
            <a:extLst>
              <a:ext uri="{FF2B5EF4-FFF2-40B4-BE49-F238E27FC236}">
                <a16:creationId xmlns:a16="http://schemas.microsoft.com/office/drawing/2014/main" id="{2AC4D546-8D62-C00F-9442-EF70488BEC04}"/>
              </a:ext>
            </a:extLst>
          </p:cNvPr>
          <p:cNvSpPr txBox="1"/>
          <p:nvPr/>
        </p:nvSpPr>
        <p:spPr>
          <a:xfrm>
            <a:off x="9552541" y="3890554"/>
            <a:ext cx="646331" cy="369332"/>
          </a:xfrm>
          <a:prstGeom prst="rect">
            <a:avLst/>
          </a:prstGeom>
          <a:noFill/>
        </p:spPr>
        <p:txBody>
          <a:bodyPr wrap="none" rtlCol="0">
            <a:spAutoFit/>
          </a:bodyPr>
          <a:lstStyle/>
          <a:p>
            <a:r>
              <a:rPr kumimoji="1" lang="zh-CN" altLang="en-US" dirty="0"/>
              <a:t>豆包</a:t>
            </a:r>
          </a:p>
        </p:txBody>
      </p:sp>
      <p:pic>
        <p:nvPicPr>
          <p:cNvPr id="10" name="图片 9" descr="表格&#10;&#10;AI 生成的内容可能不正确。">
            <a:extLst>
              <a:ext uri="{FF2B5EF4-FFF2-40B4-BE49-F238E27FC236}">
                <a16:creationId xmlns:a16="http://schemas.microsoft.com/office/drawing/2014/main" id="{C76FB293-209A-9E99-AABB-20EA1E727FCD}"/>
              </a:ext>
            </a:extLst>
          </p:cNvPr>
          <p:cNvPicPr>
            <a:picLocks noChangeAspect="1"/>
          </p:cNvPicPr>
          <p:nvPr/>
        </p:nvPicPr>
        <p:blipFill>
          <a:blip r:embed="rId3"/>
          <a:stretch>
            <a:fillRect/>
          </a:stretch>
        </p:blipFill>
        <p:spPr>
          <a:xfrm>
            <a:off x="3768695" y="1321339"/>
            <a:ext cx="3046760" cy="2107661"/>
          </a:xfrm>
          <a:prstGeom prst="rect">
            <a:avLst/>
          </a:prstGeom>
        </p:spPr>
      </p:pic>
      <p:sp>
        <p:nvSpPr>
          <p:cNvPr id="11" name="文本框 10">
            <a:extLst>
              <a:ext uri="{FF2B5EF4-FFF2-40B4-BE49-F238E27FC236}">
                <a16:creationId xmlns:a16="http://schemas.microsoft.com/office/drawing/2014/main" id="{E7832120-241B-F09B-6A73-D4BF904E1B63}"/>
              </a:ext>
            </a:extLst>
          </p:cNvPr>
          <p:cNvSpPr txBox="1"/>
          <p:nvPr/>
        </p:nvSpPr>
        <p:spPr>
          <a:xfrm>
            <a:off x="4471978" y="741621"/>
            <a:ext cx="1640193" cy="369332"/>
          </a:xfrm>
          <a:prstGeom prst="rect">
            <a:avLst/>
          </a:prstGeom>
          <a:noFill/>
        </p:spPr>
        <p:txBody>
          <a:bodyPr wrap="none" rtlCol="0">
            <a:spAutoFit/>
          </a:bodyPr>
          <a:lstStyle/>
          <a:p>
            <a:r>
              <a:rPr kumimoji="1" lang="en-US" altLang="zh-CN" dirty="0"/>
              <a:t>Gemini</a:t>
            </a:r>
            <a:r>
              <a:rPr kumimoji="1" lang="zh-CN" altLang="en-US" dirty="0"/>
              <a:t> </a:t>
            </a:r>
            <a:r>
              <a:rPr kumimoji="1" lang="en-US" altLang="zh-CN" dirty="0"/>
              <a:t>2.5</a:t>
            </a:r>
            <a:r>
              <a:rPr kumimoji="1" lang="zh-CN" altLang="en-US" dirty="0"/>
              <a:t> </a:t>
            </a:r>
            <a:r>
              <a:rPr kumimoji="1" lang="en-US" altLang="zh-CN" dirty="0"/>
              <a:t>Pro</a:t>
            </a:r>
            <a:endParaRPr kumimoji="1" lang="zh-CN" altLang="en-US" dirty="0"/>
          </a:p>
        </p:txBody>
      </p:sp>
      <p:pic>
        <p:nvPicPr>
          <p:cNvPr id="13" name="图片 12" descr="文本&#10;&#10;AI 生成的内容可能不正确。">
            <a:extLst>
              <a:ext uri="{FF2B5EF4-FFF2-40B4-BE49-F238E27FC236}">
                <a16:creationId xmlns:a16="http://schemas.microsoft.com/office/drawing/2014/main" id="{EDDBCE89-5705-9C44-8B8D-E8B023B86E57}"/>
              </a:ext>
            </a:extLst>
          </p:cNvPr>
          <p:cNvPicPr>
            <a:picLocks noChangeAspect="1"/>
          </p:cNvPicPr>
          <p:nvPr/>
        </p:nvPicPr>
        <p:blipFill>
          <a:blip r:embed="rId4"/>
          <a:stretch>
            <a:fillRect/>
          </a:stretch>
        </p:blipFill>
        <p:spPr>
          <a:xfrm>
            <a:off x="208267" y="1254192"/>
            <a:ext cx="3046760" cy="2174808"/>
          </a:xfrm>
          <a:prstGeom prst="rect">
            <a:avLst/>
          </a:prstGeom>
        </p:spPr>
      </p:pic>
      <p:sp>
        <p:nvSpPr>
          <p:cNvPr id="14" name="文本框 13">
            <a:extLst>
              <a:ext uri="{FF2B5EF4-FFF2-40B4-BE49-F238E27FC236}">
                <a16:creationId xmlns:a16="http://schemas.microsoft.com/office/drawing/2014/main" id="{1B3B70E1-3EA1-E22E-DA20-7E3690878524}"/>
              </a:ext>
            </a:extLst>
          </p:cNvPr>
          <p:cNvSpPr txBox="1"/>
          <p:nvPr/>
        </p:nvSpPr>
        <p:spPr>
          <a:xfrm>
            <a:off x="1085316" y="741621"/>
            <a:ext cx="646331" cy="369332"/>
          </a:xfrm>
          <a:prstGeom prst="rect">
            <a:avLst/>
          </a:prstGeom>
          <a:noFill/>
        </p:spPr>
        <p:txBody>
          <a:bodyPr wrap="none" rtlCol="0">
            <a:spAutoFit/>
          </a:bodyPr>
          <a:lstStyle/>
          <a:p>
            <a:r>
              <a:rPr kumimoji="1" lang="en-US" altLang="zh-CN" dirty="0"/>
              <a:t>gpt5</a:t>
            </a:r>
            <a:endParaRPr kumimoji="1" lang="zh-CN" altLang="en-US" dirty="0"/>
          </a:p>
        </p:txBody>
      </p:sp>
      <p:sp>
        <p:nvSpPr>
          <p:cNvPr id="15" name="文本框 14">
            <a:extLst>
              <a:ext uri="{FF2B5EF4-FFF2-40B4-BE49-F238E27FC236}">
                <a16:creationId xmlns:a16="http://schemas.microsoft.com/office/drawing/2014/main" id="{BA907732-16F6-1868-E571-8B039578B5D5}"/>
              </a:ext>
            </a:extLst>
          </p:cNvPr>
          <p:cNvSpPr txBox="1"/>
          <p:nvPr/>
        </p:nvSpPr>
        <p:spPr>
          <a:xfrm>
            <a:off x="698190" y="3890554"/>
            <a:ext cx="1420582" cy="369332"/>
          </a:xfrm>
          <a:prstGeom prst="rect">
            <a:avLst/>
          </a:prstGeom>
          <a:noFill/>
        </p:spPr>
        <p:txBody>
          <a:bodyPr wrap="none" rtlCol="0">
            <a:spAutoFit/>
          </a:bodyPr>
          <a:lstStyle/>
          <a:p>
            <a:r>
              <a:rPr kumimoji="1" lang="en-US" altLang="zh-CN" dirty="0"/>
              <a:t>Qwen3-Max</a:t>
            </a:r>
            <a:endParaRPr kumimoji="1" lang="zh-CN" altLang="en-US" dirty="0"/>
          </a:p>
        </p:txBody>
      </p:sp>
      <p:sp>
        <p:nvSpPr>
          <p:cNvPr id="16" name="文本框 15">
            <a:extLst>
              <a:ext uri="{FF2B5EF4-FFF2-40B4-BE49-F238E27FC236}">
                <a16:creationId xmlns:a16="http://schemas.microsoft.com/office/drawing/2014/main" id="{CC697177-7278-DDC5-6736-A4C02210E8D5}"/>
              </a:ext>
            </a:extLst>
          </p:cNvPr>
          <p:cNvSpPr txBox="1"/>
          <p:nvPr/>
        </p:nvSpPr>
        <p:spPr>
          <a:xfrm>
            <a:off x="4529686" y="3890554"/>
            <a:ext cx="1524776" cy="369332"/>
          </a:xfrm>
          <a:prstGeom prst="rect">
            <a:avLst/>
          </a:prstGeom>
          <a:noFill/>
        </p:spPr>
        <p:txBody>
          <a:bodyPr wrap="none" rtlCol="0">
            <a:spAutoFit/>
          </a:bodyPr>
          <a:lstStyle/>
          <a:p>
            <a:r>
              <a:rPr kumimoji="1" lang="en-US" altLang="zh-CN" dirty="0"/>
              <a:t>Deepseek-R1</a:t>
            </a:r>
            <a:endParaRPr kumimoji="1" lang="zh-CN" altLang="en-US" dirty="0"/>
          </a:p>
        </p:txBody>
      </p:sp>
      <p:pic>
        <p:nvPicPr>
          <p:cNvPr id="18" name="图片 17">
            <a:extLst>
              <a:ext uri="{FF2B5EF4-FFF2-40B4-BE49-F238E27FC236}">
                <a16:creationId xmlns:a16="http://schemas.microsoft.com/office/drawing/2014/main" id="{A3B95F49-42B3-1462-1298-D6DF294F0CC5}"/>
              </a:ext>
            </a:extLst>
          </p:cNvPr>
          <p:cNvPicPr>
            <a:picLocks noChangeAspect="1"/>
          </p:cNvPicPr>
          <p:nvPr/>
        </p:nvPicPr>
        <p:blipFill>
          <a:blip r:embed="rId5"/>
          <a:stretch>
            <a:fillRect/>
          </a:stretch>
        </p:blipFill>
        <p:spPr>
          <a:xfrm>
            <a:off x="0" y="4348651"/>
            <a:ext cx="3894126" cy="2174808"/>
          </a:xfrm>
          <a:prstGeom prst="rect">
            <a:avLst/>
          </a:prstGeom>
        </p:spPr>
      </p:pic>
      <p:sp>
        <p:nvSpPr>
          <p:cNvPr id="19" name="文本框 18">
            <a:extLst>
              <a:ext uri="{FF2B5EF4-FFF2-40B4-BE49-F238E27FC236}">
                <a16:creationId xmlns:a16="http://schemas.microsoft.com/office/drawing/2014/main" id="{8F4B0169-EC18-9B2B-EC39-60379364A243}"/>
              </a:ext>
            </a:extLst>
          </p:cNvPr>
          <p:cNvSpPr txBox="1"/>
          <p:nvPr/>
        </p:nvSpPr>
        <p:spPr>
          <a:xfrm>
            <a:off x="1739314" y="767341"/>
            <a:ext cx="415498" cy="369332"/>
          </a:xfrm>
          <a:prstGeom prst="rect">
            <a:avLst/>
          </a:prstGeom>
          <a:noFill/>
        </p:spPr>
        <p:txBody>
          <a:bodyPr wrap="none" rtlCol="0">
            <a:spAutoFit/>
          </a:bodyPr>
          <a:lstStyle/>
          <a:p>
            <a:r>
              <a:rPr kumimoji="1" lang="en-US" altLang="zh-CN" dirty="0"/>
              <a:t>❌</a:t>
            </a:r>
            <a:endParaRPr kumimoji="1" lang="zh-CN" altLang="en-US" dirty="0"/>
          </a:p>
        </p:txBody>
      </p:sp>
      <p:sp>
        <p:nvSpPr>
          <p:cNvPr id="20" name="文本框 19">
            <a:extLst>
              <a:ext uri="{FF2B5EF4-FFF2-40B4-BE49-F238E27FC236}">
                <a16:creationId xmlns:a16="http://schemas.microsoft.com/office/drawing/2014/main" id="{33A9236F-3689-8479-A3D5-4DFDFCA71C21}"/>
              </a:ext>
            </a:extLst>
          </p:cNvPr>
          <p:cNvSpPr txBox="1"/>
          <p:nvPr/>
        </p:nvSpPr>
        <p:spPr>
          <a:xfrm>
            <a:off x="6112171" y="767341"/>
            <a:ext cx="415498" cy="369332"/>
          </a:xfrm>
          <a:prstGeom prst="rect">
            <a:avLst/>
          </a:prstGeom>
          <a:noFill/>
        </p:spPr>
        <p:txBody>
          <a:bodyPr wrap="none" rtlCol="0">
            <a:spAutoFit/>
          </a:bodyPr>
          <a:lstStyle/>
          <a:p>
            <a:r>
              <a:rPr kumimoji="1" lang="en-US" altLang="zh-CN" dirty="0"/>
              <a:t>❌</a:t>
            </a:r>
            <a:endParaRPr kumimoji="1" lang="zh-CN" altLang="en-US" dirty="0"/>
          </a:p>
        </p:txBody>
      </p:sp>
      <p:sp>
        <p:nvSpPr>
          <p:cNvPr id="22" name="文本框 18">
            <a:extLst>
              <a:ext uri="{FF2B5EF4-FFF2-40B4-BE49-F238E27FC236}">
                <a16:creationId xmlns:a16="http://schemas.microsoft.com/office/drawing/2014/main" id="{8F4B0169-EC18-9B2B-EC39-60379364A243}"/>
              </a:ext>
            </a:extLst>
          </p:cNvPr>
          <p:cNvSpPr txBox="1"/>
          <p:nvPr/>
        </p:nvSpPr>
        <p:spPr>
          <a:xfrm>
            <a:off x="2118772" y="3890554"/>
            <a:ext cx="41549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a:t>
            </a:r>
            <a:endParaRPr kumimoji="1" lang="zh-CN" altLang="en-US" dirty="0"/>
          </a:p>
        </p:txBody>
      </p:sp>
      <p:sp>
        <p:nvSpPr>
          <p:cNvPr id="23" name="文本框 18">
            <a:extLst>
              <a:ext uri="{FF2B5EF4-FFF2-40B4-BE49-F238E27FC236}">
                <a16:creationId xmlns:a16="http://schemas.microsoft.com/office/drawing/2014/main" id="{8F4B0169-EC18-9B2B-EC39-60379364A243}"/>
              </a:ext>
            </a:extLst>
          </p:cNvPr>
          <p:cNvSpPr txBox="1"/>
          <p:nvPr/>
        </p:nvSpPr>
        <p:spPr>
          <a:xfrm>
            <a:off x="6054462" y="3890554"/>
            <a:ext cx="41549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a:t>
            </a:r>
            <a:endParaRPr kumimoji="1" lang="zh-CN" altLang="en-US" dirty="0"/>
          </a:p>
        </p:txBody>
      </p:sp>
      <p:pic>
        <p:nvPicPr>
          <p:cNvPr id="25" name="图片 24">
            <a:extLst>
              <a:ext uri="{FF2B5EF4-FFF2-40B4-BE49-F238E27FC236}">
                <a16:creationId xmlns:a16="http://schemas.microsoft.com/office/drawing/2014/main" id="{8D5301C2-5DC5-55C3-21A3-7C97EFF914FD}"/>
              </a:ext>
            </a:extLst>
          </p:cNvPr>
          <p:cNvPicPr>
            <a:picLocks noChangeAspect="1"/>
          </p:cNvPicPr>
          <p:nvPr/>
        </p:nvPicPr>
        <p:blipFill>
          <a:blip r:embed="rId6"/>
          <a:srcRect r="21163"/>
          <a:stretch>
            <a:fillRect/>
          </a:stretch>
        </p:blipFill>
        <p:spPr>
          <a:xfrm>
            <a:off x="3894126" y="4721440"/>
            <a:ext cx="3894127" cy="1493053"/>
          </a:xfrm>
          <a:prstGeom prst="rect">
            <a:avLst/>
          </a:prstGeom>
        </p:spPr>
      </p:pic>
      <p:sp>
        <p:nvSpPr>
          <p:cNvPr id="26" name="文本框 25">
            <a:extLst>
              <a:ext uri="{FF2B5EF4-FFF2-40B4-BE49-F238E27FC236}">
                <a16:creationId xmlns:a16="http://schemas.microsoft.com/office/drawing/2014/main" id="{A9A558E1-8DA0-BA41-D640-CD971E6B0225}"/>
              </a:ext>
            </a:extLst>
          </p:cNvPr>
          <p:cNvSpPr txBox="1"/>
          <p:nvPr/>
        </p:nvSpPr>
        <p:spPr>
          <a:xfrm>
            <a:off x="9289279" y="741621"/>
            <a:ext cx="845103" cy="369332"/>
          </a:xfrm>
          <a:prstGeom prst="rect">
            <a:avLst/>
          </a:prstGeom>
          <a:noFill/>
        </p:spPr>
        <p:txBody>
          <a:bodyPr wrap="none" rtlCol="0">
            <a:spAutoFit/>
          </a:bodyPr>
          <a:lstStyle/>
          <a:p>
            <a:r>
              <a:rPr kumimoji="1" lang="en-US" altLang="zh-CN" dirty="0"/>
              <a:t>Grok 4</a:t>
            </a:r>
            <a:endParaRPr kumimoji="1" lang="zh-CN" altLang="en-US" dirty="0"/>
          </a:p>
        </p:txBody>
      </p:sp>
      <p:pic>
        <p:nvPicPr>
          <p:cNvPr id="28" name="图片 27" descr="文本&#10;&#10;AI 生成的内容可能不正确。">
            <a:extLst>
              <a:ext uri="{FF2B5EF4-FFF2-40B4-BE49-F238E27FC236}">
                <a16:creationId xmlns:a16="http://schemas.microsoft.com/office/drawing/2014/main" id="{54B9C3A9-5B37-45E9-D575-2F5CB3A7BD23}"/>
              </a:ext>
            </a:extLst>
          </p:cNvPr>
          <p:cNvPicPr>
            <a:picLocks noChangeAspect="1"/>
          </p:cNvPicPr>
          <p:nvPr/>
        </p:nvPicPr>
        <p:blipFill>
          <a:blip r:embed="rId7"/>
          <a:stretch>
            <a:fillRect/>
          </a:stretch>
        </p:blipFill>
        <p:spPr>
          <a:xfrm>
            <a:off x="6953870" y="1359742"/>
            <a:ext cx="5238130" cy="2221846"/>
          </a:xfrm>
          <a:prstGeom prst="rect">
            <a:avLst/>
          </a:prstGeom>
        </p:spPr>
      </p:pic>
      <p:sp>
        <p:nvSpPr>
          <p:cNvPr id="29" name="文本框 18">
            <a:extLst>
              <a:ext uri="{FF2B5EF4-FFF2-40B4-BE49-F238E27FC236}">
                <a16:creationId xmlns:a16="http://schemas.microsoft.com/office/drawing/2014/main" id="{9FB0DFB2-8BF4-5DE9-64FF-3C83E51381FF}"/>
              </a:ext>
            </a:extLst>
          </p:cNvPr>
          <p:cNvSpPr txBox="1"/>
          <p:nvPr/>
        </p:nvSpPr>
        <p:spPr>
          <a:xfrm>
            <a:off x="10087822" y="767341"/>
            <a:ext cx="41549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a:t>
            </a:r>
            <a:endParaRPr kumimoji="1" lang="zh-CN" altLang="en-US" dirty="0"/>
          </a:p>
        </p:txBody>
      </p:sp>
      <p:sp>
        <p:nvSpPr>
          <p:cNvPr id="30" name="文本框 29">
            <a:extLst>
              <a:ext uri="{FF2B5EF4-FFF2-40B4-BE49-F238E27FC236}">
                <a16:creationId xmlns:a16="http://schemas.microsoft.com/office/drawing/2014/main" id="{4FF508AD-9890-E1EF-6C2A-EB9DB0A3F60E}"/>
              </a:ext>
            </a:extLst>
          </p:cNvPr>
          <p:cNvSpPr txBox="1"/>
          <p:nvPr/>
        </p:nvSpPr>
        <p:spPr>
          <a:xfrm>
            <a:off x="8852502" y="428192"/>
            <a:ext cx="1800493" cy="369332"/>
          </a:xfrm>
          <a:prstGeom prst="rect">
            <a:avLst/>
          </a:prstGeom>
          <a:noFill/>
        </p:spPr>
        <p:txBody>
          <a:bodyPr wrap="none" rtlCol="0">
            <a:spAutoFit/>
          </a:bodyPr>
          <a:lstStyle/>
          <a:p>
            <a:r>
              <a:rPr kumimoji="1" lang="zh-CN" altLang="en-US" dirty="0"/>
              <a:t>使用了外部知识</a:t>
            </a:r>
          </a:p>
        </p:txBody>
      </p:sp>
      <p:sp>
        <p:nvSpPr>
          <p:cNvPr id="31" name="文本框 18">
            <a:extLst>
              <a:ext uri="{FF2B5EF4-FFF2-40B4-BE49-F238E27FC236}">
                <a16:creationId xmlns:a16="http://schemas.microsoft.com/office/drawing/2014/main" id="{69619B47-D765-AD3B-E109-0AD27A1F7128}"/>
              </a:ext>
            </a:extLst>
          </p:cNvPr>
          <p:cNvSpPr txBox="1"/>
          <p:nvPr/>
        </p:nvSpPr>
        <p:spPr>
          <a:xfrm>
            <a:off x="10134382" y="3932159"/>
            <a:ext cx="41549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a:t>
            </a:r>
            <a:endParaRPr kumimoji="1" lang="zh-CN" altLang="en-US" dirty="0"/>
          </a:p>
        </p:txBody>
      </p:sp>
      <p:sp>
        <p:nvSpPr>
          <p:cNvPr id="33" name="文本框 18">
            <a:extLst>
              <a:ext uri="{FF2B5EF4-FFF2-40B4-BE49-F238E27FC236}">
                <a16:creationId xmlns:a16="http://schemas.microsoft.com/office/drawing/2014/main" id="{B6B9F067-F07A-49DC-0E26-A3698B6EE2A3}"/>
              </a:ext>
            </a:extLst>
          </p:cNvPr>
          <p:cNvSpPr txBox="1"/>
          <p:nvPr/>
        </p:nvSpPr>
        <p:spPr>
          <a:xfrm>
            <a:off x="10370409" y="757961"/>
            <a:ext cx="41549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a:t>
            </a:r>
            <a:endParaRPr kumimoji="1" lang="zh-CN" altLang="en-US" dirty="0"/>
          </a:p>
        </p:txBody>
      </p:sp>
    </p:spTree>
    <p:extLst>
      <p:ext uri="{BB962C8B-B14F-4D97-AF65-F5344CB8AC3E}">
        <p14:creationId xmlns:p14="http://schemas.microsoft.com/office/powerpoint/2010/main" val="581737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B03DD-755B-5B94-7220-AA795267679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2A4D0AF-80C3-00A6-1FDB-B8FC4574C1EE}"/>
              </a:ext>
            </a:extLst>
          </p:cNvPr>
          <p:cNvSpPr>
            <a:spLocks noGrp="1"/>
          </p:cNvSpPr>
          <p:nvPr>
            <p:ph type="title"/>
          </p:nvPr>
        </p:nvSpPr>
        <p:spPr>
          <a:xfrm>
            <a:off x="897467" y="0"/>
            <a:ext cx="10515600" cy="1325563"/>
          </a:xfrm>
        </p:spPr>
        <p:txBody>
          <a:bodyPr/>
          <a:lstStyle/>
          <a:p>
            <a:r>
              <a:rPr kumimoji="1" lang="en-US" altLang="zh-CN" dirty="0"/>
              <a:t>Problem</a:t>
            </a:r>
            <a:r>
              <a:rPr kumimoji="1" lang="zh-CN" altLang="en-US" dirty="0"/>
              <a:t> </a:t>
            </a:r>
            <a:r>
              <a:rPr kumimoji="1" lang="en-US" altLang="zh-CN" dirty="0"/>
              <a:t>&amp;</a:t>
            </a:r>
            <a:r>
              <a:rPr kumimoji="1" lang="zh-CN" altLang="en-US" dirty="0"/>
              <a:t> </a:t>
            </a:r>
            <a:r>
              <a:rPr kumimoji="1" lang="en-US" altLang="zh-CN" dirty="0"/>
              <a:t>Core</a:t>
            </a:r>
            <a:r>
              <a:rPr kumimoji="1" lang="zh-CN" altLang="en-US" dirty="0"/>
              <a:t> </a:t>
            </a:r>
            <a:r>
              <a:rPr kumimoji="1" lang="en-US" altLang="zh-CN" dirty="0"/>
              <a:t>Bottleneck</a:t>
            </a:r>
            <a:endParaRPr kumimoji="1" lang="zh-CN" altLang="en-US" dirty="0"/>
          </a:p>
        </p:txBody>
      </p:sp>
      <p:sp>
        <p:nvSpPr>
          <p:cNvPr id="3" name="内容占位符 2">
            <a:extLst>
              <a:ext uri="{FF2B5EF4-FFF2-40B4-BE49-F238E27FC236}">
                <a16:creationId xmlns:a16="http://schemas.microsoft.com/office/drawing/2014/main" id="{E27B10FF-018E-C7E3-A88D-A4FC6B1613DF}"/>
              </a:ext>
            </a:extLst>
          </p:cNvPr>
          <p:cNvSpPr>
            <a:spLocks noGrp="1"/>
          </p:cNvSpPr>
          <p:nvPr>
            <p:ph idx="1"/>
          </p:nvPr>
        </p:nvSpPr>
        <p:spPr>
          <a:xfrm>
            <a:off x="838200" y="1016001"/>
            <a:ext cx="10515600" cy="5841999"/>
          </a:xfrm>
        </p:spPr>
        <p:txBody>
          <a:bodyPr>
            <a:normAutofit/>
          </a:bodyPr>
          <a:lstStyle/>
          <a:p>
            <a:pPr marL="0" indent="0">
              <a:buNone/>
            </a:pPr>
            <a:r>
              <a:rPr lang="en-US" altLang="zh-CN" sz="1800" b="1" dirty="0"/>
              <a:t>1.</a:t>
            </a:r>
            <a:r>
              <a:rPr lang="zh-CN" altLang="en-US" sz="1800" b="1" dirty="0"/>
              <a:t> 单个模型推理瓶颈</a:t>
            </a:r>
            <a:r>
              <a:rPr lang="en-US" altLang="zh-CN" sz="1800" b="1" dirty="0"/>
              <a:t>——</a:t>
            </a:r>
            <a:r>
              <a:rPr lang="zh-CN" altLang="en-US" sz="1800" b="1" dirty="0"/>
              <a:t>注意力衰减</a:t>
            </a:r>
            <a:endParaRPr lang="en-US" altLang="zh-CN" sz="1800" b="1" dirty="0"/>
          </a:p>
          <a:p>
            <a:r>
              <a:rPr lang="zh-CN" altLang="en-US" sz="1800" dirty="0"/>
              <a:t>定义：在多跳推理中，模型需长期维持主逻辑目标。但模型注意力分布在多轮检索、生成后会逐渐稀释，会受到多个子问题，子检索的干扰，导致模型“</a:t>
            </a:r>
            <a:r>
              <a:rPr lang="zh-CN" altLang="en-US" sz="1800" b="1" dirty="0"/>
              <a:t>忘记问题核心</a:t>
            </a:r>
            <a:r>
              <a:rPr lang="zh-CN" altLang="en-US" sz="1800" dirty="0"/>
              <a:t>”。</a:t>
            </a:r>
            <a:endParaRPr lang="en-US" altLang="zh-CN" sz="1800" b="1" dirty="0"/>
          </a:p>
          <a:p>
            <a:r>
              <a:rPr lang="en-US" altLang="zh-CN" sz="1800" dirty="0"/>
              <a:t>LLM-based QA </a:t>
            </a:r>
            <a:r>
              <a:rPr lang="zh-CN" altLang="en-US" sz="1800" dirty="0"/>
              <a:t>模型存在“</a:t>
            </a:r>
            <a:r>
              <a:rPr lang="en-US" altLang="zh-CN" sz="1800" dirty="0"/>
              <a:t>topic drift”</a:t>
            </a:r>
            <a:r>
              <a:rPr lang="zh-CN" altLang="en-US" sz="1800" dirty="0"/>
              <a:t>，模型注意力对原始 </a:t>
            </a:r>
            <a:r>
              <a:rPr lang="en-US" altLang="zh-CN" sz="1800" dirty="0"/>
              <a:t>query </a:t>
            </a:r>
            <a:r>
              <a:rPr lang="zh-CN" altLang="en-US" sz="1800" dirty="0"/>
              <a:t>权重逐跳降低。</a:t>
            </a:r>
            <a:r>
              <a:rPr lang="en-US" altLang="zh-CN" sz="1800" i="1" dirty="0"/>
              <a:t> </a:t>
            </a:r>
          </a:p>
          <a:p>
            <a:pPr marL="0" indent="0" algn="r">
              <a:buNone/>
            </a:pPr>
            <a:r>
              <a:rPr lang="en-US" altLang="zh-CN" sz="1800" i="1" dirty="0"/>
              <a:t>-Yasunaga et al., </a:t>
            </a:r>
            <a:r>
              <a:rPr lang="en-US" altLang="zh-CN" sz="1800" i="1" dirty="0" err="1"/>
              <a:t>NeurIPS</a:t>
            </a:r>
            <a:r>
              <a:rPr lang="en-US" altLang="zh-CN" sz="1800" i="1" dirty="0"/>
              <a:t> 2021 (QAGNN)</a:t>
            </a:r>
            <a:r>
              <a:rPr lang="zh-CN" altLang="en-US" sz="1800" dirty="0"/>
              <a:t> </a:t>
            </a:r>
          </a:p>
          <a:p>
            <a:r>
              <a:rPr lang="zh-CN" altLang="en-US" sz="1800" dirty="0"/>
              <a:t>注意力分布在多跳后趋向随机化，模型无法在最后一步聚焦主问题。</a:t>
            </a:r>
            <a:endParaRPr lang="en-US" altLang="zh-CN" sz="1800" dirty="0"/>
          </a:p>
          <a:p>
            <a:pPr marL="0" indent="0" algn="r">
              <a:buNone/>
            </a:pPr>
            <a:r>
              <a:rPr lang="en-US" altLang="zh-CN" sz="1800" i="1" dirty="0"/>
              <a:t>-</a:t>
            </a:r>
            <a:r>
              <a:rPr lang="zh-CN" altLang="en-US" sz="1800" i="1" dirty="0"/>
              <a:t> </a:t>
            </a:r>
            <a:r>
              <a:rPr lang="en-US" altLang="zh-CN" sz="1800" i="1" dirty="0"/>
              <a:t>Dhingra et al., ICLR 2020 (HotpotQA analysis)</a:t>
            </a:r>
            <a:endParaRPr lang="zh-CN" altLang="en-US" sz="1800" dirty="0"/>
          </a:p>
          <a:p>
            <a:pPr marL="0" indent="0">
              <a:buNone/>
            </a:pPr>
            <a:r>
              <a:rPr kumimoji="1" lang="en-US" altLang="zh-CN" sz="1800" b="1" dirty="0"/>
              <a:t>2.</a:t>
            </a:r>
            <a:r>
              <a:rPr kumimoji="1" lang="zh-CN" altLang="en-US" sz="1800" b="1" dirty="0"/>
              <a:t> 逻辑空间坍缩</a:t>
            </a:r>
            <a:endParaRPr kumimoji="1" lang="en-US" altLang="zh-CN" sz="1800" b="1" dirty="0"/>
          </a:p>
          <a:p>
            <a:r>
              <a:rPr lang="zh-CN" altLang="en-US" sz="1800" dirty="0"/>
              <a:t>定义：多跳本应探索多种路径，但在训练或推理时，模型</a:t>
            </a:r>
            <a:r>
              <a:rPr lang="zh-CN" altLang="en-US" sz="1800" b="1" dirty="0"/>
              <a:t>只沿单一确定性链路前进</a:t>
            </a:r>
            <a:r>
              <a:rPr lang="zh-CN" altLang="en-US" sz="1800" dirty="0"/>
              <a:t>，丧失多样性探索。这会导致早期错误被持续放大。</a:t>
            </a:r>
            <a:endParaRPr kumimoji="1" lang="en-US" altLang="zh-CN" sz="1800" b="1" dirty="0"/>
          </a:p>
          <a:p>
            <a:r>
              <a:rPr lang="zh-CN" altLang="en-US" sz="1800" dirty="0"/>
              <a:t>多跳时注意力分布集中在单一路径，导致忽略更多的可选择路径。</a:t>
            </a:r>
            <a:r>
              <a:rPr lang="en-US" altLang="zh-CN" sz="1800" i="1" dirty="0"/>
              <a:t> </a:t>
            </a:r>
          </a:p>
          <a:p>
            <a:pPr marL="0" indent="0" algn="r">
              <a:buNone/>
            </a:pPr>
            <a:r>
              <a:rPr lang="en-US" altLang="zh-CN" sz="1800" i="1" dirty="0"/>
              <a:t>-Yang et al., ACL 2023 (“Multi-hop </a:t>
            </a:r>
            <a:r>
              <a:rPr lang="en-US" altLang="zh-CN" sz="1800" i="1" dirty="0" err="1"/>
              <a:t>CoT</a:t>
            </a:r>
            <a:r>
              <a:rPr lang="en-US" altLang="zh-CN" sz="1800" i="1" dirty="0"/>
              <a:t>”)</a:t>
            </a:r>
            <a:endParaRPr lang="zh-CN" altLang="en-US" sz="1800" dirty="0"/>
          </a:p>
          <a:p>
            <a:r>
              <a:rPr lang="zh-CN" altLang="en-US" sz="1800" dirty="0"/>
              <a:t>按照思考链路生成子问题是单线性的，缺乏路径扩充（</a:t>
            </a:r>
            <a:r>
              <a:rPr lang="en-US" altLang="zh-CN" sz="1800" dirty="0"/>
              <a:t>branch exploration</a:t>
            </a:r>
            <a:r>
              <a:rPr lang="zh-CN" altLang="en-US" sz="1800" dirty="0"/>
              <a:t>）。</a:t>
            </a:r>
            <a:r>
              <a:rPr lang="en-US" altLang="zh-CN" sz="1800" i="1" dirty="0"/>
              <a:t> </a:t>
            </a:r>
          </a:p>
          <a:p>
            <a:pPr marL="0" indent="0" algn="r">
              <a:buNone/>
            </a:pPr>
            <a:r>
              <a:rPr lang="en-US" altLang="zh-CN" sz="1800" i="1" dirty="0"/>
              <a:t>-</a:t>
            </a:r>
            <a:r>
              <a:rPr lang="zh-CN" altLang="en-US" sz="1800" i="1" dirty="0"/>
              <a:t> </a:t>
            </a:r>
            <a:r>
              <a:rPr lang="en-US" altLang="zh-CN" sz="1800" i="1" dirty="0"/>
              <a:t>Wei et al., ICLR 2022 (</a:t>
            </a:r>
            <a:r>
              <a:rPr lang="en-US" altLang="zh-CN" sz="1800" i="1" dirty="0" err="1"/>
              <a:t>CoT</a:t>
            </a:r>
            <a:r>
              <a:rPr lang="en-US" altLang="zh-CN" sz="1800" i="1" dirty="0"/>
              <a:t> Limitations)</a:t>
            </a:r>
            <a:endParaRPr lang="zh-CN" altLang="en-US" sz="1800" dirty="0"/>
          </a:p>
          <a:p>
            <a:r>
              <a:rPr lang="zh-CN" altLang="en-US" sz="1800" dirty="0"/>
              <a:t>错误在多跳链路上呈指数放大。</a:t>
            </a:r>
            <a:endParaRPr lang="en-US" altLang="zh-CN" sz="1800" dirty="0"/>
          </a:p>
          <a:p>
            <a:pPr marL="0" indent="0" algn="r">
              <a:buNone/>
            </a:pPr>
            <a:r>
              <a:rPr lang="en-US" altLang="zh-CN" sz="1800" dirty="0"/>
              <a:t>-</a:t>
            </a:r>
            <a:r>
              <a:rPr lang="zh-CN" altLang="en-US" sz="1800" dirty="0"/>
              <a:t> </a:t>
            </a:r>
            <a:r>
              <a:rPr lang="en-US" altLang="zh-CN" sz="1800" i="1" dirty="0"/>
              <a:t>Xie et al., ACL 2022 (Path-based QA Analysis)</a:t>
            </a:r>
            <a:endParaRPr kumimoji="1" lang="en-US" altLang="zh-CN" sz="1800" b="1" dirty="0"/>
          </a:p>
          <a:p>
            <a:pPr marL="0" indent="0">
              <a:buNone/>
            </a:pPr>
            <a:endParaRPr kumimoji="1" lang="en-US" altLang="zh-CN" sz="1800" dirty="0"/>
          </a:p>
          <a:p>
            <a:pPr marL="0" indent="0">
              <a:buNone/>
            </a:pPr>
            <a:endParaRPr kumimoji="1" lang="en-US" altLang="zh-CN" sz="1800" dirty="0"/>
          </a:p>
        </p:txBody>
      </p:sp>
    </p:spTree>
    <p:extLst>
      <p:ext uri="{BB962C8B-B14F-4D97-AF65-F5344CB8AC3E}">
        <p14:creationId xmlns:p14="http://schemas.microsoft.com/office/powerpoint/2010/main" val="186855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341D9-1DAB-BB60-0BDD-132755CF4330}"/>
            </a:ext>
          </a:extLst>
        </p:cNvPr>
        <p:cNvGrpSpPr/>
        <p:nvPr/>
      </p:nvGrpSpPr>
      <p:grpSpPr>
        <a:xfrm>
          <a:off x="0" y="0"/>
          <a:ext cx="0" cy="0"/>
          <a:chOff x="0" y="0"/>
          <a:chExt cx="0" cy="0"/>
        </a:xfrm>
      </p:grpSpPr>
      <p:pic>
        <p:nvPicPr>
          <p:cNvPr id="8" name="图片 7" descr="文本&#10;&#10;AI 生成的内容可能不正确。">
            <a:extLst>
              <a:ext uri="{FF2B5EF4-FFF2-40B4-BE49-F238E27FC236}">
                <a16:creationId xmlns:a16="http://schemas.microsoft.com/office/drawing/2014/main" id="{3A8F7FB8-4EB6-4944-552C-7D64F5AB0955}"/>
              </a:ext>
            </a:extLst>
          </p:cNvPr>
          <p:cNvPicPr>
            <a:picLocks noChangeAspect="1"/>
          </p:cNvPicPr>
          <p:nvPr/>
        </p:nvPicPr>
        <p:blipFill>
          <a:blip r:embed="rId2"/>
          <a:stretch>
            <a:fillRect/>
          </a:stretch>
        </p:blipFill>
        <p:spPr>
          <a:xfrm>
            <a:off x="838200" y="1751499"/>
            <a:ext cx="7772400" cy="1775813"/>
          </a:xfrm>
          <a:prstGeom prst="rect">
            <a:avLst/>
          </a:prstGeom>
        </p:spPr>
      </p:pic>
      <p:sp>
        <p:nvSpPr>
          <p:cNvPr id="2" name="标题 1">
            <a:extLst>
              <a:ext uri="{FF2B5EF4-FFF2-40B4-BE49-F238E27FC236}">
                <a16:creationId xmlns:a16="http://schemas.microsoft.com/office/drawing/2014/main" id="{BA1AE30E-EF37-3972-0FDC-1408F4E86A35}"/>
              </a:ext>
            </a:extLst>
          </p:cNvPr>
          <p:cNvSpPr>
            <a:spLocks noGrp="1"/>
          </p:cNvSpPr>
          <p:nvPr>
            <p:ph type="title"/>
          </p:nvPr>
        </p:nvSpPr>
        <p:spPr>
          <a:xfrm>
            <a:off x="897467" y="0"/>
            <a:ext cx="10515600" cy="1325563"/>
          </a:xfrm>
        </p:spPr>
        <p:txBody>
          <a:bodyPr/>
          <a:lstStyle/>
          <a:p>
            <a:r>
              <a:rPr kumimoji="1" lang="en-US" altLang="zh-CN" dirty="0"/>
              <a:t>Problem</a:t>
            </a:r>
            <a:r>
              <a:rPr kumimoji="1" lang="zh-CN" altLang="en-US" dirty="0"/>
              <a:t> </a:t>
            </a:r>
            <a:r>
              <a:rPr kumimoji="1" lang="en-US" altLang="zh-CN" dirty="0"/>
              <a:t>&amp;</a:t>
            </a:r>
            <a:r>
              <a:rPr kumimoji="1" lang="zh-CN" altLang="en-US" dirty="0"/>
              <a:t> </a:t>
            </a:r>
            <a:r>
              <a:rPr kumimoji="1" lang="en-US" altLang="zh-CN" dirty="0"/>
              <a:t>Core</a:t>
            </a:r>
            <a:r>
              <a:rPr kumimoji="1" lang="zh-CN" altLang="en-US" dirty="0"/>
              <a:t> </a:t>
            </a:r>
            <a:r>
              <a:rPr kumimoji="1" lang="en-US" altLang="zh-CN" dirty="0"/>
              <a:t>Bottleneck</a:t>
            </a:r>
            <a:r>
              <a:rPr kumimoji="1" lang="zh-CN" altLang="en-US" dirty="0"/>
              <a:t> </a:t>
            </a:r>
            <a:r>
              <a:rPr kumimoji="1" lang="en-US" altLang="zh-CN" dirty="0"/>
              <a:t>Examples</a:t>
            </a:r>
            <a:endParaRPr kumimoji="1" lang="zh-CN" altLang="en-US" dirty="0"/>
          </a:p>
        </p:txBody>
      </p:sp>
      <p:sp>
        <p:nvSpPr>
          <p:cNvPr id="3" name="内容占位符 2">
            <a:extLst>
              <a:ext uri="{FF2B5EF4-FFF2-40B4-BE49-F238E27FC236}">
                <a16:creationId xmlns:a16="http://schemas.microsoft.com/office/drawing/2014/main" id="{FD3AC3F9-5774-31CB-55C4-95E33CEB72A7}"/>
              </a:ext>
            </a:extLst>
          </p:cNvPr>
          <p:cNvSpPr>
            <a:spLocks noGrp="1"/>
          </p:cNvSpPr>
          <p:nvPr>
            <p:ph idx="1"/>
          </p:nvPr>
        </p:nvSpPr>
        <p:spPr>
          <a:xfrm>
            <a:off x="838200" y="1016001"/>
            <a:ext cx="10515600" cy="5841999"/>
          </a:xfrm>
        </p:spPr>
        <p:txBody>
          <a:bodyPr>
            <a:normAutofit/>
          </a:bodyPr>
          <a:lstStyle/>
          <a:p>
            <a:pPr marL="342900" indent="-342900">
              <a:buAutoNum type="arabicPeriod"/>
            </a:pPr>
            <a:r>
              <a:rPr lang="zh-CN" altLang="en-US" sz="1800" b="1" dirty="0"/>
              <a:t>单个模型推理瓶颈</a:t>
            </a:r>
            <a:r>
              <a:rPr lang="en-US" altLang="zh-CN" sz="1800" b="1" dirty="0"/>
              <a:t>——</a:t>
            </a:r>
            <a:r>
              <a:rPr lang="zh-CN" altLang="en-US" sz="1800" b="1" dirty="0"/>
              <a:t>注意力衰减</a:t>
            </a:r>
            <a:endParaRPr lang="en-US" altLang="zh-CN" sz="1800" b="1" dirty="0"/>
          </a:p>
          <a:p>
            <a:pPr marL="0" indent="0">
              <a:buNone/>
            </a:pPr>
            <a:r>
              <a:rPr lang="zh-CN" altLang="en-US" sz="1800" b="1" dirty="0">
                <a:solidFill>
                  <a:srgbClr val="FF0000"/>
                </a:solidFill>
              </a:rPr>
              <a:t>越往后越不知道自己原来想要干什么，加上大模型的幻觉，会逐渐偏离核心主问题。</a:t>
            </a:r>
            <a:endParaRPr lang="en-US" altLang="zh-CN" sz="1800" b="1" dirty="0">
              <a:solidFill>
                <a:srgbClr val="FF0000"/>
              </a:solidFill>
            </a:endParaRPr>
          </a:p>
          <a:p>
            <a:pPr marL="0" indent="0">
              <a:buNone/>
            </a:pPr>
            <a:endParaRPr lang="en-US" altLang="zh-CN" sz="1800" b="1" dirty="0"/>
          </a:p>
          <a:p>
            <a:pPr marL="0" indent="0">
              <a:buNone/>
            </a:pPr>
            <a:endParaRPr lang="en-US" altLang="zh-CN" sz="1800" b="1" dirty="0"/>
          </a:p>
          <a:p>
            <a:pPr marL="0" indent="0">
              <a:buNone/>
            </a:pPr>
            <a:endParaRPr lang="en-US" altLang="zh-CN" sz="1800" b="1" dirty="0"/>
          </a:p>
          <a:p>
            <a:pPr marL="0" indent="0">
              <a:buNone/>
            </a:pPr>
            <a:endParaRPr lang="en-US" altLang="zh-CN" sz="1800" b="1" dirty="0"/>
          </a:p>
          <a:p>
            <a:pPr marL="0" indent="0">
              <a:buNone/>
            </a:pPr>
            <a:endParaRPr lang="en-US" altLang="zh-CN" sz="1800" b="1" dirty="0"/>
          </a:p>
          <a:p>
            <a:pPr marL="0" indent="0">
              <a:buNone/>
            </a:pPr>
            <a:r>
              <a:rPr kumimoji="1" lang="en-US" altLang="zh-CN" sz="1800" b="1" dirty="0"/>
              <a:t>2.</a:t>
            </a:r>
            <a:r>
              <a:rPr kumimoji="1" lang="zh-CN" altLang="en-US" sz="1800" b="1" dirty="0"/>
              <a:t> 逻辑空间坍缩</a:t>
            </a:r>
            <a:r>
              <a:rPr kumimoji="1" lang="en-US" altLang="zh-CN" sz="1800" b="1" dirty="0"/>
              <a:t>——</a:t>
            </a:r>
            <a:r>
              <a:rPr kumimoji="1" lang="zh-CN" altLang="en-US" sz="1800" b="1" dirty="0"/>
              <a:t>路径过早收敛，推理路径单一</a:t>
            </a:r>
            <a:endParaRPr kumimoji="1" lang="en-US" altLang="zh-CN" sz="1800" b="1" dirty="0"/>
          </a:p>
          <a:p>
            <a:pPr marL="0" indent="0">
              <a:buNone/>
            </a:pPr>
            <a:r>
              <a:rPr kumimoji="1" lang="zh-CN" altLang="en-US" sz="1800" b="1" dirty="0">
                <a:solidFill>
                  <a:srgbClr val="FF0000"/>
                </a:solidFill>
              </a:rPr>
              <a:t>在错误的路上越走越远</a:t>
            </a:r>
            <a:endParaRPr kumimoji="1" lang="en-US" altLang="zh-CN" sz="1800" b="1" dirty="0"/>
          </a:p>
          <a:p>
            <a:pPr marL="0" indent="0">
              <a:buNone/>
            </a:pPr>
            <a:endParaRPr kumimoji="1" lang="en-US" altLang="zh-CN" sz="1800" dirty="0"/>
          </a:p>
          <a:p>
            <a:pPr marL="0" indent="0">
              <a:buNone/>
            </a:pPr>
            <a:endParaRPr kumimoji="1" lang="en-US" altLang="zh-CN" sz="1800" dirty="0"/>
          </a:p>
        </p:txBody>
      </p:sp>
      <p:sp>
        <p:nvSpPr>
          <p:cNvPr id="5" name="文本框 4">
            <a:extLst>
              <a:ext uri="{FF2B5EF4-FFF2-40B4-BE49-F238E27FC236}">
                <a16:creationId xmlns:a16="http://schemas.microsoft.com/office/drawing/2014/main" id="{E94D49A7-6DD0-E7B5-A827-C7425975067D}"/>
              </a:ext>
            </a:extLst>
          </p:cNvPr>
          <p:cNvSpPr txBox="1"/>
          <p:nvPr/>
        </p:nvSpPr>
        <p:spPr>
          <a:xfrm>
            <a:off x="4140200" y="3073514"/>
            <a:ext cx="3877985" cy="369332"/>
          </a:xfrm>
          <a:prstGeom prst="rect">
            <a:avLst/>
          </a:prstGeom>
          <a:noFill/>
        </p:spPr>
        <p:txBody>
          <a:bodyPr wrap="none" rtlCol="0">
            <a:spAutoFit/>
          </a:bodyPr>
          <a:lstStyle/>
          <a:p>
            <a:r>
              <a:rPr kumimoji="1" lang="zh-CN" altLang="en-US" dirty="0">
                <a:solidFill>
                  <a:srgbClr val="FF0000"/>
                </a:solidFill>
              </a:rPr>
              <a:t>越干越不知道最初问题需要解决什么</a:t>
            </a:r>
          </a:p>
        </p:txBody>
      </p:sp>
      <p:cxnSp>
        <p:nvCxnSpPr>
          <p:cNvPr id="10" name="直线连接符 9">
            <a:extLst>
              <a:ext uri="{FF2B5EF4-FFF2-40B4-BE49-F238E27FC236}">
                <a16:creationId xmlns:a16="http://schemas.microsoft.com/office/drawing/2014/main" id="{F302EE29-416B-0706-B3F3-219CBBE6186F}"/>
              </a:ext>
            </a:extLst>
          </p:cNvPr>
          <p:cNvCxnSpPr/>
          <p:nvPr/>
        </p:nvCxnSpPr>
        <p:spPr>
          <a:xfrm>
            <a:off x="982133" y="3276600"/>
            <a:ext cx="3158067" cy="0"/>
          </a:xfrm>
          <a:prstGeom prst="line">
            <a:avLst/>
          </a:prstGeom>
          <a:ln w="44450">
            <a:solidFill>
              <a:srgbClr val="FF0000"/>
            </a:solidFill>
          </a:ln>
        </p:spPr>
        <p:style>
          <a:lnRef idx="2">
            <a:schemeClr val="accent1"/>
          </a:lnRef>
          <a:fillRef idx="0">
            <a:schemeClr val="accent1"/>
          </a:fillRef>
          <a:effectRef idx="1">
            <a:schemeClr val="accent1"/>
          </a:effectRef>
          <a:fontRef idx="minor">
            <a:schemeClr val="tx1"/>
          </a:fontRef>
        </p:style>
      </p:cxnSp>
      <p:pic>
        <p:nvPicPr>
          <p:cNvPr id="12" name="图片 11">
            <a:extLst>
              <a:ext uri="{FF2B5EF4-FFF2-40B4-BE49-F238E27FC236}">
                <a16:creationId xmlns:a16="http://schemas.microsoft.com/office/drawing/2014/main" id="{B4E7C066-45D6-657C-A43D-3B82230F2E91}"/>
              </a:ext>
            </a:extLst>
          </p:cNvPr>
          <p:cNvPicPr>
            <a:picLocks noChangeAspect="1"/>
          </p:cNvPicPr>
          <p:nvPr/>
        </p:nvPicPr>
        <p:blipFill>
          <a:blip r:embed="rId3"/>
          <a:stretch>
            <a:fillRect/>
          </a:stretch>
        </p:blipFill>
        <p:spPr>
          <a:xfrm>
            <a:off x="838200" y="4377108"/>
            <a:ext cx="9958962" cy="2152783"/>
          </a:xfrm>
          <a:prstGeom prst="rect">
            <a:avLst/>
          </a:prstGeom>
        </p:spPr>
      </p:pic>
      <p:cxnSp>
        <p:nvCxnSpPr>
          <p:cNvPr id="13" name="直线连接符 12">
            <a:extLst>
              <a:ext uri="{FF2B5EF4-FFF2-40B4-BE49-F238E27FC236}">
                <a16:creationId xmlns:a16="http://schemas.microsoft.com/office/drawing/2014/main" id="{40B92691-3CB8-E5E3-0D00-ADCCA0F1EA78}"/>
              </a:ext>
            </a:extLst>
          </p:cNvPr>
          <p:cNvCxnSpPr>
            <a:cxnSpLocks/>
          </p:cNvCxnSpPr>
          <p:nvPr/>
        </p:nvCxnSpPr>
        <p:spPr>
          <a:xfrm>
            <a:off x="1274382" y="5559014"/>
            <a:ext cx="6654004" cy="0"/>
          </a:xfrm>
          <a:prstGeom prst="line">
            <a:avLst/>
          </a:prstGeom>
          <a:ln w="444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直线连接符 14">
            <a:extLst>
              <a:ext uri="{FF2B5EF4-FFF2-40B4-BE49-F238E27FC236}">
                <a16:creationId xmlns:a16="http://schemas.microsoft.com/office/drawing/2014/main" id="{D82CF40A-659A-9865-9B66-F8ECC56C74D2}"/>
              </a:ext>
            </a:extLst>
          </p:cNvPr>
          <p:cNvCxnSpPr>
            <a:cxnSpLocks/>
          </p:cNvCxnSpPr>
          <p:nvPr/>
        </p:nvCxnSpPr>
        <p:spPr>
          <a:xfrm>
            <a:off x="1274382" y="6098690"/>
            <a:ext cx="6654004" cy="0"/>
          </a:xfrm>
          <a:prstGeom prst="line">
            <a:avLst/>
          </a:prstGeom>
          <a:ln w="4445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399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6B59A-FD57-118C-2BCF-9F6FDA3B5F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BA4E0DA-3E78-54CD-BC3D-DC8053286AAB}"/>
              </a:ext>
            </a:extLst>
          </p:cNvPr>
          <p:cNvSpPr>
            <a:spLocks noGrp="1"/>
          </p:cNvSpPr>
          <p:nvPr>
            <p:ph type="title"/>
          </p:nvPr>
        </p:nvSpPr>
        <p:spPr/>
        <p:txBody>
          <a:bodyPr/>
          <a:lstStyle/>
          <a:p>
            <a:r>
              <a:rPr kumimoji="1" lang="en-US" altLang="zh-CN" dirty="0"/>
              <a:t>Current Work</a:t>
            </a:r>
            <a:r>
              <a:rPr kumimoji="1" lang="zh-CN" altLang="en-US" dirty="0"/>
              <a:t> </a:t>
            </a:r>
            <a:r>
              <a:rPr kumimoji="1" lang="en-US" altLang="zh-CN" dirty="0"/>
              <a:t>for Multi-hop QA</a:t>
            </a:r>
            <a:endParaRPr kumimoji="1" lang="zh-CN" altLang="en-US" dirty="0"/>
          </a:p>
        </p:txBody>
      </p:sp>
      <p:graphicFrame>
        <p:nvGraphicFramePr>
          <p:cNvPr id="6" name="表格 5">
            <a:extLst>
              <a:ext uri="{FF2B5EF4-FFF2-40B4-BE49-F238E27FC236}">
                <a16:creationId xmlns:a16="http://schemas.microsoft.com/office/drawing/2014/main" id="{9896C35E-B6CC-12E1-6A17-2DABDFD8A967}"/>
              </a:ext>
            </a:extLst>
          </p:cNvPr>
          <p:cNvGraphicFramePr>
            <a:graphicFrameLocks noGrp="1"/>
          </p:cNvGraphicFramePr>
          <p:nvPr>
            <p:extLst>
              <p:ext uri="{D42A27DB-BD31-4B8C-83A1-F6EECF244321}">
                <p14:modId xmlns:p14="http://schemas.microsoft.com/office/powerpoint/2010/main" val="640643111"/>
              </p:ext>
            </p:extLst>
          </p:nvPr>
        </p:nvGraphicFramePr>
        <p:xfrm>
          <a:off x="439040" y="1506433"/>
          <a:ext cx="11448160" cy="4861461"/>
        </p:xfrm>
        <a:graphic>
          <a:graphicData uri="http://schemas.openxmlformats.org/drawingml/2006/table">
            <a:tbl>
              <a:tblPr firstRow="1" bandRow="1">
                <a:tableStyleId>{5C22544A-7EE6-4342-B048-85BDC9FD1C3A}</a:tableStyleId>
              </a:tblPr>
              <a:tblGrid>
                <a:gridCol w="2862040">
                  <a:extLst>
                    <a:ext uri="{9D8B030D-6E8A-4147-A177-3AD203B41FA5}">
                      <a16:colId xmlns:a16="http://schemas.microsoft.com/office/drawing/2014/main" val="3767401315"/>
                    </a:ext>
                  </a:extLst>
                </a:gridCol>
                <a:gridCol w="2862040">
                  <a:extLst>
                    <a:ext uri="{9D8B030D-6E8A-4147-A177-3AD203B41FA5}">
                      <a16:colId xmlns:a16="http://schemas.microsoft.com/office/drawing/2014/main" val="2982574554"/>
                    </a:ext>
                  </a:extLst>
                </a:gridCol>
                <a:gridCol w="2862040">
                  <a:extLst>
                    <a:ext uri="{9D8B030D-6E8A-4147-A177-3AD203B41FA5}">
                      <a16:colId xmlns:a16="http://schemas.microsoft.com/office/drawing/2014/main" val="3261654239"/>
                    </a:ext>
                  </a:extLst>
                </a:gridCol>
                <a:gridCol w="2862040">
                  <a:extLst>
                    <a:ext uri="{9D8B030D-6E8A-4147-A177-3AD203B41FA5}">
                      <a16:colId xmlns:a16="http://schemas.microsoft.com/office/drawing/2014/main" val="816807143"/>
                    </a:ext>
                  </a:extLst>
                </a:gridCol>
              </a:tblGrid>
              <a:tr h="675437">
                <a:tc>
                  <a:txBody>
                    <a:bodyPr/>
                    <a:lstStyle/>
                    <a:p>
                      <a:pPr algn="ctr"/>
                      <a:r>
                        <a:rPr lang="zh-CN" altLang="en-US" dirty="0"/>
                        <a:t>文章</a:t>
                      </a:r>
                    </a:p>
                  </a:txBody>
                  <a:tcPr anchor="ctr"/>
                </a:tc>
                <a:tc>
                  <a:txBody>
                    <a:bodyPr/>
                    <a:lstStyle/>
                    <a:p>
                      <a:pPr algn="ctr"/>
                      <a:r>
                        <a:rPr lang="zh-CN" altLang="en-US" dirty="0"/>
                        <a:t>解决核心问题</a:t>
                      </a:r>
                    </a:p>
                  </a:txBody>
                  <a:tcPr anchor="ctr"/>
                </a:tc>
                <a:tc>
                  <a:txBody>
                    <a:bodyPr/>
                    <a:lstStyle/>
                    <a:p>
                      <a:pPr algn="ctr"/>
                      <a:r>
                        <a:rPr lang="zh-CN" altLang="en-US" dirty="0"/>
                        <a:t>方法</a:t>
                      </a:r>
                    </a:p>
                  </a:txBody>
                  <a:tcPr anchor="ctr"/>
                </a:tc>
                <a:tc>
                  <a:txBody>
                    <a:bodyPr/>
                    <a:lstStyle/>
                    <a:p>
                      <a:pPr algn="ctr"/>
                      <a:r>
                        <a:rPr lang="zh-CN" altLang="en-US" dirty="0"/>
                        <a:t>不足</a:t>
                      </a:r>
                    </a:p>
                  </a:txBody>
                  <a:tcPr anchor="ctr"/>
                </a:tc>
                <a:extLst>
                  <a:ext uri="{0D108BD9-81ED-4DB2-BD59-A6C34878D82A}">
                    <a16:rowId xmlns:a16="http://schemas.microsoft.com/office/drawing/2014/main" val="673263366"/>
                  </a:ext>
                </a:extLst>
              </a:tr>
              <a:tr h="675437">
                <a:tc>
                  <a:txBody>
                    <a:bodyPr/>
                    <a:lstStyle/>
                    <a:p>
                      <a:pPr algn="ctr"/>
                      <a:r>
                        <a:rPr lang="en-US" altLang="zh-CN" dirty="0" err="1"/>
                        <a:t>AttrLora</a:t>
                      </a:r>
                      <a:endParaRPr lang="zh-CN" altLang="en-US" dirty="0"/>
                    </a:p>
                  </a:txBody>
                  <a:tcPr anchor="ctr"/>
                </a:tc>
                <a:tc>
                  <a:txBody>
                    <a:bodyPr/>
                    <a:lstStyle/>
                    <a:p>
                      <a:pPr algn="ctr"/>
                      <a:r>
                        <a:rPr lang="zh-CN" altLang="en-US" dirty="0"/>
                        <a:t>注意力噪声</a:t>
                      </a:r>
                    </a:p>
                  </a:txBody>
                  <a:tcPr anchor="ctr"/>
                </a:tc>
                <a:tc>
                  <a:txBody>
                    <a:bodyPr/>
                    <a:lstStyle/>
                    <a:p>
                      <a:pPr algn="l"/>
                      <a:r>
                        <a:rPr lang="zh-CN" altLang="en-US" dirty="0"/>
                        <a:t>利用带有归因的推理微调模型。</a:t>
                      </a:r>
                    </a:p>
                  </a:txBody>
                  <a:tcPr anchor="ctr"/>
                </a:tc>
                <a:tc>
                  <a:txBody>
                    <a:bodyPr/>
                    <a:lstStyle/>
                    <a:p>
                      <a:pPr algn="ctr"/>
                      <a:r>
                        <a:rPr lang="zh-CN" altLang="en-US" dirty="0"/>
                        <a:t>训练层面更新</a:t>
                      </a:r>
                    </a:p>
                  </a:txBody>
                  <a:tcPr anchor="ctr"/>
                </a:tc>
                <a:extLst>
                  <a:ext uri="{0D108BD9-81ED-4DB2-BD59-A6C34878D82A}">
                    <a16:rowId xmlns:a16="http://schemas.microsoft.com/office/drawing/2014/main" val="1060459190"/>
                  </a:ext>
                </a:extLst>
              </a:tr>
              <a:tr h="808839">
                <a:tc>
                  <a:txBody>
                    <a:bodyPr/>
                    <a:lstStyle/>
                    <a:p>
                      <a:pPr algn="ctr"/>
                      <a:r>
                        <a:rPr lang="en-US" altLang="zh-CN" dirty="0"/>
                        <a:t>Self-Consistency</a:t>
                      </a:r>
                      <a:endParaRPr lang="zh-CN" altLang="en-US" dirty="0"/>
                    </a:p>
                  </a:txBody>
                  <a:tcPr anchor="ctr"/>
                </a:tc>
                <a:tc>
                  <a:txBody>
                    <a:bodyPr/>
                    <a:lstStyle/>
                    <a:p>
                      <a:pPr algn="ctr"/>
                      <a:r>
                        <a:rPr lang="zh-CN" altLang="en-US" dirty="0"/>
                        <a:t>路径单一问题</a:t>
                      </a:r>
                    </a:p>
                  </a:txBody>
                  <a:tcPr anchor="ctr"/>
                </a:tc>
                <a:tc>
                  <a:txBody>
                    <a:bodyPr/>
                    <a:lstStyle/>
                    <a:p>
                      <a:pPr algn="l"/>
                      <a:r>
                        <a:rPr lang="zh-CN" altLang="en-US" dirty="0"/>
                        <a:t>利用</a:t>
                      </a:r>
                      <a:r>
                        <a:rPr lang="en-US" altLang="zh-CN" dirty="0" err="1"/>
                        <a:t>llm</a:t>
                      </a:r>
                      <a:r>
                        <a:rPr lang="zh-CN" altLang="en-US" dirty="0"/>
                        <a:t>生成多条推理路径并进行筛选对比。</a:t>
                      </a:r>
                    </a:p>
                  </a:txBody>
                  <a:tcPr anchor="ctr"/>
                </a:tc>
                <a:tc>
                  <a:txBody>
                    <a:bodyPr/>
                    <a:lstStyle/>
                    <a:p>
                      <a:pPr algn="ctr"/>
                      <a:r>
                        <a:rPr lang="zh-CN" altLang="en-US" dirty="0"/>
                        <a:t>无法</a:t>
                      </a:r>
                      <a:r>
                        <a:rPr lang="zh-CN" altLang="en-US"/>
                        <a:t>动态更新路径</a:t>
                      </a:r>
                      <a:endParaRPr lang="zh-CN" altLang="en-US" dirty="0"/>
                    </a:p>
                  </a:txBody>
                  <a:tcPr anchor="ctr"/>
                </a:tc>
                <a:extLst>
                  <a:ext uri="{0D108BD9-81ED-4DB2-BD59-A6C34878D82A}">
                    <a16:rowId xmlns:a16="http://schemas.microsoft.com/office/drawing/2014/main" val="344754168"/>
                  </a:ext>
                </a:extLst>
              </a:tr>
              <a:tr h="675437">
                <a:tc>
                  <a:txBody>
                    <a:bodyPr/>
                    <a:lstStyle/>
                    <a:p>
                      <a:pPr algn="ctr"/>
                      <a:r>
                        <a:rPr lang="en-US" altLang="zh-CN" dirty="0"/>
                        <a:t>Chain-of-RAG</a:t>
                      </a:r>
                      <a:endParaRPr lang="zh-CN" altLang="en-US" dirty="0"/>
                    </a:p>
                  </a:txBody>
                  <a:tcPr anchor="ctr"/>
                </a:tc>
                <a:tc>
                  <a:txBody>
                    <a:bodyPr/>
                    <a:lstStyle/>
                    <a:p>
                      <a:pPr algn="ctr"/>
                      <a:endParaRPr lang="zh-CN" altLang="en-US" dirty="0"/>
                    </a:p>
                  </a:txBody>
                  <a:tcPr anchor="ctr"/>
                </a:tc>
                <a:tc>
                  <a:txBody>
                    <a:bodyPr/>
                    <a:lstStyle/>
                    <a:p>
                      <a:pPr algn="l"/>
                      <a:r>
                        <a:rPr lang="zh-CN" altLang="en-US" dirty="0"/>
                        <a:t>链式检索并推理。</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还是存在错误就无法解决，没有回滚或者逻辑思考。</a:t>
                      </a:r>
                    </a:p>
                  </a:txBody>
                  <a:tcPr anchor="ctr"/>
                </a:tc>
                <a:extLst>
                  <a:ext uri="{0D108BD9-81ED-4DB2-BD59-A6C34878D82A}">
                    <a16:rowId xmlns:a16="http://schemas.microsoft.com/office/drawing/2014/main" val="3714268923"/>
                  </a:ext>
                </a:extLst>
              </a:tr>
              <a:tr h="675437">
                <a:tc>
                  <a:txBody>
                    <a:bodyPr/>
                    <a:lstStyle/>
                    <a:p>
                      <a:pPr algn="ctr"/>
                      <a:r>
                        <a:rPr lang="en-US" altLang="zh-CN" dirty="0"/>
                        <a:t>Pseudo-Evidentiality Training</a:t>
                      </a:r>
                      <a:endParaRPr lang="zh-CN" altLang="en-US" dirty="0"/>
                    </a:p>
                  </a:txBody>
                  <a:tcPr anchor="ctr"/>
                </a:tc>
                <a:tc>
                  <a:txBody>
                    <a:bodyPr/>
                    <a:lstStyle/>
                    <a:p>
                      <a:pPr algn="ctr"/>
                      <a:r>
                        <a:rPr lang="zh-CN" altLang="en-US" dirty="0"/>
                        <a:t>推理路径贴合，避免早期错误。</a:t>
                      </a:r>
                    </a:p>
                  </a:txBody>
                  <a:tcPr anchor="ctr"/>
                </a:tc>
                <a:tc>
                  <a:txBody>
                    <a:bodyPr/>
                    <a:lstStyle/>
                    <a:p>
                      <a:pPr algn="l"/>
                      <a:r>
                        <a:rPr lang="zh-CN" altLang="en-US" dirty="0"/>
                        <a:t>利用假样本和负样本训练，让推理更合理。</a:t>
                      </a:r>
                    </a:p>
                  </a:txBody>
                  <a:tcPr anchor="ctr"/>
                </a:tc>
                <a:tc>
                  <a:txBody>
                    <a:bodyPr/>
                    <a:lstStyle/>
                    <a:p>
                      <a:pPr algn="ctr"/>
                      <a:r>
                        <a:rPr lang="zh-CN" altLang="en-US" dirty="0"/>
                        <a:t>需要大量构建负样本，对不同的领域还要重新训练。</a:t>
                      </a:r>
                    </a:p>
                  </a:txBody>
                  <a:tcPr anchor="ctr"/>
                </a:tc>
                <a:extLst>
                  <a:ext uri="{0D108BD9-81ED-4DB2-BD59-A6C34878D82A}">
                    <a16:rowId xmlns:a16="http://schemas.microsoft.com/office/drawing/2014/main" val="38408365"/>
                  </a:ext>
                </a:extLst>
              </a:tr>
              <a:tr h="675437">
                <a:tc>
                  <a:txBody>
                    <a:bodyPr/>
                    <a:lstStyle/>
                    <a:p>
                      <a:pPr algn="ctr"/>
                      <a:r>
                        <a:rPr lang="en-US" altLang="zh-CN" dirty="0"/>
                        <a:t>Graph-based</a:t>
                      </a:r>
                      <a:endParaRPr lang="zh-CN" altLang="en-US" dirty="0"/>
                    </a:p>
                  </a:txBody>
                  <a:tcPr anchor="ctr"/>
                </a:tc>
                <a:tc>
                  <a:txBody>
                    <a:bodyPr/>
                    <a:lstStyle/>
                    <a:p>
                      <a:pPr algn="ctr"/>
                      <a:r>
                        <a:rPr lang="zh-CN" altLang="en-US" dirty="0"/>
                        <a:t>路径单一问题</a:t>
                      </a:r>
                    </a:p>
                  </a:txBody>
                  <a:tcPr anchor="ctr"/>
                </a:tc>
                <a:tc>
                  <a:txBody>
                    <a:bodyPr/>
                    <a:lstStyle/>
                    <a:p>
                      <a:pPr algn="l"/>
                      <a:r>
                        <a:rPr lang="zh-CN" altLang="en-US" dirty="0"/>
                        <a:t>图传播算法解决多跳。</a:t>
                      </a:r>
                    </a:p>
                  </a:txBody>
                  <a:tcPr anchor="ctr"/>
                </a:tc>
                <a:tc>
                  <a:txBody>
                    <a:bodyPr/>
                    <a:lstStyle/>
                    <a:p>
                      <a:pPr algn="ctr"/>
                      <a:endParaRPr lang="zh-CN" altLang="en-US" dirty="0"/>
                    </a:p>
                  </a:txBody>
                  <a:tcPr anchor="ctr"/>
                </a:tc>
                <a:extLst>
                  <a:ext uri="{0D108BD9-81ED-4DB2-BD59-A6C34878D82A}">
                    <a16:rowId xmlns:a16="http://schemas.microsoft.com/office/drawing/2014/main" val="1519079647"/>
                  </a:ext>
                </a:extLst>
              </a:tr>
              <a:tr h="675437">
                <a:tc>
                  <a:txBody>
                    <a:bodyPr/>
                    <a:lstStyle/>
                    <a:p>
                      <a:pPr algn="ctr"/>
                      <a:r>
                        <a:rPr lang="en-US" altLang="zh-CN" dirty="0"/>
                        <a:t>Locate</a:t>
                      </a:r>
                      <a:r>
                        <a:rPr lang="zh-CN" altLang="en-US" dirty="0"/>
                        <a:t> </a:t>
                      </a:r>
                      <a:r>
                        <a:rPr lang="en-US" altLang="zh-CN" dirty="0"/>
                        <a:t>then</a:t>
                      </a:r>
                      <a:r>
                        <a:rPr lang="zh-CN" altLang="en-US" dirty="0"/>
                        <a:t> </a:t>
                      </a:r>
                      <a:r>
                        <a:rPr lang="en-US" altLang="zh-CN" dirty="0"/>
                        <a:t>ask</a:t>
                      </a:r>
                      <a:endParaRPr lang="zh-CN" altLang="en-US" dirty="0"/>
                    </a:p>
                  </a:txBody>
                  <a:tcPr anchor="ctr"/>
                </a:tc>
                <a:tc>
                  <a:txBody>
                    <a:bodyPr/>
                    <a:lstStyle/>
                    <a:p>
                      <a:pPr algn="ctr"/>
                      <a:r>
                        <a:rPr lang="zh-CN" altLang="en-US" dirty="0"/>
                        <a:t>抑制错误传播</a:t>
                      </a:r>
                    </a:p>
                  </a:txBody>
                  <a:tcPr anchor="ctr"/>
                </a:tc>
                <a:tc>
                  <a:txBody>
                    <a:bodyPr/>
                    <a:lstStyle/>
                    <a:p>
                      <a:pPr algn="l"/>
                      <a:r>
                        <a:rPr lang="zh-CN" altLang="en-US" dirty="0"/>
                        <a:t>分解问题步骤有助抑制错误传播。</a:t>
                      </a:r>
                    </a:p>
                  </a:txBody>
                  <a:tcPr anchor="ctr"/>
                </a:tc>
                <a:tc>
                  <a:txBody>
                    <a:bodyPr/>
                    <a:lstStyle/>
                    <a:p>
                      <a:pPr algn="ctr"/>
                      <a:r>
                        <a:rPr lang="zh-CN" altLang="en-US" dirty="0"/>
                        <a:t>还是存在错误就无法解决，没有回滚或者逻辑思考。</a:t>
                      </a:r>
                    </a:p>
                  </a:txBody>
                  <a:tcPr anchor="ctr"/>
                </a:tc>
                <a:extLst>
                  <a:ext uri="{0D108BD9-81ED-4DB2-BD59-A6C34878D82A}">
                    <a16:rowId xmlns:a16="http://schemas.microsoft.com/office/drawing/2014/main" val="2047443362"/>
                  </a:ext>
                </a:extLst>
              </a:tr>
            </a:tbl>
          </a:graphicData>
        </a:graphic>
      </p:graphicFrame>
    </p:spTree>
    <p:extLst>
      <p:ext uri="{BB962C8B-B14F-4D97-AF65-F5344CB8AC3E}">
        <p14:creationId xmlns:p14="http://schemas.microsoft.com/office/powerpoint/2010/main" val="3398023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9EF0E5-AFDF-BD14-177D-631A05CA9210}"/>
              </a:ext>
            </a:extLst>
          </p:cNvPr>
          <p:cNvSpPr>
            <a:spLocks noGrp="1"/>
          </p:cNvSpPr>
          <p:nvPr>
            <p:ph type="title"/>
          </p:nvPr>
        </p:nvSpPr>
        <p:spPr/>
        <p:txBody>
          <a:bodyPr>
            <a:normAutofit/>
          </a:bodyPr>
          <a:lstStyle/>
          <a:p>
            <a:r>
              <a:rPr lang="en-US" altLang="zh-CN" dirty="0"/>
              <a:t>Brain Science</a:t>
            </a:r>
            <a:r>
              <a:rPr lang="zh-CN" altLang="en-US" dirty="0"/>
              <a:t> </a:t>
            </a:r>
            <a:r>
              <a:rPr lang="en-US" altLang="zh-CN" dirty="0"/>
              <a:t>Inspiration: </a:t>
            </a:r>
            <a:br>
              <a:rPr lang="en-US" altLang="zh-CN" dirty="0"/>
            </a:br>
            <a:r>
              <a:rPr lang="en-US" altLang="zh-CN" dirty="0"/>
              <a:t>Theta–Gamma</a:t>
            </a:r>
            <a:r>
              <a:rPr lang="zh-CN" altLang="en-US" dirty="0"/>
              <a:t> </a:t>
            </a:r>
            <a:r>
              <a:rPr lang="en-US" altLang="zh-CN" dirty="0"/>
              <a:t>Coupling</a:t>
            </a:r>
            <a:r>
              <a:rPr lang="zh-CN" altLang="en-US" dirty="0"/>
              <a:t> </a:t>
            </a:r>
            <a:r>
              <a:rPr lang="en-US" altLang="zh-CN" dirty="0"/>
              <a:t>Mechanism</a:t>
            </a:r>
            <a:endParaRPr kumimoji="1" lang="zh-CN" altLang="en-US" dirty="0"/>
          </a:p>
        </p:txBody>
      </p:sp>
      <p:sp>
        <p:nvSpPr>
          <p:cNvPr id="3" name="内容占位符 2">
            <a:extLst>
              <a:ext uri="{FF2B5EF4-FFF2-40B4-BE49-F238E27FC236}">
                <a16:creationId xmlns:a16="http://schemas.microsoft.com/office/drawing/2014/main" id="{8B4DBC3A-2CC0-582B-0111-E5A390D13709}"/>
              </a:ext>
            </a:extLst>
          </p:cNvPr>
          <p:cNvSpPr>
            <a:spLocks noGrp="1"/>
          </p:cNvSpPr>
          <p:nvPr>
            <p:ph idx="1"/>
          </p:nvPr>
        </p:nvSpPr>
        <p:spPr>
          <a:xfrm>
            <a:off x="838200" y="1708660"/>
            <a:ext cx="10515600" cy="1524326"/>
          </a:xfrm>
        </p:spPr>
        <p:txBody>
          <a:bodyPr>
            <a:normAutofit/>
          </a:bodyPr>
          <a:lstStyle/>
          <a:p>
            <a:r>
              <a:rPr lang="zh-CN" altLang="en-US" sz="1800" dirty="0"/>
              <a:t>人脑的</a:t>
            </a:r>
            <a:r>
              <a:rPr lang="en-US" altLang="zh-CN" sz="1800" dirty="0"/>
              <a:t>Theta-Gamma</a:t>
            </a:r>
            <a:r>
              <a:rPr lang="zh-CN" altLang="en-US" sz="1800" dirty="0"/>
              <a:t>机制是一种神经振荡的跨频耦合现象，其中慢速的</a:t>
            </a:r>
            <a:r>
              <a:rPr lang="en-US" altLang="zh-CN" sz="1800" dirty="0"/>
              <a:t>theta</a:t>
            </a:r>
            <a:r>
              <a:rPr lang="zh-CN" altLang="en-US" sz="1800" dirty="0"/>
              <a:t>波（</a:t>
            </a:r>
            <a:r>
              <a:rPr lang="en-US" altLang="zh-CN" sz="1800" dirty="0"/>
              <a:t>4-8 Hz</a:t>
            </a:r>
            <a:r>
              <a:rPr lang="zh-CN" altLang="en-US" sz="1800" dirty="0"/>
              <a:t>）调控局部快速的</a:t>
            </a:r>
            <a:r>
              <a:rPr lang="en-US" altLang="zh-CN" sz="1800" dirty="0"/>
              <a:t>gamma</a:t>
            </a:r>
            <a:r>
              <a:rPr lang="zh-CN" altLang="en-US" sz="1800" dirty="0"/>
              <a:t>波（</a:t>
            </a:r>
            <a:r>
              <a:rPr lang="en-US" altLang="zh-CN" sz="1800" dirty="0"/>
              <a:t>30-150 Hz</a:t>
            </a:r>
            <a:r>
              <a:rPr lang="zh-CN" altLang="en-US" sz="1800" dirty="0"/>
              <a:t>）的幅值和相位。 </a:t>
            </a:r>
            <a:endParaRPr lang="en-US" altLang="zh-CN" sz="1800" dirty="0"/>
          </a:p>
          <a:p>
            <a:r>
              <a:rPr lang="zh-CN" altLang="en-US" sz="1800" dirty="0"/>
              <a:t>该机制被认为是大脑整合分布式信息的核心“时钟”框架：</a:t>
            </a:r>
            <a:r>
              <a:rPr lang="en-US" altLang="zh-CN" sz="1800" dirty="0"/>
              <a:t>theta</a:t>
            </a:r>
            <a:r>
              <a:rPr lang="zh-CN" altLang="en-US" sz="1800" dirty="0"/>
              <a:t>振荡提供一个周期性时间窗口，而</a:t>
            </a:r>
            <a:r>
              <a:rPr lang="en-US" altLang="zh-CN" sz="1800" dirty="0"/>
              <a:t>gamma</a:t>
            </a:r>
            <a:r>
              <a:rPr lang="zh-CN" altLang="en-US" sz="1800" dirty="0"/>
              <a:t>振荡在此窗口内以“子周期”形式编码不同神经元集群的放电，实现多项目或特征的序列化绑定，即</a:t>
            </a:r>
            <a:r>
              <a:rPr lang="en-US" altLang="zh-CN" sz="1800" dirty="0"/>
              <a:t>gamma</a:t>
            </a:r>
            <a:r>
              <a:rPr lang="zh-CN" altLang="en-US" sz="1800" dirty="0"/>
              <a:t>周期嵌套于</a:t>
            </a:r>
            <a:r>
              <a:rPr lang="en-US" altLang="zh-CN" sz="1800" dirty="0"/>
              <a:t>theta</a:t>
            </a:r>
            <a:r>
              <a:rPr lang="zh-CN" altLang="en-US" sz="1800" dirty="0"/>
              <a:t>周期，构成可动态重构的信息单元。</a:t>
            </a:r>
          </a:p>
          <a:p>
            <a:endParaRPr kumimoji="1" lang="zh-CN" altLang="en-US" sz="1800" dirty="0"/>
          </a:p>
        </p:txBody>
      </p:sp>
      <p:pic>
        <p:nvPicPr>
          <p:cNvPr id="2049" name="Picture 1">
            <a:extLst>
              <a:ext uri="{FF2B5EF4-FFF2-40B4-BE49-F238E27FC236}">
                <a16:creationId xmlns:a16="http://schemas.microsoft.com/office/drawing/2014/main" id="{F847624F-DBAF-7D48-D715-9AEB2B7AA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1028" y="3349951"/>
            <a:ext cx="6339080" cy="311382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9E363D78-F6BE-4C71-8648-CC454B142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9450" y="5153114"/>
            <a:ext cx="341831" cy="341831"/>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a:extLst>
              <a:ext uri="{FF2B5EF4-FFF2-40B4-BE49-F238E27FC236}">
                <a16:creationId xmlns:a16="http://schemas.microsoft.com/office/drawing/2014/main" id="{C047BDC9-F790-84B2-A390-DA1029FE11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1439" y="4874277"/>
            <a:ext cx="384561" cy="38456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D2603FC-3953-E596-8B89-5D39D9E25A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3196" y="4864134"/>
            <a:ext cx="384561" cy="38456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D5BC1AAC-20B1-CF01-3BFB-8195F26831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0108" y="5087922"/>
            <a:ext cx="341831" cy="341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4304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B37D6-A4C8-1F86-2E15-0146FB60FBA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FB47105-4E11-FE21-2DDA-DB4D84E32785}"/>
              </a:ext>
            </a:extLst>
          </p:cNvPr>
          <p:cNvSpPr>
            <a:spLocks noGrp="1"/>
          </p:cNvSpPr>
          <p:nvPr>
            <p:ph type="title"/>
          </p:nvPr>
        </p:nvSpPr>
        <p:spPr>
          <a:xfrm>
            <a:off x="397933" y="365125"/>
            <a:ext cx="11794067" cy="1325563"/>
          </a:xfrm>
        </p:spPr>
        <p:txBody>
          <a:bodyPr>
            <a:normAutofit/>
          </a:bodyPr>
          <a:lstStyle/>
          <a:p>
            <a:r>
              <a:rPr lang="en-US" altLang="zh-CN" dirty="0"/>
              <a:t>Why</a:t>
            </a:r>
            <a:r>
              <a:rPr lang="zh-CN" altLang="en-US" dirty="0"/>
              <a:t> </a:t>
            </a:r>
            <a:r>
              <a:rPr lang="en-US" altLang="zh-CN" dirty="0"/>
              <a:t>Theta–Gamma</a:t>
            </a:r>
            <a:r>
              <a:rPr lang="zh-CN" altLang="en-US" dirty="0"/>
              <a:t> </a:t>
            </a:r>
            <a:r>
              <a:rPr lang="en-US" altLang="zh-CN" dirty="0"/>
              <a:t>Coupling</a:t>
            </a:r>
            <a:r>
              <a:rPr lang="zh-CN" altLang="en-US" dirty="0"/>
              <a:t> </a:t>
            </a:r>
            <a:r>
              <a:rPr lang="en-US" altLang="zh-CN" dirty="0"/>
              <a:t>Mechanism</a:t>
            </a:r>
            <a:r>
              <a:rPr lang="zh-CN" altLang="en-US" dirty="0"/>
              <a:t> </a:t>
            </a:r>
            <a:r>
              <a:rPr lang="en-US" altLang="zh-CN" dirty="0"/>
              <a:t>Works</a:t>
            </a:r>
            <a:r>
              <a:rPr lang="zh-CN" altLang="en-US" dirty="0"/>
              <a:t>？</a:t>
            </a:r>
            <a:endParaRPr kumimoji="1" lang="zh-CN" altLang="en-US" dirty="0"/>
          </a:p>
        </p:txBody>
      </p:sp>
      <p:pic>
        <p:nvPicPr>
          <p:cNvPr id="9" name="图片 8" descr="文本&#10;&#10;AI 生成的内容可能不正确。">
            <a:extLst>
              <a:ext uri="{FF2B5EF4-FFF2-40B4-BE49-F238E27FC236}">
                <a16:creationId xmlns:a16="http://schemas.microsoft.com/office/drawing/2014/main" id="{784D70E7-9C86-131F-30CD-01BDADDB644A}"/>
              </a:ext>
            </a:extLst>
          </p:cNvPr>
          <p:cNvPicPr>
            <a:picLocks noChangeAspect="1"/>
          </p:cNvPicPr>
          <p:nvPr/>
        </p:nvPicPr>
        <p:blipFill>
          <a:blip r:embed="rId2"/>
          <a:stretch>
            <a:fillRect/>
          </a:stretch>
        </p:blipFill>
        <p:spPr>
          <a:xfrm>
            <a:off x="0" y="1841500"/>
            <a:ext cx="12151632" cy="3822700"/>
          </a:xfrm>
          <a:prstGeom prst="rect">
            <a:avLst/>
          </a:prstGeom>
        </p:spPr>
      </p:pic>
    </p:spTree>
    <p:extLst>
      <p:ext uri="{BB962C8B-B14F-4D97-AF65-F5344CB8AC3E}">
        <p14:creationId xmlns:p14="http://schemas.microsoft.com/office/powerpoint/2010/main" val="228147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BA81E-A57E-446C-844E-45F8CBA68E4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019AC0-3C0F-4132-060D-3F7569945AB9}"/>
              </a:ext>
            </a:extLst>
          </p:cNvPr>
          <p:cNvSpPr>
            <a:spLocks noGrp="1"/>
          </p:cNvSpPr>
          <p:nvPr>
            <p:ph type="title"/>
          </p:nvPr>
        </p:nvSpPr>
        <p:spPr/>
        <p:txBody>
          <a:bodyPr>
            <a:normAutofit/>
          </a:bodyPr>
          <a:lstStyle/>
          <a:p>
            <a:r>
              <a:rPr lang="en-US" altLang="zh-CN" dirty="0"/>
              <a:t>How</a:t>
            </a:r>
            <a:r>
              <a:rPr lang="zh-CN" altLang="en-US" dirty="0"/>
              <a:t> </a:t>
            </a:r>
            <a:r>
              <a:rPr lang="en-US" altLang="zh-CN" dirty="0"/>
              <a:t>Theta–Gamma</a:t>
            </a:r>
            <a:r>
              <a:rPr lang="zh-CN" altLang="en-US" dirty="0"/>
              <a:t> </a:t>
            </a:r>
            <a:r>
              <a:rPr lang="en-US" altLang="zh-CN" dirty="0"/>
              <a:t>Coupling</a:t>
            </a:r>
            <a:r>
              <a:rPr lang="zh-CN" altLang="en-US" dirty="0"/>
              <a:t> </a:t>
            </a:r>
            <a:r>
              <a:rPr lang="en-US" altLang="zh-CN" dirty="0"/>
              <a:t>Mechanism</a:t>
            </a:r>
            <a:r>
              <a:rPr lang="zh-CN" altLang="en-US" dirty="0"/>
              <a:t> </a:t>
            </a:r>
            <a:r>
              <a:rPr lang="en-US" altLang="zh-CN" dirty="0"/>
              <a:t>works</a:t>
            </a:r>
            <a:r>
              <a:rPr lang="zh-CN" altLang="en-US" dirty="0"/>
              <a:t> </a:t>
            </a:r>
            <a:r>
              <a:rPr lang="en-US" altLang="zh-CN" dirty="0"/>
              <a:t>for</a:t>
            </a:r>
            <a:r>
              <a:rPr lang="zh-CN" altLang="en-US" dirty="0"/>
              <a:t> </a:t>
            </a:r>
            <a:r>
              <a:rPr lang="en-US" altLang="zh-CN" dirty="0"/>
              <a:t>Multi-hop</a:t>
            </a:r>
            <a:r>
              <a:rPr lang="zh-CN" altLang="en-US" dirty="0"/>
              <a:t> </a:t>
            </a:r>
            <a:r>
              <a:rPr lang="en-US" altLang="zh-CN" dirty="0"/>
              <a:t>QA</a:t>
            </a:r>
            <a:r>
              <a:rPr lang="zh-CN" altLang="en-US" dirty="0"/>
              <a:t>？</a:t>
            </a:r>
            <a:endParaRPr kumimoji="1" lang="zh-CN" altLang="en-US" dirty="0"/>
          </a:p>
        </p:txBody>
      </p:sp>
      <p:pic>
        <p:nvPicPr>
          <p:cNvPr id="3073" name="Picture 1">
            <a:extLst>
              <a:ext uri="{FF2B5EF4-FFF2-40B4-BE49-F238E27FC236}">
                <a16:creationId xmlns:a16="http://schemas.microsoft.com/office/drawing/2014/main" id="{4D7FADD4-B256-229C-1DCD-92603FE28C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6316"/>
          <a:stretch>
            <a:fillRect/>
          </a:stretch>
        </p:blipFill>
        <p:spPr bwMode="auto">
          <a:xfrm>
            <a:off x="1342114" y="3973286"/>
            <a:ext cx="9507771" cy="2884714"/>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FC6ACED4-D34B-64AC-65D6-07A8D4868DC2}"/>
              </a:ext>
            </a:extLst>
          </p:cNvPr>
          <p:cNvSpPr txBox="1"/>
          <p:nvPr/>
        </p:nvSpPr>
        <p:spPr>
          <a:xfrm>
            <a:off x="838200" y="1723492"/>
            <a:ext cx="6314630" cy="338554"/>
          </a:xfrm>
          <a:prstGeom prst="rect">
            <a:avLst/>
          </a:prstGeom>
          <a:noFill/>
        </p:spPr>
        <p:txBody>
          <a:bodyPr wrap="square">
            <a:spAutoFit/>
          </a:bodyPr>
          <a:lstStyle/>
          <a:p>
            <a:r>
              <a:rPr lang="en-US" altLang="zh-CN" sz="1600" dirty="0"/>
              <a:t>Q</a:t>
            </a:r>
            <a:r>
              <a:rPr lang="zh-CN" altLang="en-US" sz="1600" dirty="0"/>
              <a:t>：下列哪种药和</a:t>
            </a:r>
            <a:r>
              <a:rPr lang="en-US" altLang="zh-CN" sz="1600" dirty="0"/>
              <a:t>DB01171</a:t>
            </a:r>
            <a:r>
              <a:rPr lang="zh-CN" altLang="en-US" sz="1600" dirty="0"/>
              <a:t>冲突？</a:t>
            </a:r>
          </a:p>
        </p:txBody>
      </p:sp>
      <p:sp>
        <p:nvSpPr>
          <p:cNvPr id="24" name="文本框 23">
            <a:extLst>
              <a:ext uri="{FF2B5EF4-FFF2-40B4-BE49-F238E27FC236}">
                <a16:creationId xmlns:a16="http://schemas.microsoft.com/office/drawing/2014/main" id="{097F8447-9790-B4FD-1F0E-28A87531A087}"/>
              </a:ext>
            </a:extLst>
          </p:cNvPr>
          <p:cNvSpPr txBox="1"/>
          <p:nvPr/>
        </p:nvSpPr>
        <p:spPr>
          <a:xfrm>
            <a:off x="2939142" y="2686171"/>
            <a:ext cx="2912977" cy="369332"/>
          </a:xfrm>
          <a:prstGeom prst="rect">
            <a:avLst/>
          </a:prstGeom>
          <a:noFill/>
          <a:ln w="38100">
            <a:solidFill>
              <a:schemeClr val="accent1"/>
            </a:solidFill>
          </a:ln>
        </p:spPr>
        <p:txBody>
          <a:bodyPr wrap="none" rtlCol="0">
            <a:spAutoFit/>
          </a:bodyPr>
          <a:lstStyle/>
          <a:p>
            <a:r>
              <a:rPr kumimoji="1" lang="en-US" altLang="zh-CN" dirty="0"/>
              <a:t>DB01171</a:t>
            </a:r>
            <a:r>
              <a:rPr kumimoji="1" lang="zh-CN" altLang="en-US" dirty="0"/>
              <a:t>是</a:t>
            </a:r>
            <a:r>
              <a:rPr kumimoji="1" lang="en-US" altLang="zh-CN" dirty="0"/>
              <a:t>Moclobemide</a:t>
            </a:r>
            <a:r>
              <a:rPr kumimoji="1" lang="zh-CN" altLang="en-US" dirty="0"/>
              <a:t>。</a:t>
            </a:r>
          </a:p>
        </p:txBody>
      </p:sp>
      <p:sp>
        <p:nvSpPr>
          <p:cNvPr id="25" name="文本框 24">
            <a:extLst>
              <a:ext uri="{FF2B5EF4-FFF2-40B4-BE49-F238E27FC236}">
                <a16:creationId xmlns:a16="http://schemas.microsoft.com/office/drawing/2014/main" id="{2BE8B6A9-4A29-6182-2649-7777C96BD045}"/>
              </a:ext>
            </a:extLst>
          </p:cNvPr>
          <p:cNvSpPr txBox="1"/>
          <p:nvPr/>
        </p:nvSpPr>
        <p:spPr>
          <a:xfrm>
            <a:off x="2939143" y="3191229"/>
            <a:ext cx="2912977" cy="646331"/>
          </a:xfrm>
          <a:prstGeom prst="rect">
            <a:avLst/>
          </a:prstGeom>
          <a:noFill/>
          <a:ln w="38100">
            <a:solidFill>
              <a:schemeClr val="accent1"/>
            </a:solidFill>
          </a:ln>
        </p:spPr>
        <p:txBody>
          <a:bodyPr wrap="square" rtlCol="0">
            <a:spAutoFit/>
          </a:bodyPr>
          <a:lstStyle/>
          <a:p>
            <a:r>
              <a:rPr kumimoji="1" lang="en-US" altLang="zh-CN" dirty="0"/>
              <a:t>Moclobemide</a:t>
            </a:r>
            <a:r>
              <a:rPr kumimoji="1" lang="zh-CN" altLang="en-US" dirty="0"/>
              <a:t>是</a:t>
            </a:r>
            <a:r>
              <a:rPr kumimoji="1" lang="en-US" altLang="zh-CN" dirty="0"/>
              <a:t>MAO-A</a:t>
            </a:r>
            <a:r>
              <a:rPr kumimoji="1" lang="zh-CN" altLang="en-US" dirty="0"/>
              <a:t>（</a:t>
            </a:r>
            <a:r>
              <a:rPr kumimoji="1" lang="en-US" altLang="zh-CN" dirty="0"/>
              <a:t>P21397</a:t>
            </a:r>
            <a:r>
              <a:rPr kumimoji="1" lang="zh-CN" altLang="en-US" dirty="0"/>
              <a:t>）的抑制剂。</a:t>
            </a:r>
          </a:p>
        </p:txBody>
      </p:sp>
      <p:sp>
        <p:nvSpPr>
          <p:cNvPr id="26" name="文本框 25">
            <a:extLst>
              <a:ext uri="{FF2B5EF4-FFF2-40B4-BE49-F238E27FC236}">
                <a16:creationId xmlns:a16="http://schemas.microsoft.com/office/drawing/2014/main" id="{6AB958E4-B2D9-E258-C89B-A82F681ECC00}"/>
              </a:ext>
            </a:extLst>
          </p:cNvPr>
          <p:cNvSpPr txBox="1"/>
          <p:nvPr/>
        </p:nvSpPr>
        <p:spPr>
          <a:xfrm>
            <a:off x="3385457" y="5564134"/>
            <a:ext cx="1542410" cy="369332"/>
          </a:xfrm>
          <a:prstGeom prst="rect">
            <a:avLst/>
          </a:prstGeom>
          <a:noFill/>
          <a:ln w="25400">
            <a:solidFill>
              <a:srgbClr val="FF0000"/>
            </a:solidFill>
          </a:ln>
        </p:spPr>
        <p:txBody>
          <a:bodyPr wrap="none" rtlCol="0">
            <a:spAutoFit/>
          </a:bodyPr>
          <a:lstStyle/>
          <a:p>
            <a:r>
              <a:rPr kumimoji="1" lang="en-US" altLang="zh-CN" dirty="0"/>
              <a:t>DB01171</a:t>
            </a:r>
            <a:r>
              <a:rPr kumimoji="1" lang="zh-CN" altLang="en-US" dirty="0"/>
              <a:t>分析</a:t>
            </a:r>
          </a:p>
        </p:txBody>
      </p:sp>
      <p:sp>
        <p:nvSpPr>
          <p:cNvPr id="27" name="文本框 26">
            <a:extLst>
              <a:ext uri="{FF2B5EF4-FFF2-40B4-BE49-F238E27FC236}">
                <a16:creationId xmlns:a16="http://schemas.microsoft.com/office/drawing/2014/main" id="{E61430D6-5119-CF14-23EA-F25C475484FB}"/>
              </a:ext>
            </a:extLst>
          </p:cNvPr>
          <p:cNvSpPr txBox="1"/>
          <p:nvPr/>
        </p:nvSpPr>
        <p:spPr>
          <a:xfrm>
            <a:off x="7609114" y="5564134"/>
            <a:ext cx="1937657" cy="646331"/>
          </a:xfrm>
          <a:prstGeom prst="rect">
            <a:avLst/>
          </a:prstGeom>
          <a:noFill/>
          <a:ln w="25400">
            <a:solidFill>
              <a:srgbClr val="FF0000"/>
            </a:solidFill>
          </a:ln>
        </p:spPr>
        <p:txBody>
          <a:bodyPr wrap="square" rtlCol="0">
            <a:spAutoFit/>
          </a:bodyPr>
          <a:lstStyle/>
          <a:p>
            <a:r>
              <a:rPr kumimoji="1" lang="en-US" altLang="zh-CN" dirty="0"/>
              <a:t>MAO-A</a:t>
            </a:r>
            <a:r>
              <a:rPr kumimoji="1" lang="zh-CN" altLang="en-US" dirty="0"/>
              <a:t>（</a:t>
            </a:r>
            <a:r>
              <a:rPr kumimoji="1" lang="en-US" altLang="zh-CN" dirty="0"/>
              <a:t>P21397</a:t>
            </a:r>
            <a:r>
              <a:rPr kumimoji="1" lang="zh-CN" altLang="en-US" dirty="0"/>
              <a:t>）分析</a:t>
            </a:r>
          </a:p>
        </p:txBody>
      </p:sp>
      <p:sp>
        <p:nvSpPr>
          <p:cNvPr id="28" name="文本框 27">
            <a:extLst>
              <a:ext uri="{FF2B5EF4-FFF2-40B4-BE49-F238E27FC236}">
                <a16:creationId xmlns:a16="http://schemas.microsoft.com/office/drawing/2014/main" id="{3B472A77-AB69-D09D-4521-53E0580BE434}"/>
              </a:ext>
            </a:extLst>
          </p:cNvPr>
          <p:cNvSpPr txBox="1"/>
          <p:nvPr/>
        </p:nvSpPr>
        <p:spPr>
          <a:xfrm>
            <a:off x="7152830" y="2914230"/>
            <a:ext cx="2912977" cy="923330"/>
          </a:xfrm>
          <a:prstGeom prst="rect">
            <a:avLst/>
          </a:prstGeom>
          <a:noFill/>
          <a:ln w="38100">
            <a:solidFill>
              <a:schemeClr val="accent1"/>
            </a:solidFill>
          </a:ln>
        </p:spPr>
        <p:txBody>
          <a:bodyPr wrap="square" rtlCol="0">
            <a:spAutoFit/>
          </a:bodyPr>
          <a:lstStyle/>
          <a:p>
            <a:r>
              <a:rPr lang="en-US" altLang="zh-CN" dirty="0"/>
              <a:t>MAO-A </a:t>
            </a:r>
            <a:r>
              <a:rPr lang="zh-CN" altLang="en-US" dirty="0"/>
              <a:t>抑制剂与 </a:t>
            </a:r>
            <a:r>
              <a:rPr lang="en-US" altLang="zh-CN" dirty="0"/>
              <a:t>VMAT2 </a:t>
            </a:r>
            <a:r>
              <a:rPr lang="zh-CN" altLang="en-US" dirty="0"/>
              <a:t>抑制剂</a:t>
            </a:r>
            <a:r>
              <a:rPr lang="zh-CN" altLang="en-US" b="1" dirty="0"/>
              <a:t>联用可致单胺水平失衡。</a:t>
            </a:r>
            <a:endParaRPr kumimoji="1" lang="zh-CN" altLang="en-US" dirty="0"/>
          </a:p>
        </p:txBody>
      </p:sp>
      <p:sp>
        <p:nvSpPr>
          <p:cNvPr id="29" name="文本框 28">
            <a:extLst>
              <a:ext uri="{FF2B5EF4-FFF2-40B4-BE49-F238E27FC236}">
                <a16:creationId xmlns:a16="http://schemas.microsoft.com/office/drawing/2014/main" id="{C02AD7BB-ED34-D063-C3B8-F683D4D0C991}"/>
              </a:ext>
            </a:extLst>
          </p:cNvPr>
          <p:cNvSpPr txBox="1"/>
          <p:nvPr/>
        </p:nvSpPr>
        <p:spPr>
          <a:xfrm>
            <a:off x="10735511" y="5107880"/>
            <a:ext cx="1456489" cy="1200329"/>
          </a:xfrm>
          <a:prstGeom prst="rect">
            <a:avLst/>
          </a:prstGeom>
          <a:noFill/>
          <a:ln w="38100">
            <a:solidFill>
              <a:schemeClr val="accent1"/>
            </a:solidFill>
          </a:ln>
        </p:spPr>
        <p:txBody>
          <a:bodyPr wrap="square" rtlCol="0">
            <a:spAutoFit/>
          </a:bodyPr>
          <a:lstStyle/>
          <a:p>
            <a:r>
              <a:rPr lang="zh-CN" altLang="en-US" dirty="0"/>
              <a:t>在候选中寻找</a:t>
            </a:r>
            <a:r>
              <a:rPr lang="en-US" altLang="zh-CN" dirty="0"/>
              <a:t>VMAT2 </a:t>
            </a:r>
            <a:r>
              <a:rPr lang="zh-CN" altLang="en-US" dirty="0"/>
              <a:t>抑制剂得到答案</a:t>
            </a:r>
            <a:endParaRPr kumimoji="1" lang="zh-CN" altLang="en-US" dirty="0"/>
          </a:p>
        </p:txBody>
      </p:sp>
      <p:sp>
        <p:nvSpPr>
          <p:cNvPr id="30" name="文本框 29">
            <a:extLst>
              <a:ext uri="{FF2B5EF4-FFF2-40B4-BE49-F238E27FC236}">
                <a16:creationId xmlns:a16="http://schemas.microsoft.com/office/drawing/2014/main" id="{45606BF4-BEA2-C77B-D70B-13A99C09D10A}"/>
              </a:ext>
            </a:extLst>
          </p:cNvPr>
          <p:cNvSpPr txBox="1"/>
          <p:nvPr/>
        </p:nvSpPr>
        <p:spPr>
          <a:xfrm>
            <a:off x="10749758" y="6308209"/>
            <a:ext cx="1459054" cy="369332"/>
          </a:xfrm>
          <a:prstGeom prst="rect">
            <a:avLst/>
          </a:prstGeom>
          <a:noFill/>
        </p:spPr>
        <p:txBody>
          <a:bodyPr wrap="none" rtlCol="0">
            <a:spAutoFit/>
          </a:bodyPr>
          <a:lstStyle/>
          <a:p>
            <a:r>
              <a:rPr kumimoji="1" lang="en-US" altLang="zh-CN" dirty="0"/>
              <a:t>A</a:t>
            </a:r>
            <a:r>
              <a:rPr kumimoji="1" lang="zh-CN" altLang="en-US" dirty="0"/>
              <a:t>：</a:t>
            </a:r>
            <a:r>
              <a:rPr kumimoji="1" lang="en-US" altLang="zh-CN" dirty="0"/>
              <a:t>DB04844</a:t>
            </a:r>
            <a:endParaRPr kumimoji="1" lang="zh-CN" altLang="en-US" dirty="0"/>
          </a:p>
        </p:txBody>
      </p:sp>
    </p:spTree>
    <p:extLst>
      <p:ext uri="{BB962C8B-B14F-4D97-AF65-F5344CB8AC3E}">
        <p14:creationId xmlns:p14="http://schemas.microsoft.com/office/powerpoint/2010/main" val="3556319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81DF4ADD-9159-D6BC-AB55-4E5EDA8E916B}"/>
              </a:ext>
            </a:extLst>
          </p:cNvPr>
          <p:cNvGraphicFramePr>
            <a:graphicFrameLocks noGrp="1"/>
          </p:cNvGraphicFramePr>
          <p:nvPr>
            <p:extLst>
              <p:ext uri="{D42A27DB-BD31-4B8C-83A1-F6EECF244321}">
                <p14:modId xmlns:p14="http://schemas.microsoft.com/office/powerpoint/2010/main" val="713988613"/>
              </p:ext>
            </p:extLst>
          </p:nvPr>
        </p:nvGraphicFramePr>
        <p:xfrm>
          <a:off x="420642" y="1588137"/>
          <a:ext cx="11350716" cy="4991581"/>
        </p:xfrm>
        <a:graphic>
          <a:graphicData uri="http://schemas.openxmlformats.org/drawingml/2006/table">
            <a:tbl>
              <a:tblPr firstRow="1" bandRow="1">
                <a:tableStyleId>{5C22544A-7EE6-4342-B048-85BDC9FD1C3A}</a:tableStyleId>
              </a:tblPr>
              <a:tblGrid>
                <a:gridCol w="3783572">
                  <a:extLst>
                    <a:ext uri="{9D8B030D-6E8A-4147-A177-3AD203B41FA5}">
                      <a16:colId xmlns:a16="http://schemas.microsoft.com/office/drawing/2014/main" val="2780348814"/>
                    </a:ext>
                  </a:extLst>
                </a:gridCol>
                <a:gridCol w="3783572">
                  <a:extLst>
                    <a:ext uri="{9D8B030D-6E8A-4147-A177-3AD203B41FA5}">
                      <a16:colId xmlns:a16="http://schemas.microsoft.com/office/drawing/2014/main" val="291803849"/>
                    </a:ext>
                  </a:extLst>
                </a:gridCol>
                <a:gridCol w="3783572">
                  <a:extLst>
                    <a:ext uri="{9D8B030D-6E8A-4147-A177-3AD203B41FA5}">
                      <a16:colId xmlns:a16="http://schemas.microsoft.com/office/drawing/2014/main" val="3584091000"/>
                    </a:ext>
                  </a:extLst>
                </a:gridCol>
              </a:tblGrid>
              <a:tr h="571981">
                <a:tc>
                  <a:txBody>
                    <a:bodyPr/>
                    <a:lstStyle/>
                    <a:p>
                      <a:pPr algn="ctr"/>
                      <a:r>
                        <a:rPr lang="zh-CN" altLang="en-US" dirty="0"/>
                        <a:t>脑科学机制</a:t>
                      </a:r>
                    </a:p>
                  </a:txBody>
                  <a:tcPr anchor="ctr"/>
                </a:tc>
                <a:tc>
                  <a:txBody>
                    <a:bodyPr/>
                    <a:lstStyle/>
                    <a:p>
                      <a:pPr algn="ctr"/>
                      <a:r>
                        <a:rPr lang="zh-CN" altLang="en-US" dirty="0"/>
                        <a:t>脑科学中作用</a:t>
                      </a:r>
                    </a:p>
                  </a:txBody>
                  <a:tcPr anchor="ctr"/>
                </a:tc>
                <a:tc>
                  <a:txBody>
                    <a:bodyPr/>
                    <a:lstStyle/>
                    <a:p>
                      <a:pPr algn="ctr"/>
                      <a:r>
                        <a:rPr lang="el-GR" altLang="zh-CN" dirty="0"/>
                        <a:t>θ–γ </a:t>
                      </a:r>
                      <a:r>
                        <a:rPr lang="zh-CN" altLang="el-GR" dirty="0"/>
                        <a:t>推理</a:t>
                      </a:r>
                      <a:r>
                        <a:rPr lang="zh-CN" altLang="en-US" dirty="0"/>
                        <a:t>框架中作用</a:t>
                      </a:r>
                    </a:p>
                  </a:txBody>
                  <a:tcPr anchor="ctr"/>
                </a:tc>
                <a:extLst>
                  <a:ext uri="{0D108BD9-81ED-4DB2-BD59-A6C34878D82A}">
                    <a16:rowId xmlns:a16="http://schemas.microsoft.com/office/drawing/2014/main" val="378499863"/>
                  </a:ext>
                </a:extLst>
              </a:tr>
              <a:tr h="762543">
                <a:tc>
                  <a:txBody>
                    <a:bodyPr/>
                    <a:lstStyle/>
                    <a:p>
                      <a:pPr algn="ctr"/>
                      <a:r>
                        <a:rPr lang="en-US" altLang="zh-CN" sz="1400" dirty="0"/>
                        <a:t>Theta</a:t>
                      </a:r>
                      <a:r>
                        <a:rPr lang="zh-CN" altLang="en-US" sz="1400" dirty="0"/>
                        <a:t> </a:t>
                      </a:r>
                      <a:r>
                        <a:rPr lang="en-US" altLang="zh-CN" sz="1400" dirty="0"/>
                        <a:t>Rhythm</a:t>
                      </a:r>
                      <a:r>
                        <a:rPr lang="zh-CN" altLang="en-US" sz="1400" dirty="0"/>
                        <a:t> </a:t>
                      </a:r>
                      <a:r>
                        <a:rPr lang="el-GR" altLang="zh-CN" sz="1400" b="1" dirty="0"/>
                        <a:t>θ</a:t>
                      </a:r>
                      <a:endParaRPr lang="zh-CN" altLang="en-US" sz="1400" b="1" dirty="0"/>
                    </a:p>
                  </a:txBody>
                  <a:tcPr anchor="ctr"/>
                </a:tc>
                <a:tc>
                  <a:txBody>
                    <a:bodyPr/>
                    <a:lstStyle/>
                    <a:p>
                      <a:pPr algn="l"/>
                      <a:r>
                        <a:rPr lang="zh-CN" altLang="en-US" sz="1400" dirty="0"/>
                        <a:t>低频节律，产生于海马，用于在复杂任务中维持全局任务目标与语义焦点。</a:t>
                      </a:r>
                    </a:p>
                  </a:txBody>
                  <a:tcPr anchor="ctr"/>
                </a:tc>
                <a:tc>
                  <a:txBody>
                    <a:bodyPr/>
                    <a:lstStyle/>
                    <a:p>
                      <a:pPr algn="l"/>
                      <a:r>
                        <a:rPr lang="el-GR" altLang="zh-CN" sz="1400" b="1" dirty="0"/>
                        <a:t>θ </a:t>
                      </a:r>
                      <a:r>
                        <a:rPr lang="en-US" altLang="zh-CN" sz="1400" b="1" dirty="0"/>
                        <a:t>Controller</a:t>
                      </a:r>
                      <a:r>
                        <a:rPr lang="en-US" altLang="zh-CN" sz="1400" dirty="0"/>
                        <a:t>→ </a:t>
                      </a:r>
                      <a:r>
                        <a:rPr lang="zh-CN" altLang="en-US" sz="1400" dirty="0"/>
                        <a:t>维持核心问题语义表示作为全局锚点。</a:t>
                      </a:r>
                      <a:br>
                        <a:rPr lang="zh-CN" altLang="en-US" sz="1400" dirty="0"/>
                      </a:br>
                      <a:r>
                        <a:rPr lang="zh-CN" altLang="en-US" sz="1400" dirty="0"/>
                        <a:t>🧩 </a:t>
                      </a:r>
                      <a:r>
                        <a:rPr lang="zh-CN" altLang="en-US" sz="1400" i="1" dirty="0"/>
                        <a:t>启发</a:t>
                      </a:r>
                      <a:r>
                        <a:rPr lang="en-US" altLang="zh-CN" sz="1400" dirty="0"/>
                        <a:t>: </a:t>
                      </a:r>
                      <a:r>
                        <a:rPr lang="zh-CN" altLang="en-US" sz="1400" dirty="0"/>
                        <a:t>模仿前额叶“任务保持”功能，对抗注意力衰减。</a:t>
                      </a:r>
                    </a:p>
                  </a:txBody>
                  <a:tcPr anchor="ctr"/>
                </a:tc>
                <a:extLst>
                  <a:ext uri="{0D108BD9-81ED-4DB2-BD59-A6C34878D82A}">
                    <a16:rowId xmlns:a16="http://schemas.microsoft.com/office/drawing/2014/main" val="2367062585"/>
                  </a:ext>
                </a:extLst>
              </a:tr>
              <a:tr h="903731">
                <a:tc>
                  <a:txBody>
                    <a:bodyPr/>
                    <a:lstStyle/>
                    <a:p>
                      <a:pPr algn="ctr"/>
                      <a:r>
                        <a:rPr lang="en-US" altLang="zh-CN" sz="1400" dirty="0"/>
                        <a:t>Gamma</a:t>
                      </a:r>
                      <a:r>
                        <a:rPr lang="zh-CN" altLang="en-US" sz="1400" dirty="0"/>
                        <a:t> </a:t>
                      </a:r>
                      <a:r>
                        <a:rPr lang="en-US" altLang="zh-CN" sz="1400" dirty="0"/>
                        <a:t>Rhythm</a:t>
                      </a:r>
                      <a:r>
                        <a:rPr lang="zh-CN" altLang="en-US" sz="1400" dirty="0"/>
                        <a:t> </a:t>
                      </a:r>
                      <a:r>
                        <a:rPr lang="el-GR" altLang="zh-CN" sz="1400" b="1" dirty="0"/>
                        <a:t>γ </a:t>
                      </a:r>
                      <a:endParaRPr lang="zh-CN" altLang="en-US" sz="1400" b="1" dirty="0"/>
                    </a:p>
                  </a:txBody>
                  <a:tcPr anchor="ctr"/>
                </a:tc>
                <a:tc>
                  <a:txBody>
                    <a:bodyPr/>
                    <a:lstStyle/>
                    <a:p>
                      <a:pPr algn="l"/>
                      <a:r>
                        <a:rPr lang="zh-CN" altLang="en-US" sz="1400" dirty="0"/>
                        <a:t>高频节律，产生于前额叶，在一个</a:t>
                      </a:r>
                      <a:r>
                        <a:rPr lang="el-GR" altLang="zh-CN" sz="1400" dirty="0"/>
                        <a:t>θ</a:t>
                      </a:r>
                      <a:r>
                        <a:rPr lang="zh-CN" altLang="en-US" sz="1400" dirty="0"/>
                        <a:t>周期中，多个</a:t>
                      </a:r>
                      <a:r>
                        <a:rPr lang="el-GR" altLang="zh-CN" sz="1400" dirty="0"/>
                        <a:t>γ</a:t>
                      </a:r>
                      <a:r>
                        <a:rPr lang="zh-CN" altLang="en-US" sz="1400" dirty="0"/>
                        <a:t>脉冲分别编码不同的瞬时信息单元，体现并行表征能力。</a:t>
                      </a:r>
                    </a:p>
                  </a:txBody>
                  <a:tcPr anchor="ctr"/>
                </a:tc>
                <a:tc>
                  <a:txBody>
                    <a:bodyPr/>
                    <a:lstStyle/>
                    <a:p>
                      <a:pPr algn="l"/>
                      <a:r>
                        <a:rPr lang="el-GR" altLang="zh-CN" sz="1400" b="1" dirty="0"/>
                        <a:t>γ-</a:t>
                      </a:r>
                      <a:r>
                        <a:rPr lang="en-US" altLang="zh-CN" sz="1400" b="1" dirty="0"/>
                        <a:t>slot Working Memory Layer</a:t>
                      </a:r>
                      <a:r>
                        <a:rPr lang="en-US" altLang="zh-CN" sz="1400" dirty="0"/>
                        <a:t>→ </a:t>
                      </a:r>
                      <a:r>
                        <a:rPr lang="zh-CN" altLang="en-US" sz="1400" dirty="0"/>
                        <a:t>在每个 </a:t>
                      </a:r>
                      <a:r>
                        <a:rPr lang="el-GR" altLang="zh-CN" sz="1400" dirty="0"/>
                        <a:t>θ </a:t>
                      </a:r>
                      <a:r>
                        <a:rPr lang="zh-CN" altLang="en-US" sz="1400" dirty="0"/>
                        <a:t>周期内生成多个并行推理分支。 每个 </a:t>
                      </a:r>
                      <a:r>
                        <a:rPr lang="el-GR" altLang="zh-CN" sz="1400" dirty="0"/>
                        <a:t>γ-</a:t>
                      </a:r>
                      <a:r>
                        <a:rPr lang="en-US" altLang="zh-CN" sz="1400" dirty="0"/>
                        <a:t>slot </a:t>
                      </a:r>
                      <a:r>
                        <a:rPr lang="zh-CN" altLang="en-US" sz="1400" dirty="0"/>
                        <a:t>存储一个“中间假设 </a:t>
                      </a:r>
                      <a:r>
                        <a:rPr lang="en-US" altLang="zh-CN" sz="1400" dirty="0"/>
                        <a:t>+ </a:t>
                      </a:r>
                      <a:r>
                        <a:rPr lang="zh-CN" altLang="en-US" sz="1400" dirty="0"/>
                        <a:t>支撑证据”。</a:t>
                      </a:r>
                      <a:br>
                        <a:rPr lang="zh-CN" altLang="en-US" sz="1400" dirty="0"/>
                      </a:br>
                      <a:r>
                        <a:rPr lang="zh-CN" altLang="en-US" sz="1400" dirty="0"/>
                        <a:t>🧩 </a:t>
                      </a:r>
                      <a:r>
                        <a:rPr lang="zh-CN" altLang="en-US" sz="1400" i="1" dirty="0"/>
                        <a:t>启发</a:t>
                      </a:r>
                      <a:r>
                        <a:rPr lang="en-US" altLang="zh-CN" sz="1400" dirty="0"/>
                        <a:t>: </a:t>
                      </a:r>
                      <a:r>
                        <a:rPr lang="zh-CN" altLang="en-US" sz="1400" dirty="0"/>
                        <a:t>模仿大脑中</a:t>
                      </a:r>
                      <a:r>
                        <a:rPr lang="el-GR" altLang="zh-CN" sz="1400" dirty="0"/>
                        <a:t>γ</a:t>
                      </a:r>
                      <a:r>
                        <a:rPr lang="zh-CN" altLang="en-US" sz="1400" dirty="0"/>
                        <a:t>波的“多项并行处理”，防止逻辑空间塌陷。</a:t>
                      </a:r>
                    </a:p>
                  </a:txBody>
                  <a:tcPr anchor="ctr"/>
                </a:tc>
                <a:extLst>
                  <a:ext uri="{0D108BD9-81ED-4DB2-BD59-A6C34878D82A}">
                    <a16:rowId xmlns:a16="http://schemas.microsoft.com/office/drawing/2014/main" val="73502362"/>
                  </a:ext>
                </a:extLst>
              </a:tr>
              <a:tr h="648926">
                <a:tc>
                  <a:txBody>
                    <a:bodyPr/>
                    <a:lstStyle/>
                    <a:p>
                      <a:pPr algn="ctr"/>
                      <a:r>
                        <a:rPr lang="en-US" altLang="zh-CN" sz="1400" dirty="0"/>
                        <a:t>Theta-Gamma</a:t>
                      </a:r>
                      <a:r>
                        <a:rPr lang="zh-CN" altLang="en-US" sz="1400" dirty="0"/>
                        <a:t> </a:t>
                      </a:r>
                      <a:r>
                        <a:rPr lang="en-US" altLang="zh-CN" sz="1400" dirty="0"/>
                        <a:t>Coupling</a:t>
                      </a:r>
                      <a:r>
                        <a:rPr lang="zh-CN" altLang="en-US" sz="1400" dirty="0"/>
                        <a:t> </a:t>
                      </a:r>
                      <a:r>
                        <a:rPr lang="el-GR" altLang="zh-CN" sz="1400" b="1" dirty="0"/>
                        <a:t>θ–γ</a:t>
                      </a:r>
                      <a:r>
                        <a:rPr lang="el-GR" altLang="zh-CN" sz="1400" dirty="0"/>
                        <a:t> </a:t>
                      </a:r>
                      <a:endParaRPr lang="zh-CN" alt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前额叶在</a:t>
                      </a:r>
                      <a:r>
                        <a:rPr lang="el-GR" altLang="zh-CN" sz="1400" dirty="0"/>
                        <a:t>γ</a:t>
                      </a:r>
                      <a:r>
                        <a:rPr lang="zh-CN" altLang="el-GR" sz="1400" dirty="0"/>
                        <a:t>相位</a:t>
                      </a:r>
                      <a:r>
                        <a:rPr lang="zh-CN" altLang="en-US" sz="1400" dirty="0"/>
                        <a:t>负责任务规划，海马负责在</a:t>
                      </a:r>
                      <a:r>
                        <a:rPr lang="el-GR" altLang="zh-CN" sz="1400" dirty="0"/>
                        <a:t>θ</a:t>
                      </a:r>
                      <a:r>
                        <a:rPr lang="zh-CN" altLang="en-US" sz="1400" dirty="0"/>
                        <a:t>相位记忆重现与路径推理，两者通过</a:t>
                      </a:r>
                      <a:r>
                        <a:rPr lang="el-GR" altLang="zh-CN" sz="1400" dirty="0"/>
                        <a:t>θ–γ</a:t>
                      </a:r>
                      <a:r>
                        <a:rPr lang="zh-CN" altLang="en-US" sz="1400" dirty="0"/>
                        <a:t>耦合进行跨模态整合。</a:t>
                      </a:r>
                    </a:p>
                  </a:txBody>
                  <a:tcPr anchor="ctr"/>
                </a:tc>
                <a:tc>
                  <a:txBody>
                    <a:bodyPr/>
                    <a:lstStyle/>
                    <a:p>
                      <a:pPr algn="l"/>
                      <a:r>
                        <a:rPr lang="zh-CN" altLang="en-US" sz="1400" dirty="0"/>
                        <a:t>外层 </a:t>
                      </a:r>
                      <a:r>
                        <a:rPr lang="el-GR" altLang="zh-CN" sz="1400" dirty="0"/>
                        <a:t>θ </a:t>
                      </a:r>
                      <a:r>
                        <a:rPr lang="zh-CN" altLang="en-US" sz="1400" dirty="0"/>
                        <a:t>控制循环调度，内层 </a:t>
                      </a:r>
                      <a:r>
                        <a:rPr lang="el-GR" altLang="zh-CN" sz="1400" dirty="0"/>
                        <a:t>γ-</a:t>
                      </a:r>
                      <a:r>
                        <a:rPr lang="en-US" altLang="zh-CN" sz="1400" dirty="0"/>
                        <a:t>slot </a:t>
                      </a:r>
                      <a:r>
                        <a:rPr lang="zh-CN" altLang="en-US" sz="1400" dirty="0"/>
                        <a:t>并行更新。</a:t>
                      </a:r>
                      <a:br>
                        <a:rPr lang="zh-CN" altLang="en-US" sz="1400" dirty="0"/>
                      </a:br>
                      <a:r>
                        <a:rPr lang="zh-CN" altLang="en-US" sz="1400" dirty="0"/>
                        <a:t>→ 每个循环结束执行一致性检查（</a:t>
                      </a:r>
                      <a:r>
                        <a:rPr lang="en-US" altLang="zh-CN" sz="1400" dirty="0"/>
                        <a:t>consistency integration</a:t>
                      </a:r>
                      <a:r>
                        <a:rPr lang="zh-CN" altLang="en-US" sz="1400" dirty="0"/>
                        <a:t>）。</a:t>
                      </a:r>
                      <a:br>
                        <a:rPr lang="zh-CN" altLang="en-US" sz="1400" dirty="0"/>
                      </a:br>
                      <a:r>
                        <a:rPr lang="zh-CN" altLang="en-US" sz="1400" dirty="0"/>
                        <a:t>🧩 </a:t>
                      </a:r>
                      <a:r>
                        <a:rPr lang="zh-CN" altLang="en-US" sz="1400" i="1" dirty="0"/>
                        <a:t>启发</a:t>
                      </a:r>
                      <a:r>
                        <a:rPr lang="en-US" altLang="zh-CN" sz="1400" dirty="0"/>
                        <a:t>: </a:t>
                      </a:r>
                      <a:r>
                        <a:rPr lang="zh-CN" altLang="en-US" sz="1400" dirty="0"/>
                        <a:t>模仿大脑中层级同步机制。</a:t>
                      </a:r>
                    </a:p>
                  </a:txBody>
                  <a:tcPr anchor="ctr"/>
                </a:tc>
                <a:extLst>
                  <a:ext uri="{0D108BD9-81ED-4DB2-BD59-A6C34878D82A}">
                    <a16:rowId xmlns:a16="http://schemas.microsoft.com/office/drawing/2014/main" val="2308379458"/>
                  </a:ext>
                </a:extLst>
              </a:tr>
              <a:tr h="571981">
                <a:tc>
                  <a:txBody>
                    <a:bodyPr/>
                    <a:lstStyle/>
                    <a:p>
                      <a:pPr algn="ctr"/>
                      <a:r>
                        <a:rPr lang="en-US" altLang="zh-CN" sz="1400" dirty="0"/>
                        <a:t>Anterior Cingulate Cortex </a:t>
                      </a:r>
                      <a:r>
                        <a:rPr lang="en-US" altLang="zh-CN" sz="1400" b="1" dirty="0"/>
                        <a:t>ACC</a:t>
                      </a:r>
                      <a:endParaRPr lang="zh-CN" altLang="en-US" sz="1400" b="1" dirty="0"/>
                    </a:p>
                  </a:txBody>
                  <a:tcPr anchor="ctr"/>
                </a:tc>
                <a:tc>
                  <a:txBody>
                    <a:bodyPr/>
                    <a:lstStyle/>
                    <a:p>
                      <a:pPr algn="l"/>
                      <a:r>
                        <a:rPr lang="zh-CN" altLang="en-US" sz="1400" dirty="0"/>
                        <a:t>监控冲突与错误，当检测到偏离目标或认知失调时，触发</a:t>
                      </a:r>
                      <a:r>
                        <a:rPr lang="el-GR" altLang="zh-CN" sz="1400" dirty="0"/>
                        <a:t>θ</a:t>
                      </a:r>
                      <a:r>
                        <a:rPr lang="zh-CN" altLang="en-US" sz="1400" dirty="0"/>
                        <a:t>相位重置与行为调整。</a:t>
                      </a:r>
                    </a:p>
                  </a:txBody>
                  <a:tcPr anchor="ctr"/>
                </a:tc>
                <a:tc>
                  <a:txBody>
                    <a:bodyPr/>
                    <a:lstStyle/>
                    <a:p>
                      <a:pPr algn="l"/>
                      <a:r>
                        <a:rPr lang="en-US" altLang="zh-CN" sz="1400" b="1" dirty="0"/>
                        <a:t>ACC Error Monitor </a:t>
                      </a:r>
                      <a:r>
                        <a:rPr lang="en-US" altLang="zh-CN" sz="1400" dirty="0"/>
                        <a:t>→ </a:t>
                      </a:r>
                      <a:r>
                        <a:rPr lang="zh-CN" altLang="en-US" sz="1400" dirty="0"/>
                        <a:t>动态监测当前 </a:t>
                      </a:r>
                      <a:r>
                        <a:rPr lang="en-US" altLang="zh-CN" sz="1400" dirty="0"/>
                        <a:t>reasoning chain </a:t>
                      </a:r>
                      <a:r>
                        <a:rPr lang="zh-CN" altLang="en-US" sz="1400" dirty="0"/>
                        <a:t>与核心 </a:t>
                      </a:r>
                      <a:r>
                        <a:rPr lang="en-US" altLang="zh-CN" sz="1400" dirty="0"/>
                        <a:t>query </a:t>
                      </a:r>
                      <a:r>
                        <a:rPr lang="zh-CN" altLang="en-US" sz="1400" dirty="0"/>
                        <a:t>的语义偏差。若偏差高，触发 </a:t>
                      </a:r>
                      <a:r>
                        <a:rPr lang="en-US" altLang="zh-CN" sz="1400" b="1" dirty="0"/>
                        <a:t>re-evaluation / backtracking</a:t>
                      </a:r>
                      <a:r>
                        <a:rPr lang="zh-CN" altLang="en-US" sz="1400" dirty="0"/>
                        <a:t>，重新激活候选路径。</a:t>
                      </a:r>
                      <a:br>
                        <a:rPr lang="zh-CN" altLang="en-US" sz="1400" dirty="0"/>
                      </a:br>
                      <a:r>
                        <a:rPr lang="zh-CN" altLang="en-US" sz="1400" dirty="0"/>
                        <a:t>🧩 </a:t>
                      </a:r>
                      <a:r>
                        <a:rPr lang="zh-CN" altLang="en-US" sz="1400" i="1" dirty="0"/>
                        <a:t>启发</a:t>
                      </a:r>
                      <a:r>
                        <a:rPr lang="en-US" altLang="zh-CN" sz="1400" dirty="0"/>
                        <a:t>: </a:t>
                      </a:r>
                      <a:r>
                        <a:rPr lang="zh-CN" altLang="en-US" sz="1400" dirty="0"/>
                        <a:t>模仿</a:t>
                      </a:r>
                      <a:r>
                        <a:rPr lang="en-US" altLang="zh-CN" sz="1400" dirty="0"/>
                        <a:t>ACC</a:t>
                      </a:r>
                      <a:r>
                        <a:rPr lang="zh-CN" altLang="en-US" sz="1400" dirty="0"/>
                        <a:t>的冲突监测机制，防止早期错误放大。</a:t>
                      </a:r>
                    </a:p>
                  </a:txBody>
                  <a:tcPr anchor="ctr"/>
                </a:tc>
                <a:extLst>
                  <a:ext uri="{0D108BD9-81ED-4DB2-BD59-A6C34878D82A}">
                    <a16:rowId xmlns:a16="http://schemas.microsoft.com/office/drawing/2014/main" val="1909242514"/>
                  </a:ext>
                </a:extLst>
              </a:tr>
            </a:tbl>
          </a:graphicData>
        </a:graphic>
      </p:graphicFrame>
      <p:sp>
        <p:nvSpPr>
          <p:cNvPr id="8" name="标题 1">
            <a:extLst>
              <a:ext uri="{FF2B5EF4-FFF2-40B4-BE49-F238E27FC236}">
                <a16:creationId xmlns:a16="http://schemas.microsoft.com/office/drawing/2014/main" id="{92E34F1B-F86A-54E8-9328-A49F227ADD5D}"/>
              </a:ext>
            </a:extLst>
          </p:cNvPr>
          <p:cNvSpPr txBox="1">
            <a:spLocks/>
          </p:cNvSpPr>
          <p:nvPr/>
        </p:nvSpPr>
        <p:spPr>
          <a:xfrm>
            <a:off x="614585" y="26257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t>Mechanism Proposed Architecture:</a:t>
            </a:r>
            <a:br>
              <a:rPr lang="en-US" altLang="zh-CN"/>
            </a:br>
            <a:r>
              <a:rPr lang="en-US" altLang="zh-CN"/>
              <a:t>Theta-Gamma Reasoning Architecture</a:t>
            </a:r>
            <a:endParaRPr kumimoji="1" lang="zh-CN" altLang="en-US" dirty="0"/>
          </a:p>
        </p:txBody>
      </p:sp>
    </p:spTree>
    <p:extLst>
      <p:ext uri="{BB962C8B-B14F-4D97-AF65-F5344CB8AC3E}">
        <p14:creationId xmlns:p14="http://schemas.microsoft.com/office/powerpoint/2010/main" val="1521761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D23DA-92EE-99AC-8E5E-DD337D5E77A8}"/>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BFF7DC62-D83A-50F5-1483-58450FBC870D}"/>
              </a:ext>
            </a:extLst>
          </p:cNvPr>
          <p:cNvSpPr txBox="1">
            <a:spLocks/>
          </p:cNvSpPr>
          <p:nvPr/>
        </p:nvSpPr>
        <p:spPr>
          <a:xfrm>
            <a:off x="614585" y="26257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t>Mechanism Proposed Architecture:</a:t>
            </a:r>
            <a:br>
              <a:rPr lang="en-US" altLang="zh-CN"/>
            </a:br>
            <a:r>
              <a:rPr lang="en-US" altLang="zh-CN"/>
              <a:t>Theta-Gamma Reasoning Architecture</a:t>
            </a:r>
            <a:endParaRPr kumimoji="1" lang="zh-CN" altLang="en-US" dirty="0"/>
          </a:p>
        </p:txBody>
      </p:sp>
      <p:graphicFrame>
        <p:nvGraphicFramePr>
          <p:cNvPr id="2" name="表格 1">
            <a:extLst>
              <a:ext uri="{FF2B5EF4-FFF2-40B4-BE49-F238E27FC236}">
                <a16:creationId xmlns:a16="http://schemas.microsoft.com/office/drawing/2014/main" id="{EC687DD9-5220-AA60-A56D-C04570809E04}"/>
              </a:ext>
            </a:extLst>
          </p:cNvPr>
          <p:cNvGraphicFramePr>
            <a:graphicFrameLocks noGrp="1"/>
          </p:cNvGraphicFramePr>
          <p:nvPr>
            <p:extLst>
              <p:ext uri="{D42A27DB-BD31-4B8C-83A1-F6EECF244321}">
                <p14:modId xmlns:p14="http://schemas.microsoft.com/office/powerpoint/2010/main" val="2936332553"/>
              </p:ext>
            </p:extLst>
          </p:nvPr>
        </p:nvGraphicFramePr>
        <p:xfrm>
          <a:off x="802863" y="2315129"/>
          <a:ext cx="3200400" cy="20218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tblGrid>
              <a:tr h="370840">
                <a:tc>
                  <a:txBody>
                    <a:bodyPr/>
                    <a:lstStyle/>
                    <a:p>
                      <a:pPr algn="ctr"/>
                      <a:r>
                        <a:rPr lang="en-US" altLang="zh-CN" dirty="0"/>
                        <a:t>Theta</a:t>
                      </a:r>
                      <a:endParaRPr lang="zh-CN" altLang="en-US" dirty="0"/>
                    </a:p>
                  </a:txBody>
                  <a:tcPr anchor="ctr"/>
                </a:tc>
                <a:extLst>
                  <a:ext uri="{0D108BD9-81ED-4DB2-BD59-A6C34878D82A}">
                    <a16:rowId xmlns:a16="http://schemas.microsoft.com/office/drawing/2014/main" val="10000"/>
                  </a:ext>
                </a:extLst>
              </a:tr>
              <a:tr h="370840">
                <a:tc>
                  <a:txBody>
                    <a:bodyPr/>
                    <a:lstStyle/>
                    <a:p>
                      <a:pPr algn="ctr"/>
                      <a:r>
                        <a:rPr lang="zh-CN" altLang="en-US" dirty="0"/>
                        <a:t>问题分解</a:t>
                      </a:r>
                      <a:br>
                        <a:rPr lang="en-US" altLang="zh-CN" dirty="0"/>
                      </a:br>
                      <a:r>
                        <a:rPr lang="en-US" altLang="zh-CN" dirty="0"/>
                        <a:t>Decomposition</a:t>
                      </a:r>
                      <a:endParaRPr lang="zh-CN" altLang="en-US" dirty="0"/>
                    </a:p>
                  </a:txBody>
                  <a:tcPr anchor="ctr"/>
                </a:tc>
                <a:extLst>
                  <a:ext uri="{0D108BD9-81ED-4DB2-BD59-A6C34878D82A}">
                    <a16:rowId xmlns:a16="http://schemas.microsoft.com/office/drawing/2014/main" val="10001"/>
                  </a:ext>
                </a:extLst>
              </a:tr>
              <a:tr h="370840">
                <a:tc>
                  <a:txBody>
                    <a:bodyPr/>
                    <a:lstStyle/>
                    <a:p>
                      <a:pPr algn="ctr"/>
                      <a:r>
                        <a:rPr lang="zh-CN" altLang="en-US" dirty="0"/>
                        <a:t>逻辑空间构建</a:t>
                      </a:r>
                      <a:endParaRPr lang="en-US" altLang="zh-CN" dirty="0"/>
                    </a:p>
                    <a:p>
                      <a:pPr algn="ctr"/>
                      <a:r>
                        <a:rPr lang="en-US" altLang="zh-CN" dirty="0"/>
                        <a:t>Seq2DAG</a:t>
                      </a:r>
                      <a:endParaRPr lang="zh-CN" altLang="en-US" dirty="0"/>
                    </a:p>
                  </a:txBody>
                  <a:tcPr anchor="ctr"/>
                </a:tc>
                <a:extLst>
                  <a:ext uri="{0D108BD9-81ED-4DB2-BD59-A6C34878D82A}">
                    <a16:rowId xmlns:a16="http://schemas.microsoft.com/office/drawing/2014/main" val="10002"/>
                  </a:ext>
                </a:extLst>
              </a:tr>
              <a:tr h="370840">
                <a:tc>
                  <a:txBody>
                    <a:bodyPr/>
                    <a:lstStyle/>
                    <a:p>
                      <a:pPr algn="ctr"/>
                      <a:r>
                        <a:rPr lang="en-US" altLang="zh-CN" dirty="0"/>
                        <a:t>…</a:t>
                      </a:r>
                      <a:endParaRPr lang="zh-CN" altLang="en-US" dirty="0"/>
                    </a:p>
                  </a:txBody>
                  <a:tcPr anchor="ctr"/>
                </a:tc>
                <a:extLst>
                  <a:ext uri="{0D108BD9-81ED-4DB2-BD59-A6C34878D82A}">
                    <a16:rowId xmlns:a16="http://schemas.microsoft.com/office/drawing/2014/main" val="10005"/>
                  </a:ext>
                </a:extLst>
              </a:tr>
            </a:tbl>
          </a:graphicData>
        </a:graphic>
      </p:graphicFrame>
      <p:graphicFrame>
        <p:nvGraphicFramePr>
          <p:cNvPr id="3" name="表格 2">
            <a:extLst>
              <a:ext uri="{FF2B5EF4-FFF2-40B4-BE49-F238E27FC236}">
                <a16:creationId xmlns:a16="http://schemas.microsoft.com/office/drawing/2014/main" id="{5BBDA686-DEB0-65E6-E10D-A012B91D4FAB}"/>
              </a:ext>
            </a:extLst>
          </p:cNvPr>
          <p:cNvGraphicFramePr>
            <a:graphicFrameLocks noGrp="1"/>
          </p:cNvGraphicFramePr>
          <p:nvPr>
            <p:extLst>
              <p:ext uri="{D42A27DB-BD31-4B8C-83A1-F6EECF244321}">
                <p14:modId xmlns:p14="http://schemas.microsoft.com/office/powerpoint/2010/main" val="3797826156"/>
              </p:ext>
            </p:extLst>
          </p:nvPr>
        </p:nvGraphicFramePr>
        <p:xfrm>
          <a:off x="4429017" y="2315129"/>
          <a:ext cx="3200400" cy="2661920"/>
        </p:xfrm>
        <a:graphic>
          <a:graphicData uri="http://schemas.openxmlformats.org/drawingml/2006/table">
            <a:tbl>
              <a:tblPr firstRow="1" bandRow="1">
                <a:tableStyleId>{21E4AEA4-8DFA-4A89-87EB-49C32662AFE0}</a:tableStyleId>
              </a:tblPr>
              <a:tblGrid>
                <a:gridCol w="3200400">
                  <a:extLst>
                    <a:ext uri="{9D8B030D-6E8A-4147-A177-3AD203B41FA5}">
                      <a16:colId xmlns:a16="http://schemas.microsoft.com/office/drawing/2014/main" val="20000"/>
                    </a:ext>
                  </a:extLst>
                </a:gridCol>
              </a:tblGrid>
              <a:tr h="370840">
                <a:tc>
                  <a:txBody>
                    <a:bodyPr/>
                    <a:lstStyle/>
                    <a:p>
                      <a:pPr algn="ctr"/>
                      <a:r>
                        <a:rPr lang="en-US" altLang="zh-CN" dirty="0"/>
                        <a:t>Gamma</a:t>
                      </a:r>
                      <a:endParaRPr lang="zh-CN" altLang="en-US" dirty="0"/>
                    </a:p>
                  </a:txBody>
                  <a:tcPr anchor="ctr"/>
                </a:tc>
                <a:extLst>
                  <a:ext uri="{0D108BD9-81ED-4DB2-BD59-A6C34878D82A}">
                    <a16:rowId xmlns:a16="http://schemas.microsoft.com/office/drawing/2014/main" val="10000"/>
                  </a:ext>
                </a:extLst>
              </a:tr>
              <a:tr h="370840">
                <a:tc>
                  <a:txBody>
                    <a:bodyPr/>
                    <a:lstStyle/>
                    <a:p>
                      <a:pPr algn="ctr"/>
                      <a:r>
                        <a:rPr lang="zh-CN" altLang="en-US" dirty="0"/>
                        <a:t>别名检测</a:t>
                      </a:r>
                      <a:endParaRPr lang="en-US" altLang="zh-CN" dirty="0"/>
                    </a:p>
                    <a:p>
                      <a:pPr algn="ctr"/>
                      <a:r>
                        <a:rPr lang="en-US" altLang="zh-CN" dirty="0"/>
                        <a:t>Alias</a:t>
                      </a:r>
                      <a:r>
                        <a:rPr lang="zh-CN" altLang="en-US" dirty="0"/>
                        <a:t> </a:t>
                      </a:r>
                      <a:r>
                        <a:rPr lang="en-US" altLang="zh-CN" dirty="0"/>
                        <a:t>Expansion</a:t>
                      </a:r>
                      <a:endParaRPr lang="zh-CN" altLang="en-US" dirty="0"/>
                    </a:p>
                  </a:txBody>
                  <a:tcPr anchor="ctr"/>
                </a:tc>
                <a:extLst>
                  <a:ext uri="{0D108BD9-81ED-4DB2-BD59-A6C34878D82A}">
                    <a16:rowId xmlns:a16="http://schemas.microsoft.com/office/drawing/2014/main" val="10001"/>
                  </a:ext>
                </a:extLst>
              </a:tr>
              <a:tr h="370840">
                <a:tc>
                  <a:txBody>
                    <a:bodyPr/>
                    <a:lstStyle/>
                    <a:p>
                      <a:pPr algn="ctr"/>
                      <a:r>
                        <a:rPr lang="zh-CN" altLang="en-US" dirty="0"/>
                        <a:t>混合检索</a:t>
                      </a:r>
                      <a:endParaRPr lang="en-US" altLang="zh-CN" dirty="0"/>
                    </a:p>
                    <a:p>
                      <a:pPr algn="ctr"/>
                      <a:r>
                        <a:rPr lang="en-US" altLang="zh-CN" dirty="0"/>
                        <a:t>Hybrid</a:t>
                      </a:r>
                      <a:r>
                        <a:rPr lang="zh-CN" altLang="en-US" dirty="0"/>
                        <a:t> </a:t>
                      </a:r>
                      <a:r>
                        <a:rPr lang="en-US" altLang="zh-CN" dirty="0"/>
                        <a:t>Retrieval</a:t>
                      </a:r>
                      <a:endParaRPr lang="zh-CN" altLang="en-US" dirty="0"/>
                    </a:p>
                  </a:txBody>
                  <a:tcPr anchor="ctr"/>
                </a:tc>
                <a:extLst>
                  <a:ext uri="{0D108BD9-81ED-4DB2-BD59-A6C34878D82A}">
                    <a16:rowId xmlns:a16="http://schemas.microsoft.com/office/drawing/2014/main" val="10002"/>
                  </a:ext>
                </a:extLst>
              </a:tr>
              <a:tr h="370840">
                <a:tc>
                  <a:txBody>
                    <a:bodyPr/>
                    <a:lstStyle/>
                    <a:p>
                      <a:pPr algn="ctr"/>
                      <a:r>
                        <a:rPr lang="zh-CN" altLang="en-US" dirty="0"/>
                        <a:t>工作记忆空间</a:t>
                      </a:r>
                      <a:endParaRPr lang="en-US" altLang="zh-CN" dirty="0"/>
                    </a:p>
                    <a:p>
                      <a:pPr algn="ctr"/>
                      <a:r>
                        <a:rPr lang="en-US" altLang="zh-CN" dirty="0"/>
                        <a:t>Work</a:t>
                      </a:r>
                      <a:r>
                        <a:rPr lang="zh-CN" altLang="en-US" dirty="0"/>
                        <a:t> </a:t>
                      </a:r>
                      <a:r>
                        <a:rPr lang="en-US" altLang="zh-CN" dirty="0"/>
                        <a:t>Memory</a:t>
                      </a:r>
                      <a:endParaRPr lang="zh-CN" altLang="en-US" dirty="0"/>
                    </a:p>
                  </a:txBody>
                  <a:tcPr anchor="ctr"/>
                </a:tc>
                <a:extLst>
                  <a:ext uri="{0D108BD9-81ED-4DB2-BD59-A6C34878D82A}">
                    <a16:rowId xmlns:a16="http://schemas.microsoft.com/office/drawing/2014/main" val="10003"/>
                  </a:ext>
                </a:extLst>
              </a:tr>
              <a:tr h="370840">
                <a:tc>
                  <a:txBody>
                    <a:bodyPr/>
                    <a:lstStyle/>
                    <a:p>
                      <a:pPr algn="ctr"/>
                      <a:r>
                        <a:rPr lang="en-US" altLang="zh-CN" dirty="0"/>
                        <a:t>…</a:t>
                      </a:r>
                      <a:endParaRPr lang="zh-CN" altLang="en-US" dirty="0"/>
                    </a:p>
                  </a:txBody>
                  <a:tcPr anchor="ctr"/>
                </a:tc>
                <a:extLst>
                  <a:ext uri="{0D108BD9-81ED-4DB2-BD59-A6C34878D82A}">
                    <a16:rowId xmlns:a16="http://schemas.microsoft.com/office/drawing/2014/main" val="10004"/>
                  </a:ext>
                </a:extLst>
              </a:tr>
            </a:tbl>
          </a:graphicData>
        </a:graphic>
      </p:graphicFrame>
      <p:graphicFrame>
        <p:nvGraphicFramePr>
          <p:cNvPr id="5" name="表格 4">
            <a:extLst>
              <a:ext uri="{FF2B5EF4-FFF2-40B4-BE49-F238E27FC236}">
                <a16:creationId xmlns:a16="http://schemas.microsoft.com/office/drawing/2014/main" id="{D5525089-D312-0C4A-B64A-232FF01FEFCD}"/>
              </a:ext>
            </a:extLst>
          </p:cNvPr>
          <p:cNvGraphicFramePr>
            <a:graphicFrameLocks noGrp="1"/>
          </p:cNvGraphicFramePr>
          <p:nvPr>
            <p:extLst>
              <p:ext uri="{D42A27DB-BD31-4B8C-83A1-F6EECF244321}">
                <p14:modId xmlns:p14="http://schemas.microsoft.com/office/powerpoint/2010/main" val="1322299314"/>
              </p:ext>
            </p:extLst>
          </p:nvPr>
        </p:nvGraphicFramePr>
        <p:xfrm>
          <a:off x="8055171" y="2316480"/>
          <a:ext cx="3716867" cy="2021840"/>
        </p:xfrm>
        <a:graphic>
          <a:graphicData uri="http://schemas.openxmlformats.org/drawingml/2006/table">
            <a:tbl>
              <a:tblPr firstRow="1" bandRow="1">
                <a:tableStyleId>{F5AB1C69-6EDB-4FF4-983F-18BD219EF322}</a:tableStyleId>
              </a:tblPr>
              <a:tblGrid>
                <a:gridCol w="3716867">
                  <a:extLst>
                    <a:ext uri="{9D8B030D-6E8A-4147-A177-3AD203B41FA5}">
                      <a16:colId xmlns:a16="http://schemas.microsoft.com/office/drawing/2014/main" val="676507806"/>
                    </a:ext>
                  </a:extLst>
                </a:gridCol>
              </a:tblGrid>
              <a:tr h="370840">
                <a:tc>
                  <a:txBody>
                    <a:bodyPr/>
                    <a:lstStyle/>
                    <a:p>
                      <a:pPr algn="ctr"/>
                      <a:r>
                        <a:rPr lang="en-US" altLang="zh-CN" dirty="0"/>
                        <a:t>ACC</a:t>
                      </a:r>
                      <a:r>
                        <a:rPr lang="zh-CN" altLang="en-US" dirty="0"/>
                        <a:t>前扣带回机制</a:t>
                      </a:r>
                    </a:p>
                  </a:txBody>
                  <a:tcPr anchor="ctr"/>
                </a:tc>
                <a:extLst>
                  <a:ext uri="{0D108BD9-81ED-4DB2-BD59-A6C34878D82A}">
                    <a16:rowId xmlns:a16="http://schemas.microsoft.com/office/drawing/2014/main" val="3943534251"/>
                  </a:ext>
                </a:extLst>
              </a:tr>
              <a:tr h="370840">
                <a:tc>
                  <a:txBody>
                    <a:bodyPr/>
                    <a:lstStyle/>
                    <a:p>
                      <a:pPr algn="ctr"/>
                      <a:r>
                        <a:rPr lang="zh-CN" altLang="en-US" dirty="0"/>
                        <a:t>冲突检测</a:t>
                      </a:r>
                      <a:endParaRPr lang="en-US" altLang="zh-CN" dirty="0"/>
                    </a:p>
                    <a:p>
                      <a:pPr algn="ctr"/>
                      <a:r>
                        <a:rPr lang="en-US" altLang="zh-CN" dirty="0"/>
                        <a:t>Interaction</a:t>
                      </a:r>
                      <a:r>
                        <a:rPr lang="zh-CN" altLang="en-US" dirty="0"/>
                        <a:t> </a:t>
                      </a:r>
                      <a:r>
                        <a:rPr lang="en-US" altLang="zh-CN" dirty="0"/>
                        <a:t>Detection</a:t>
                      </a:r>
                      <a:endParaRPr lang="zh-CN" altLang="en-US" dirty="0"/>
                    </a:p>
                  </a:txBody>
                  <a:tcPr anchor="ctr"/>
                </a:tc>
                <a:extLst>
                  <a:ext uri="{0D108BD9-81ED-4DB2-BD59-A6C34878D82A}">
                    <a16:rowId xmlns:a16="http://schemas.microsoft.com/office/drawing/2014/main" val="1326098273"/>
                  </a:ext>
                </a:extLst>
              </a:tr>
              <a:tr h="370840">
                <a:tc>
                  <a:txBody>
                    <a:bodyPr/>
                    <a:lstStyle/>
                    <a:p>
                      <a:pPr algn="ctr"/>
                      <a:r>
                        <a:rPr lang="zh-CN" altLang="en-US" dirty="0"/>
                        <a:t>错误预测</a:t>
                      </a:r>
                      <a:endParaRPr lang="en-US" altLang="zh-CN" dirty="0"/>
                    </a:p>
                    <a:p>
                      <a:pPr algn="ctr"/>
                      <a:r>
                        <a:rPr lang="en-US" altLang="zh-CN" dirty="0"/>
                        <a:t>Error</a:t>
                      </a:r>
                      <a:r>
                        <a:rPr lang="zh-CN" altLang="en-US" dirty="0"/>
                        <a:t> </a:t>
                      </a:r>
                      <a:r>
                        <a:rPr lang="en-US" altLang="zh-CN" dirty="0"/>
                        <a:t>Prediction</a:t>
                      </a:r>
                      <a:endParaRPr lang="zh-CN" altLang="en-US" dirty="0"/>
                    </a:p>
                  </a:txBody>
                  <a:tcPr anchor="ctr"/>
                </a:tc>
                <a:extLst>
                  <a:ext uri="{0D108BD9-81ED-4DB2-BD59-A6C34878D82A}">
                    <a16:rowId xmlns:a16="http://schemas.microsoft.com/office/drawing/2014/main" val="2585774747"/>
                  </a:ext>
                </a:extLst>
              </a:tr>
              <a:tr h="370840">
                <a:tc>
                  <a:txBody>
                    <a:bodyPr/>
                    <a:lstStyle/>
                    <a:p>
                      <a:pPr algn="ctr"/>
                      <a:r>
                        <a:rPr lang="en-US" altLang="zh-CN" dirty="0"/>
                        <a:t>…</a:t>
                      </a:r>
                      <a:endParaRPr lang="zh-CN" altLang="en-US" dirty="0"/>
                    </a:p>
                  </a:txBody>
                  <a:tcPr anchor="ctr"/>
                </a:tc>
                <a:extLst>
                  <a:ext uri="{0D108BD9-81ED-4DB2-BD59-A6C34878D82A}">
                    <a16:rowId xmlns:a16="http://schemas.microsoft.com/office/drawing/2014/main" val="206548803"/>
                  </a:ext>
                </a:extLst>
              </a:tr>
            </a:tbl>
          </a:graphicData>
        </a:graphic>
      </p:graphicFrame>
    </p:spTree>
    <p:extLst>
      <p:ext uri="{BB962C8B-B14F-4D97-AF65-F5344CB8AC3E}">
        <p14:creationId xmlns:p14="http://schemas.microsoft.com/office/powerpoint/2010/main" val="1255934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B6FF0D-6762-1D0A-3B75-AB217433AFDC}"/>
              </a:ext>
            </a:extLst>
          </p:cNvPr>
          <p:cNvSpPr>
            <a:spLocks noGrp="1"/>
          </p:cNvSpPr>
          <p:nvPr>
            <p:ph type="title"/>
          </p:nvPr>
        </p:nvSpPr>
        <p:spPr/>
        <p:txBody>
          <a:bodyPr/>
          <a:lstStyle/>
          <a:p>
            <a:r>
              <a:rPr lang="en-US" altLang="zh-CN" dirty="0"/>
              <a:t>Key</a:t>
            </a:r>
            <a:r>
              <a:rPr lang="zh-CN" altLang="en-US" dirty="0"/>
              <a:t> </a:t>
            </a:r>
            <a:r>
              <a:rPr lang="en-US" altLang="zh-CN" dirty="0"/>
              <a:t>Technical</a:t>
            </a:r>
            <a:r>
              <a:rPr lang="zh-CN" altLang="en-US" dirty="0"/>
              <a:t> </a:t>
            </a:r>
            <a:r>
              <a:rPr lang="en-US" altLang="zh-CN" dirty="0"/>
              <a:t>Contributions</a:t>
            </a:r>
            <a:endParaRPr kumimoji="1" lang="zh-CN" altLang="en-US" dirty="0"/>
          </a:p>
        </p:txBody>
      </p:sp>
      <p:sp>
        <p:nvSpPr>
          <p:cNvPr id="6" name="文本框 5">
            <a:extLst>
              <a:ext uri="{FF2B5EF4-FFF2-40B4-BE49-F238E27FC236}">
                <a16:creationId xmlns:a16="http://schemas.microsoft.com/office/drawing/2014/main" id="{F0CDE786-0DAE-9CBD-F45B-8E457B51A51A}"/>
              </a:ext>
            </a:extLst>
          </p:cNvPr>
          <p:cNvSpPr txBox="1"/>
          <p:nvPr/>
        </p:nvSpPr>
        <p:spPr>
          <a:xfrm>
            <a:off x="838200" y="1690687"/>
            <a:ext cx="10407162" cy="4620560"/>
          </a:xfrm>
          <a:prstGeom prst="rect">
            <a:avLst/>
          </a:prstGeom>
          <a:noFill/>
        </p:spPr>
        <p:txBody>
          <a:bodyPr wrap="square">
            <a:spAutoFit/>
          </a:bodyPr>
          <a:lstStyle/>
          <a:p>
            <a:pPr>
              <a:lnSpc>
                <a:spcPct val="150000"/>
              </a:lnSpc>
            </a:pPr>
            <a:r>
              <a:rPr lang="en-US" altLang="zh-CN" b="1" dirty="0"/>
              <a:t>Theta-Gamma-ACC (TGA) </a:t>
            </a:r>
            <a:r>
              <a:rPr lang="zh-CN" altLang="en-US" b="1" dirty="0"/>
              <a:t>框架</a:t>
            </a:r>
            <a:r>
              <a:rPr lang="zh-CN" altLang="en-US" dirty="0"/>
              <a:t>是一个脑启发、模块化计算机架构，旨在解决</a:t>
            </a:r>
            <a:r>
              <a:rPr lang="en-US" altLang="zh-CN" dirty="0"/>
              <a:t>NLP</a:t>
            </a:r>
            <a:r>
              <a:rPr lang="zh-CN" altLang="en-US" dirty="0"/>
              <a:t>多跳推理问题，通过模拟人脑</a:t>
            </a:r>
            <a:r>
              <a:rPr lang="en-US" altLang="zh-CN" dirty="0"/>
              <a:t>theta-gamma</a:t>
            </a:r>
            <a:r>
              <a:rPr lang="zh-CN" altLang="en-US" dirty="0"/>
              <a:t>耦合（序列组织与局部编码）和</a:t>
            </a:r>
            <a:r>
              <a:rPr lang="en-US" altLang="zh-CN" dirty="0"/>
              <a:t>ACC</a:t>
            </a:r>
            <a:r>
              <a:rPr lang="zh-CN" altLang="en-US" dirty="0"/>
              <a:t>机制（冲突监测），并新增</a:t>
            </a:r>
            <a:r>
              <a:rPr lang="en-US" altLang="zh-CN" dirty="0"/>
              <a:t>RRM</a:t>
            </a:r>
            <a:r>
              <a:rPr lang="zh-CN" altLang="en-US" dirty="0"/>
              <a:t>（</a:t>
            </a:r>
            <a:r>
              <a:rPr lang="en-US" altLang="zh-CN" dirty="0"/>
              <a:t>Rollback-Reconstruct Module</a:t>
            </a:r>
            <a:r>
              <a:rPr lang="zh-CN" altLang="en-US" dirty="0"/>
              <a:t>）处理逻辑坍缩。</a:t>
            </a:r>
            <a:endParaRPr lang="en-US" altLang="zh-CN" dirty="0"/>
          </a:p>
          <a:p>
            <a:pPr>
              <a:lnSpc>
                <a:spcPct val="150000"/>
              </a:lnSpc>
            </a:pPr>
            <a:r>
              <a:rPr lang="zh-CN" altLang="en-US" dirty="0"/>
              <a:t>框架基于</a:t>
            </a:r>
            <a:r>
              <a:rPr lang="en-US" altLang="zh-CN" dirty="0"/>
              <a:t>LLM</a:t>
            </a:r>
            <a:r>
              <a:rPr lang="zh-CN" altLang="en-US" dirty="0"/>
              <a:t>（如</a:t>
            </a:r>
            <a:r>
              <a:rPr lang="en-US" altLang="zh-CN" dirty="0"/>
              <a:t>Transformer</a:t>
            </a:r>
            <a:r>
              <a:rPr lang="zh-CN" altLang="en-US" dirty="0"/>
              <a:t>变体），采用闭环迭代结构：输入查询 → </a:t>
            </a:r>
            <a:r>
              <a:rPr lang="en-US" altLang="zh-CN" dirty="0"/>
              <a:t>Theta</a:t>
            </a:r>
            <a:r>
              <a:rPr lang="zh-CN" altLang="en-US" dirty="0"/>
              <a:t>生成全局链条 → </a:t>
            </a:r>
            <a:r>
              <a:rPr lang="en-US" altLang="zh-CN" dirty="0"/>
              <a:t>Gamma</a:t>
            </a:r>
            <a:r>
              <a:rPr lang="zh-CN" altLang="en-US" dirty="0"/>
              <a:t>填充局部细节 → </a:t>
            </a:r>
            <a:r>
              <a:rPr lang="en-US" altLang="zh-CN" dirty="0"/>
              <a:t>ACC/RRM</a:t>
            </a:r>
            <a:r>
              <a:rPr lang="zh-CN" altLang="en-US" dirty="0"/>
              <a:t>验证与反馈 → 输出优化链条。核心耦合通过频率嵌入（</a:t>
            </a:r>
            <a:r>
              <a:rPr lang="en-US" altLang="zh-CN" dirty="0"/>
              <a:t>theta</a:t>
            </a:r>
            <a:r>
              <a:rPr lang="zh-CN" altLang="en-US" dirty="0"/>
              <a:t>低频全局、</a:t>
            </a:r>
            <a:r>
              <a:rPr lang="en-US" altLang="zh-CN" dirty="0"/>
              <a:t>gamma</a:t>
            </a:r>
            <a:r>
              <a:rPr lang="zh-CN" altLang="en-US" dirty="0"/>
              <a:t>高频局部）和反馈信号实现，类似于脑中相位</a:t>
            </a:r>
            <a:r>
              <a:rPr lang="en-US" altLang="zh-CN" dirty="0"/>
              <a:t>-</a:t>
            </a:r>
            <a:r>
              <a:rPr lang="zh-CN" altLang="en-US" dirty="0"/>
              <a:t>幅度耦合（</a:t>
            </a:r>
            <a:r>
              <a:rPr lang="en-US" altLang="zh-CN" dirty="0"/>
              <a:t>PAC</a:t>
            </a:r>
            <a:r>
              <a:rPr lang="zh-CN" altLang="en-US" dirty="0"/>
              <a:t>）。</a:t>
            </a:r>
          </a:p>
          <a:p>
            <a:pPr>
              <a:lnSpc>
                <a:spcPct val="150000"/>
              </a:lnSpc>
            </a:pPr>
            <a:r>
              <a:rPr lang="en-US" altLang="zh-CN" b="1" dirty="0"/>
              <a:t>Theta</a:t>
            </a:r>
            <a:r>
              <a:rPr lang="zh-CN" altLang="en-US" b="1" dirty="0"/>
              <a:t>模块</a:t>
            </a:r>
            <a:r>
              <a:rPr lang="zh-CN" altLang="en-US" dirty="0"/>
              <a:t>：组织多跳链条，提供时序槽位和持久注意力（新增</a:t>
            </a:r>
            <a:r>
              <a:rPr lang="en-US" altLang="zh-CN" dirty="0"/>
              <a:t>KV</a:t>
            </a:r>
            <a:r>
              <a:rPr lang="zh-CN" altLang="en-US" dirty="0"/>
              <a:t>缓存防衰减），生成草案并维持主查询焦点。</a:t>
            </a:r>
          </a:p>
          <a:p>
            <a:pPr>
              <a:lnSpc>
                <a:spcPct val="150000"/>
              </a:lnSpc>
            </a:pPr>
            <a:r>
              <a:rPr lang="en-US" altLang="zh-CN" b="1" dirty="0"/>
              <a:t>Gamma</a:t>
            </a:r>
            <a:r>
              <a:rPr lang="zh-CN" altLang="en-US" b="1" dirty="0"/>
              <a:t>模块</a:t>
            </a:r>
            <a:r>
              <a:rPr lang="zh-CN" altLang="en-US" dirty="0"/>
              <a:t>：编码每个</a:t>
            </a:r>
            <a:r>
              <a:rPr lang="en-US" altLang="zh-CN" dirty="0"/>
              <a:t>hop</a:t>
            </a:r>
            <a:r>
              <a:rPr lang="zh-CN" altLang="en-US" dirty="0"/>
              <a:t>的知识片段，同步细节并检索外部源，支持链式传播。</a:t>
            </a:r>
          </a:p>
          <a:p>
            <a:pPr>
              <a:lnSpc>
                <a:spcPct val="150000"/>
              </a:lnSpc>
            </a:pPr>
            <a:r>
              <a:rPr lang="en-US" altLang="zh-CN" b="1" dirty="0"/>
              <a:t>ACC</a:t>
            </a:r>
            <a:r>
              <a:rPr lang="zh-CN" altLang="en-US" b="1" dirty="0"/>
              <a:t>模块</a:t>
            </a:r>
            <a:r>
              <a:rPr lang="zh-CN" altLang="en-US" dirty="0"/>
              <a:t>：检测冲突、预测错误，并隔离早期脆弱性，通过反馈调整链条。</a:t>
            </a:r>
          </a:p>
          <a:p>
            <a:pPr>
              <a:lnSpc>
                <a:spcPct val="150000"/>
              </a:lnSpc>
            </a:pPr>
            <a:r>
              <a:rPr lang="en-US" altLang="zh-CN" b="1" dirty="0"/>
              <a:t>RRM</a:t>
            </a:r>
            <a:r>
              <a:rPr lang="zh-CN" altLang="en-US" b="1" dirty="0"/>
              <a:t>模块</a:t>
            </a:r>
            <a:r>
              <a:rPr lang="zh-CN" altLang="en-US" dirty="0"/>
              <a:t>（新增）：在坍缩时触发回滚与重构，生成备选路径扩展逻辑空间。</a:t>
            </a:r>
          </a:p>
        </p:txBody>
      </p:sp>
    </p:spTree>
    <p:extLst>
      <p:ext uri="{BB962C8B-B14F-4D97-AF65-F5344CB8AC3E}">
        <p14:creationId xmlns:p14="http://schemas.microsoft.com/office/powerpoint/2010/main" val="4182910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0556EC-A6B7-0B10-9F06-D1ACFEB50603}"/>
              </a:ext>
            </a:extLst>
          </p:cNvPr>
          <p:cNvSpPr>
            <a:spLocks noGrp="1"/>
          </p:cNvSpPr>
          <p:nvPr>
            <p:ph type="title"/>
          </p:nvPr>
        </p:nvSpPr>
        <p:spPr>
          <a:xfrm>
            <a:off x="838199" y="0"/>
            <a:ext cx="10515600" cy="1325563"/>
          </a:xfrm>
        </p:spPr>
        <p:txBody>
          <a:bodyPr/>
          <a:lstStyle/>
          <a:p>
            <a:r>
              <a:rPr lang="en-US" altLang="zh-CN" dirty="0"/>
              <a:t>Experiment</a:t>
            </a:r>
            <a:endParaRPr kumimoji="1" lang="zh-CN" altLang="en-US" dirty="0"/>
          </a:p>
        </p:txBody>
      </p:sp>
      <p:graphicFrame>
        <p:nvGraphicFramePr>
          <p:cNvPr id="4" name="表格 3">
            <a:extLst>
              <a:ext uri="{FF2B5EF4-FFF2-40B4-BE49-F238E27FC236}">
                <a16:creationId xmlns:a16="http://schemas.microsoft.com/office/drawing/2014/main" id="{24020DD0-6204-39E9-2354-F4A3768B042F}"/>
              </a:ext>
            </a:extLst>
          </p:cNvPr>
          <p:cNvGraphicFramePr>
            <a:graphicFrameLocks noGrp="1"/>
          </p:cNvGraphicFramePr>
          <p:nvPr>
            <p:extLst>
              <p:ext uri="{D42A27DB-BD31-4B8C-83A1-F6EECF244321}">
                <p14:modId xmlns:p14="http://schemas.microsoft.com/office/powerpoint/2010/main" val="3167330746"/>
              </p:ext>
            </p:extLst>
          </p:nvPr>
        </p:nvGraphicFramePr>
        <p:xfrm>
          <a:off x="1" y="1034656"/>
          <a:ext cx="12191999" cy="2575017"/>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2169196">
                  <a:extLst>
                    <a:ext uri="{9D8B030D-6E8A-4147-A177-3AD203B41FA5}">
                      <a16:colId xmlns:a16="http://schemas.microsoft.com/office/drawing/2014/main" val="20001"/>
                    </a:ext>
                  </a:extLst>
                </a:gridCol>
                <a:gridCol w="3926803">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0">
                <a:tc rowSpan="2">
                  <a:txBody>
                    <a:bodyPr/>
                    <a:lstStyle/>
                    <a:p>
                      <a:pPr algn="ctr"/>
                      <a:r>
                        <a:rPr lang="en-US" altLang="zh-CN" b="1" dirty="0"/>
                        <a:t>Dataset</a:t>
                      </a:r>
                      <a:endParaRPr lang="zh-CN" altLang="en-US" b="1" dirty="0"/>
                    </a:p>
                  </a:txBody>
                  <a:tcPr anchor="ctr"/>
                </a:tc>
                <a:tc rowSpan="2">
                  <a:txBody>
                    <a:bodyPr/>
                    <a:lstStyle/>
                    <a:p>
                      <a:pPr algn="ctr"/>
                      <a:r>
                        <a:rPr lang="en-US" altLang="zh-CN" b="1" dirty="0"/>
                        <a:t>Detail</a:t>
                      </a:r>
                      <a:endParaRPr lang="zh-CN" altLang="en-US" b="1" dirty="0"/>
                    </a:p>
                  </a:txBody>
                  <a:tcPr anchor="ctr"/>
                </a:tc>
                <a:tc rowSpan="2">
                  <a:txBody>
                    <a:bodyPr/>
                    <a:lstStyle/>
                    <a:p>
                      <a:pPr algn="ctr"/>
                      <a:r>
                        <a:rPr lang="en-US" altLang="zh-CN" b="1" dirty="0"/>
                        <a:t>Types</a:t>
                      </a:r>
                      <a:endParaRPr lang="zh-CN" altLang="en-US" b="1" dirty="0"/>
                    </a:p>
                  </a:txBody>
                  <a:tcPr anchor="ctr"/>
                </a:tc>
                <a:tc gridSpan="2">
                  <a:txBody>
                    <a:bodyPr/>
                    <a:lstStyle/>
                    <a:p>
                      <a:pPr algn="ctr"/>
                      <a:r>
                        <a:rPr lang="en-US" altLang="zh-CN" b="1" dirty="0"/>
                        <a:t>Metrics SOTA</a:t>
                      </a:r>
                      <a:endParaRPr lang="zh-CN" altLang="en-US" b="1" dirty="0"/>
                    </a:p>
                  </a:txBody>
                  <a:tcPr anchor="ctr"/>
                </a:tc>
                <a:tc hMerge="1">
                  <a:txBody>
                    <a:bodyPr/>
                    <a:lstStyle/>
                    <a:p>
                      <a:endParaRPr lang="zh-CN"/>
                    </a:p>
                  </a:txBody>
                  <a:tcPr/>
                </a:tc>
                <a:extLst>
                  <a:ext uri="{0D108BD9-81ED-4DB2-BD59-A6C34878D82A}">
                    <a16:rowId xmlns:a16="http://schemas.microsoft.com/office/drawing/2014/main" val="10000"/>
                  </a:ext>
                </a:extLst>
              </a:tr>
              <a:tr h="0">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r>
                        <a:rPr lang="en-US" altLang="zh-CN" b="1" dirty="0"/>
                        <a:t>EM</a:t>
                      </a:r>
                      <a:endParaRPr lang="zh-CN" altLang="en-US" b="1" dirty="0"/>
                    </a:p>
                  </a:txBody>
                  <a:tcPr anchor="ctr">
                    <a:solidFill>
                      <a:schemeClr val="tx2">
                        <a:lumMod val="25000"/>
                        <a:lumOff val="75000"/>
                      </a:schemeClr>
                    </a:solidFill>
                  </a:tcPr>
                </a:tc>
                <a:tc>
                  <a:txBody>
                    <a:bodyPr/>
                    <a:lstStyle/>
                    <a:p>
                      <a:pPr algn="ctr"/>
                      <a:r>
                        <a:rPr lang="en-US" altLang="zh-CN" b="1" dirty="0"/>
                        <a:t>F1</a:t>
                      </a:r>
                      <a:endParaRPr lang="zh-CN" altLang="en-US" b="1" dirty="0"/>
                    </a:p>
                  </a:txBody>
                  <a:tcPr anchor="ctr">
                    <a:solidFill>
                      <a:schemeClr val="tx2">
                        <a:lumMod val="25000"/>
                        <a:lumOff val="75000"/>
                      </a:schemeClr>
                    </a:solidFill>
                  </a:tcPr>
                </a:tc>
                <a:extLst>
                  <a:ext uri="{0D108BD9-81ED-4DB2-BD59-A6C34878D82A}">
                    <a16:rowId xmlns:a16="http://schemas.microsoft.com/office/drawing/2014/main" val="10001"/>
                  </a:ext>
                </a:extLst>
              </a:tr>
              <a:tr h="401139">
                <a:tc>
                  <a:txBody>
                    <a:bodyPr/>
                    <a:lstStyle/>
                    <a:p>
                      <a:pPr algn="ctr"/>
                      <a:r>
                        <a:rPr lang="en-US" altLang="zh-CN" dirty="0"/>
                        <a:t>HotpotQA</a:t>
                      </a:r>
                      <a:endParaRPr lang="zh-CN" altLang="en-US" dirty="0"/>
                    </a:p>
                  </a:txBody>
                  <a:tcPr anchor="ctr"/>
                </a:tc>
                <a:tc>
                  <a:txBody>
                    <a:bodyPr/>
                    <a:lstStyle/>
                    <a:p>
                      <a:pPr algn="ctr"/>
                      <a:r>
                        <a:rPr lang="zh-CN" altLang="en-US" dirty="0"/>
                        <a:t>用得最多</a:t>
                      </a:r>
                    </a:p>
                  </a:txBody>
                  <a:tcPr anchor="ctr"/>
                </a:tc>
                <a:tc>
                  <a:txBody>
                    <a:bodyPr/>
                    <a:lstStyle/>
                    <a:p>
                      <a:pPr algn="ctr"/>
                      <a:r>
                        <a:rPr lang="en-US" altLang="zh-CN" dirty="0"/>
                        <a:t>Compositional</a:t>
                      </a:r>
                      <a:r>
                        <a:rPr lang="zh-CN" altLang="en-US" dirty="0"/>
                        <a:t> </a:t>
                      </a:r>
                      <a:r>
                        <a:rPr lang="en-US" altLang="zh-CN" dirty="0"/>
                        <a:t>\ Comparison</a:t>
                      </a:r>
                      <a:endParaRPr lang="zh-CN" altLang="en-US" dirty="0"/>
                    </a:p>
                  </a:txBody>
                  <a:tcPr anchor="ctr"/>
                </a:tc>
                <a:tc>
                  <a:txBody>
                    <a:bodyPr/>
                    <a:lstStyle/>
                    <a:p>
                      <a:pPr algn="ctr"/>
                      <a:r>
                        <a:rPr lang="en-US" altLang="zh-CN" dirty="0"/>
                        <a:t>56.3</a:t>
                      </a:r>
                      <a:endParaRPr lang="zh-CN" altLang="en-US" dirty="0"/>
                    </a:p>
                  </a:txBody>
                  <a:tcPr anchor="ctr"/>
                </a:tc>
                <a:tc>
                  <a:txBody>
                    <a:bodyPr/>
                    <a:lstStyle/>
                    <a:p>
                      <a:pPr algn="ctr"/>
                      <a:r>
                        <a:rPr lang="en-US" altLang="zh-CN" dirty="0"/>
                        <a:t>69.8</a:t>
                      </a:r>
                      <a:endParaRPr lang="zh-CN" altLang="en-US" dirty="0"/>
                    </a:p>
                  </a:txBody>
                  <a:tcPr anchor="ctr"/>
                </a:tc>
                <a:extLst>
                  <a:ext uri="{0D108BD9-81ED-4DB2-BD59-A6C34878D82A}">
                    <a16:rowId xmlns:a16="http://schemas.microsoft.com/office/drawing/2014/main" val="10002"/>
                  </a:ext>
                </a:extLst>
              </a:tr>
              <a:tr h="0">
                <a:tc>
                  <a:txBody>
                    <a:bodyPr/>
                    <a:lstStyle/>
                    <a:p>
                      <a:pPr algn="ctr"/>
                      <a:r>
                        <a:rPr lang="en-US" altLang="zh-CN" dirty="0"/>
                        <a:t>2Wiki</a:t>
                      </a:r>
                      <a:endParaRPr lang="zh-CN" altLang="en-US" dirty="0"/>
                    </a:p>
                  </a:txBody>
                  <a:tcPr anchor="ctr"/>
                </a:tc>
                <a:tc>
                  <a:txBody>
                    <a:bodyPr/>
                    <a:lstStyle/>
                    <a:p>
                      <a:pPr algn="ctr"/>
                      <a:r>
                        <a:rPr lang="zh-CN" altLang="en-US" dirty="0"/>
                        <a:t>题类别最多</a:t>
                      </a:r>
                    </a:p>
                  </a:txBody>
                  <a:tcPr anchor="ctr"/>
                </a:tc>
                <a:tc>
                  <a:txBody>
                    <a:bodyPr/>
                    <a:lstStyle/>
                    <a:p>
                      <a:pPr algn="ctr"/>
                      <a:r>
                        <a:rPr lang="en-US" altLang="zh-CN" dirty="0"/>
                        <a:t>Compositional \ </a:t>
                      </a:r>
                      <a:r>
                        <a:rPr lang="en-US" altLang="zh-CN" dirty="0" err="1"/>
                        <a:t>Comparision</a:t>
                      </a:r>
                      <a:r>
                        <a:rPr lang="en-US" altLang="zh-CN" dirty="0"/>
                        <a:t> \ Inference \ Bridge-Comparison</a:t>
                      </a:r>
                      <a:endParaRPr lang="zh-CN" altLang="en-US" dirty="0"/>
                    </a:p>
                  </a:txBody>
                  <a:tcPr anchor="ctr"/>
                </a:tc>
                <a:tc>
                  <a:txBody>
                    <a:bodyPr/>
                    <a:lstStyle/>
                    <a:p>
                      <a:pPr algn="ctr"/>
                      <a:r>
                        <a:rPr lang="en-US" altLang="zh-CN" dirty="0"/>
                        <a:t>72.5</a:t>
                      </a:r>
                      <a:endParaRPr lang="zh-CN" altLang="en-US" dirty="0"/>
                    </a:p>
                  </a:txBody>
                  <a:tcPr anchor="ctr"/>
                </a:tc>
                <a:tc>
                  <a:txBody>
                    <a:bodyPr/>
                    <a:lstStyle/>
                    <a:p>
                      <a:pPr algn="ctr"/>
                      <a:r>
                        <a:rPr lang="en-US" altLang="zh-CN" dirty="0"/>
                        <a:t>77.3</a:t>
                      </a:r>
                      <a:endParaRPr lang="zh-CN" altLang="en-US" dirty="0"/>
                    </a:p>
                  </a:txBody>
                  <a:tcPr anchor="ctr"/>
                </a:tc>
                <a:extLst>
                  <a:ext uri="{0D108BD9-81ED-4DB2-BD59-A6C34878D82A}">
                    <a16:rowId xmlns:a16="http://schemas.microsoft.com/office/drawing/2014/main" val="10003"/>
                  </a:ext>
                </a:extLst>
              </a:tr>
              <a:tr h="401139">
                <a:tc>
                  <a:txBody>
                    <a:bodyPr/>
                    <a:lstStyle/>
                    <a:p>
                      <a:pPr algn="ctr"/>
                      <a:r>
                        <a:rPr lang="en-US" altLang="zh-CN" dirty="0"/>
                        <a:t>Musique</a:t>
                      </a:r>
                      <a:endParaRPr lang="zh-CN" altLang="en-US" dirty="0"/>
                    </a:p>
                  </a:txBody>
                  <a:tcPr anchor="ctr"/>
                </a:tc>
                <a:tc>
                  <a:txBody>
                    <a:bodyPr/>
                    <a:lstStyle/>
                    <a:p>
                      <a:pPr algn="ctr"/>
                      <a:r>
                        <a:rPr lang="zh-CN" altLang="en-US" dirty="0"/>
                        <a:t>最难</a:t>
                      </a:r>
                    </a:p>
                  </a:txBody>
                  <a:tcPr anchor="ctr"/>
                </a:tc>
                <a:tc>
                  <a:txBody>
                    <a:bodyPr/>
                    <a:lstStyle/>
                    <a:p>
                      <a:pPr algn="ctr"/>
                      <a:r>
                        <a:rPr lang="en-US" altLang="zh-CN" dirty="0"/>
                        <a:t>Compositional</a:t>
                      </a:r>
                      <a:r>
                        <a:rPr lang="zh-CN" altLang="en-US" dirty="0"/>
                        <a:t> </a:t>
                      </a:r>
                      <a:r>
                        <a:rPr lang="en-US" altLang="zh-CN" dirty="0"/>
                        <a:t>\ Inference</a:t>
                      </a:r>
                      <a:endParaRPr lang="zh-CN" altLang="en-US" dirty="0"/>
                    </a:p>
                  </a:txBody>
                  <a:tcPr anchor="ctr"/>
                </a:tc>
                <a:tc>
                  <a:txBody>
                    <a:bodyPr/>
                    <a:lstStyle/>
                    <a:p>
                      <a:pPr algn="ctr"/>
                      <a:r>
                        <a:rPr lang="en-US" altLang="zh-CN" dirty="0"/>
                        <a:t>30.9</a:t>
                      </a:r>
                      <a:endParaRPr lang="zh-CN" altLang="en-US" dirty="0"/>
                    </a:p>
                  </a:txBody>
                  <a:tcPr anchor="ctr"/>
                </a:tc>
                <a:tc>
                  <a:txBody>
                    <a:bodyPr/>
                    <a:lstStyle/>
                    <a:p>
                      <a:pPr algn="ctr"/>
                      <a:r>
                        <a:rPr lang="en-US" altLang="zh-CN" dirty="0"/>
                        <a:t>42.4</a:t>
                      </a:r>
                      <a:endParaRPr lang="zh-CN" altLang="en-US" dirty="0"/>
                    </a:p>
                  </a:txBody>
                  <a:tcPr anchor="ctr"/>
                </a:tc>
                <a:extLst>
                  <a:ext uri="{0D108BD9-81ED-4DB2-BD59-A6C34878D82A}">
                    <a16:rowId xmlns:a16="http://schemas.microsoft.com/office/drawing/2014/main" val="10004"/>
                  </a:ext>
                </a:extLst>
              </a:tr>
              <a:tr h="401139">
                <a:tc>
                  <a:txBody>
                    <a:bodyPr/>
                    <a:lstStyle/>
                    <a:p>
                      <a:pPr algn="ctr"/>
                      <a:r>
                        <a:rPr lang="en-US" altLang="zh-CN" dirty="0" err="1"/>
                        <a:t>Medhop</a:t>
                      </a:r>
                      <a:endParaRPr lang="en-US" altLang="zh-CN" dirty="0"/>
                    </a:p>
                  </a:txBody>
                  <a:tcPr anchor="ctr"/>
                </a:tc>
                <a:tc>
                  <a:txBody>
                    <a:bodyPr/>
                    <a:lstStyle/>
                    <a:p>
                      <a:pPr algn="ctr"/>
                      <a:r>
                        <a:rPr lang="zh-CN" altLang="en-US" dirty="0"/>
                        <a:t>生物医学领域多跳</a:t>
                      </a:r>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extLst>
                  <a:ext uri="{0D108BD9-81ED-4DB2-BD59-A6C34878D82A}">
                    <a16:rowId xmlns:a16="http://schemas.microsoft.com/office/drawing/2014/main" val="2049196820"/>
                  </a:ext>
                </a:extLst>
              </a:tr>
            </a:tbl>
          </a:graphicData>
        </a:graphic>
      </p:graphicFrame>
    </p:spTree>
    <p:extLst>
      <p:ext uri="{BB962C8B-B14F-4D97-AF65-F5344CB8AC3E}">
        <p14:creationId xmlns:p14="http://schemas.microsoft.com/office/powerpoint/2010/main" val="1714736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0B2999-90A3-FF5C-9AA7-369A9DC52928}"/>
              </a:ext>
            </a:extLst>
          </p:cNvPr>
          <p:cNvSpPr>
            <a:spLocks noGrp="1"/>
          </p:cNvSpPr>
          <p:nvPr>
            <p:ph type="title"/>
          </p:nvPr>
        </p:nvSpPr>
        <p:spPr/>
        <p:txBody>
          <a:bodyPr/>
          <a:lstStyle/>
          <a:p>
            <a:r>
              <a:rPr lang="en-US" altLang="zh-CN" dirty="0"/>
              <a:t>Future Research Roadmap</a:t>
            </a:r>
            <a:endParaRPr kumimoji="1" lang="zh-CN" altLang="en-US" dirty="0"/>
          </a:p>
        </p:txBody>
      </p:sp>
      <p:sp>
        <p:nvSpPr>
          <p:cNvPr id="3" name="内容占位符 2">
            <a:extLst>
              <a:ext uri="{FF2B5EF4-FFF2-40B4-BE49-F238E27FC236}">
                <a16:creationId xmlns:a16="http://schemas.microsoft.com/office/drawing/2014/main" id="{BD456700-C070-CEF9-0F3F-463E03BDC46C}"/>
              </a:ext>
            </a:extLst>
          </p:cNvPr>
          <p:cNvSpPr>
            <a:spLocks noGrp="1"/>
          </p:cNvSpPr>
          <p:nvPr>
            <p:ph idx="1"/>
          </p:nvPr>
        </p:nvSpPr>
        <p:spPr/>
        <p:txBody>
          <a:bodyPr/>
          <a:lstStyle/>
          <a:p>
            <a:endParaRPr kumimoji="1" lang="zh-CN" altLang="en-US" dirty="0"/>
          </a:p>
        </p:txBody>
      </p:sp>
    </p:spTree>
    <p:extLst>
      <p:ext uri="{BB962C8B-B14F-4D97-AF65-F5344CB8AC3E}">
        <p14:creationId xmlns:p14="http://schemas.microsoft.com/office/powerpoint/2010/main" val="3237294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92410-5F7E-7EF6-AE53-BEA192C03A5C}"/>
              </a:ext>
            </a:extLst>
          </p:cNvPr>
          <p:cNvSpPr>
            <a:spLocks noGrp="1"/>
          </p:cNvSpPr>
          <p:nvPr>
            <p:ph type="title"/>
          </p:nvPr>
        </p:nvSpPr>
        <p:spPr/>
        <p:txBody>
          <a:bodyPr/>
          <a:lstStyle/>
          <a:p>
            <a:r>
              <a:rPr lang="en-US" altLang="zh-CN" dirty="0"/>
              <a:t>Milestone &amp; Target &amp; Summary</a:t>
            </a:r>
            <a:endParaRPr kumimoji="1" lang="zh-CN" altLang="en-US" dirty="0"/>
          </a:p>
        </p:txBody>
      </p:sp>
      <p:sp>
        <p:nvSpPr>
          <p:cNvPr id="3" name="内容占位符 2">
            <a:extLst>
              <a:ext uri="{FF2B5EF4-FFF2-40B4-BE49-F238E27FC236}">
                <a16:creationId xmlns:a16="http://schemas.microsoft.com/office/drawing/2014/main" id="{AEF0D70D-0C7F-77C6-80C7-9DA459B6DD94}"/>
              </a:ext>
            </a:extLst>
          </p:cNvPr>
          <p:cNvSpPr>
            <a:spLocks noGrp="1"/>
          </p:cNvSpPr>
          <p:nvPr>
            <p:ph idx="1"/>
          </p:nvPr>
        </p:nvSpPr>
        <p:spPr/>
        <p:txBody>
          <a:bodyPr/>
          <a:lstStyle/>
          <a:p>
            <a:endParaRPr kumimoji="1" lang="zh-CN" altLang="en-US" dirty="0"/>
          </a:p>
        </p:txBody>
      </p:sp>
    </p:spTree>
    <p:extLst>
      <p:ext uri="{BB962C8B-B14F-4D97-AF65-F5344CB8AC3E}">
        <p14:creationId xmlns:p14="http://schemas.microsoft.com/office/powerpoint/2010/main" val="289610760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14772</TotalTime>
  <Words>2373</Words>
  <Application>Microsoft Macintosh PowerPoint</Application>
  <PresentationFormat>宽屏</PresentationFormat>
  <Paragraphs>207</Paragraphs>
  <Slides>19</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19</vt:i4>
      </vt:variant>
    </vt:vector>
  </HeadingPairs>
  <TitlesOfParts>
    <vt:vector size="23" baseType="lpstr">
      <vt:lpstr>等线</vt:lpstr>
      <vt:lpstr>等线 Light</vt:lpstr>
      <vt:lpstr>Arial</vt:lpstr>
      <vt:lpstr>Office 主题​​</vt:lpstr>
      <vt:lpstr>New Idea</vt:lpstr>
      <vt:lpstr>Outline</vt:lpstr>
      <vt:lpstr>Motivation</vt:lpstr>
      <vt:lpstr>Why Multi-hop Reasoning Matters</vt:lpstr>
      <vt:lpstr>Example on Biomedical</vt:lpstr>
      <vt:lpstr>Example on Biomedical</vt:lpstr>
      <vt:lpstr>Example Result of LLM</vt:lpstr>
      <vt:lpstr>Problem &amp; Core Bottleneck</vt:lpstr>
      <vt:lpstr>Problem &amp; Core Bottleneck Examples</vt:lpstr>
      <vt:lpstr>Current Work for Multi-hop QA</vt:lpstr>
      <vt:lpstr>Brain Science Inspiration:  Theta–Gamma Coupling Mechanism</vt:lpstr>
      <vt:lpstr>Why Theta–Gamma Coupling Mechanism Works？</vt:lpstr>
      <vt:lpstr>How Theta–Gamma Coupling Mechanism works for Multi-hop QA？</vt:lpstr>
      <vt:lpstr>PowerPoint 演示文稿</vt:lpstr>
      <vt:lpstr>PowerPoint 演示文稿</vt:lpstr>
      <vt:lpstr>Key Technical Contributions</vt:lpstr>
      <vt:lpstr>Experiment</vt:lpstr>
      <vt:lpstr>Future Research Roadmap</vt:lpstr>
      <vt:lpstr>Milestone &amp; Target &amp;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凌子扬</dc:creator>
  <cp:lastModifiedBy>凌子扬</cp:lastModifiedBy>
  <cp:revision>16</cp:revision>
  <dcterms:created xsi:type="dcterms:W3CDTF">2025-10-17T12:25:48Z</dcterms:created>
  <dcterms:modified xsi:type="dcterms:W3CDTF">2025-10-28T06:18:36Z</dcterms:modified>
</cp:coreProperties>
</file>