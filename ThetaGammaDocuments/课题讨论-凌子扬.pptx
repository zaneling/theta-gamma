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3"/>
    <p:sldId id="290" r:id="rId4"/>
    <p:sldId id="281" r:id="rId5"/>
    <p:sldId id="282" r:id="rId6"/>
    <p:sldId id="265" r:id="rId7"/>
    <p:sldId id="284" r:id="rId8"/>
    <p:sldId id="286" r:id="rId9"/>
    <p:sldId id="287" r:id="rId10"/>
    <p:sldId id="279" r:id="rId11"/>
    <p:sldId id="288" r:id="rId12"/>
    <p:sldId id="291" r:id="rId13"/>
    <p:sldId id="285" r:id="rId14"/>
    <p:sldId id="264" r:id="rId15"/>
    <p:sldId id="289" r:id="rId16"/>
    <p:sldId id="28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18"/>
    <p:restoredTop sz="97840"/>
  </p:normalViewPr>
  <p:slideViewPr>
    <p:cSldViewPr snapToGrid="0">
      <p:cViewPr>
        <p:scale>
          <a:sx n="130" d="100"/>
          <a:sy n="130" d="100"/>
        </p:scale>
        <p:origin x="92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8C8D41-76FD-C144-B920-EE2E0308975E}" type="doc">
      <dgm:prSet loTypeId="urn:microsoft.com/office/officeart/2005/8/layout/l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37D7F8B-A08E-224A-BEDD-3F45929B1B93}">
      <dgm:prSet phldrT="[文本]" custT="1"/>
      <dgm:spPr/>
      <dgm:t>
        <a:bodyPr/>
        <a:lstStyle/>
        <a:p>
          <a:r>
            <a:rPr lang="zh-CN" altLang="en-US" sz="2400" dirty="0"/>
            <a:t>推理路径</a:t>
          </a:r>
          <a:endParaRPr lang="en-US" altLang="zh-CN" sz="2400" dirty="0"/>
        </a:p>
        <a:p>
          <a:r>
            <a:rPr lang="zh-CN" altLang="en-US" sz="2400" dirty="0"/>
            <a:t>单一性</a:t>
          </a:r>
        </a:p>
      </dgm:t>
    </dgm:pt>
    <dgm:pt modelId="{45F4649B-B4E3-AB46-ADB0-444254F06549}" cxnId="{B8318295-A295-384F-96A9-053CAAC806CF}" type="parTrans">
      <dgm:prSet/>
      <dgm:spPr/>
      <dgm:t>
        <a:bodyPr/>
        <a:lstStyle/>
        <a:p>
          <a:endParaRPr lang="zh-CN" altLang="en-US"/>
        </a:p>
      </dgm:t>
    </dgm:pt>
    <dgm:pt modelId="{BFBCA324-6C68-A54B-A7E3-CE5C99DF9359}" cxnId="{B8318295-A295-384F-96A9-053CAAC806CF}" type="sibTrans">
      <dgm:prSet/>
      <dgm:spPr/>
      <dgm:t>
        <a:bodyPr/>
        <a:lstStyle/>
        <a:p>
          <a:endParaRPr lang="zh-CN" altLang="en-US"/>
        </a:p>
      </dgm:t>
    </dgm:pt>
    <dgm:pt modelId="{EFF8F838-DE0C-7942-8513-48E18BF92F5A}">
      <dgm:prSet phldrT="[文本]"/>
      <dgm:spPr/>
      <dgm:t>
        <a:bodyPr/>
        <a:lstStyle/>
        <a:p>
          <a:pPr algn="l"/>
          <a:r>
            <a:rPr lang="zh-CN" altLang="en-US" dirty="0"/>
            <a:t>不可重构，路径错了就全错。</a:t>
          </a:r>
        </a:p>
      </dgm:t>
    </dgm:pt>
    <dgm:pt modelId="{3C7C8D99-AA90-6341-8980-86269891A9A0}" cxnId="{54CF658B-7498-C140-8C72-FEFFE1CBD457}" type="parTrans">
      <dgm:prSet/>
      <dgm:spPr/>
      <dgm:t>
        <a:bodyPr/>
        <a:lstStyle/>
        <a:p>
          <a:endParaRPr lang="zh-CN" altLang="en-US"/>
        </a:p>
      </dgm:t>
    </dgm:pt>
    <dgm:pt modelId="{4BD6DA3C-1397-8D49-9DF6-E65EE43030C6}" cxnId="{54CF658B-7498-C140-8C72-FEFFE1CBD457}" type="sibTrans">
      <dgm:prSet/>
      <dgm:spPr/>
      <dgm:t>
        <a:bodyPr/>
        <a:lstStyle/>
        <a:p>
          <a:endParaRPr lang="zh-CN" altLang="en-US"/>
        </a:p>
      </dgm:t>
    </dgm:pt>
    <dgm:pt modelId="{013BB445-65FB-1046-8B37-BE58F9C3D2DE}">
      <dgm:prSet phldrT="[文本]" custT="1"/>
      <dgm:spPr/>
      <dgm:t>
        <a:bodyPr/>
        <a:lstStyle/>
        <a:p>
          <a:r>
            <a:rPr lang="zh-CN" altLang="en-US" sz="2400" dirty="0"/>
            <a:t>注意力衰减</a:t>
          </a:r>
        </a:p>
      </dgm:t>
    </dgm:pt>
    <dgm:pt modelId="{D799B3AF-1375-5D42-9EAF-DC2CC36DCD69}" cxnId="{F7381DD8-CABB-2F42-9C07-9B365D0EEBD9}" type="parTrans">
      <dgm:prSet/>
      <dgm:spPr/>
      <dgm:t>
        <a:bodyPr/>
        <a:lstStyle/>
        <a:p>
          <a:endParaRPr lang="zh-CN" altLang="en-US"/>
        </a:p>
      </dgm:t>
    </dgm:pt>
    <dgm:pt modelId="{5C0E2DDD-D86C-3442-AE4F-DD674D48D5F7}" cxnId="{F7381DD8-CABB-2F42-9C07-9B365D0EEBD9}" type="sibTrans">
      <dgm:prSet/>
      <dgm:spPr/>
      <dgm:t>
        <a:bodyPr/>
        <a:lstStyle/>
        <a:p>
          <a:endParaRPr lang="zh-CN" altLang="en-US"/>
        </a:p>
      </dgm:t>
    </dgm:pt>
    <dgm:pt modelId="{6A5301F5-6D54-0245-A8A0-C4AFCF3589F8}">
      <dgm:prSet phldrT="[文本]"/>
      <dgm:spPr/>
      <dgm:t>
        <a:bodyPr/>
        <a:lstStyle/>
        <a:p>
          <a:r>
            <a:rPr lang="zh-CN" altLang="en-US" dirty="0"/>
            <a:t>回答最后一跳问题注意力衰减。</a:t>
          </a:r>
        </a:p>
      </dgm:t>
    </dgm:pt>
    <dgm:pt modelId="{60DD571C-1BD4-B94A-894C-D4F885732220}" cxnId="{804C99F9-DC0A-494E-B4C3-FB1175B3982A}" type="parTrans">
      <dgm:prSet/>
      <dgm:spPr/>
      <dgm:t>
        <a:bodyPr/>
        <a:lstStyle/>
        <a:p>
          <a:endParaRPr lang="zh-CN" altLang="en-US"/>
        </a:p>
      </dgm:t>
    </dgm:pt>
    <dgm:pt modelId="{85CEA664-7B62-F444-8579-0C8128603B37}" cxnId="{804C99F9-DC0A-494E-B4C3-FB1175B3982A}" type="sibTrans">
      <dgm:prSet/>
      <dgm:spPr/>
      <dgm:t>
        <a:bodyPr/>
        <a:lstStyle/>
        <a:p>
          <a:endParaRPr lang="zh-CN" altLang="en-US"/>
        </a:p>
      </dgm:t>
    </dgm:pt>
    <dgm:pt modelId="{66468001-F69B-DF47-831B-47DA9397B1C3}">
      <dgm:prSet phldrT="[文本]" custT="1"/>
      <dgm:spPr/>
      <dgm:t>
        <a:bodyPr/>
        <a:lstStyle/>
        <a:p>
          <a:r>
            <a:rPr lang="zh-CN" altLang="en-US" sz="2400" dirty="0"/>
            <a:t>推理脆弱性</a:t>
          </a:r>
        </a:p>
      </dgm:t>
    </dgm:pt>
    <dgm:pt modelId="{22135742-33B4-AC4B-A0F4-8594ACE7D2D3}" cxnId="{58CA7088-9B11-9F4B-911C-AAAD68BA3874}" type="parTrans">
      <dgm:prSet/>
      <dgm:spPr/>
      <dgm:t>
        <a:bodyPr/>
        <a:lstStyle/>
        <a:p>
          <a:endParaRPr lang="zh-CN" altLang="en-US"/>
        </a:p>
      </dgm:t>
    </dgm:pt>
    <dgm:pt modelId="{38E70434-CD09-DC48-A151-4DFA554A4A55}" cxnId="{58CA7088-9B11-9F4B-911C-AAAD68BA3874}" type="sibTrans">
      <dgm:prSet/>
      <dgm:spPr/>
      <dgm:t>
        <a:bodyPr/>
        <a:lstStyle/>
        <a:p>
          <a:endParaRPr lang="zh-CN" altLang="en-US"/>
        </a:p>
      </dgm:t>
    </dgm:pt>
    <dgm:pt modelId="{394CEC04-7439-8E43-AC21-81783301D6B8}">
      <dgm:prSet phldrT="[文本]"/>
      <dgm:spPr/>
      <dgm:t>
        <a:bodyPr/>
        <a:lstStyle/>
        <a:p>
          <a:pPr algn="l"/>
          <a:r>
            <a:rPr lang="zh-CN" altLang="en-US" dirty="0"/>
            <a:t>早期错误会导致雪崩错误。</a:t>
          </a:r>
        </a:p>
      </dgm:t>
    </dgm:pt>
    <dgm:pt modelId="{AFDDC1D7-D6C0-E740-97FF-648D0D8DBA4D}" cxnId="{D2071B4E-51E8-5D4A-B7BC-7A13B316E29C}" type="parTrans">
      <dgm:prSet/>
      <dgm:spPr/>
      <dgm:t>
        <a:bodyPr/>
        <a:lstStyle/>
        <a:p>
          <a:endParaRPr lang="zh-CN" altLang="en-US"/>
        </a:p>
      </dgm:t>
    </dgm:pt>
    <dgm:pt modelId="{3823FD74-04AD-9547-8041-4C9193F88210}" cxnId="{D2071B4E-51E8-5D4A-B7BC-7A13B316E29C}" type="sibTrans">
      <dgm:prSet/>
      <dgm:spPr/>
      <dgm:t>
        <a:bodyPr/>
        <a:lstStyle/>
        <a:p>
          <a:endParaRPr lang="zh-CN" altLang="en-US"/>
        </a:p>
      </dgm:t>
    </dgm:pt>
    <dgm:pt modelId="{E7248406-2061-2449-9FC9-9DA8379B1C7E}" type="pres">
      <dgm:prSet presAssocID="{9C8C8D41-76FD-C144-B920-EE2E0308975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1FDB03C-88A9-C246-A475-5327EEC1DFE2}" type="pres">
      <dgm:prSet presAssocID="{037D7F8B-A08E-224A-BEDD-3F45929B1B93}" presName="horFlow" presStyleCnt="0"/>
      <dgm:spPr/>
    </dgm:pt>
    <dgm:pt modelId="{55A548CA-30BE-F645-AD6F-FA44B53E1D4E}" type="pres">
      <dgm:prSet presAssocID="{037D7F8B-A08E-224A-BEDD-3F45929B1B93}" presName="bigChev" presStyleLbl="node1" presStyleIdx="0" presStyleCnt="3" custLinFactNeighborX="-21392" custLinFactNeighborY="-34498"/>
      <dgm:spPr/>
    </dgm:pt>
    <dgm:pt modelId="{ACA58AB7-5B2E-B348-A975-30585F982D72}" type="pres">
      <dgm:prSet presAssocID="{3C7C8D99-AA90-6341-8980-86269891A9A0}" presName="parTrans" presStyleCnt="0"/>
      <dgm:spPr/>
    </dgm:pt>
    <dgm:pt modelId="{4C55560A-4776-2B49-B092-2A3357E529D9}" type="pres">
      <dgm:prSet presAssocID="{EFF8F838-DE0C-7942-8513-48E18BF92F5A}" presName="node" presStyleLbl="alignAccFollowNode1" presStyleIdx="0" presStyleCnt="3" custLinFactNeighborX="-4964" custLinFactNeighborY="-41335">
        <dgm:presLayoutVars>
          <dgm:bulletEnabled val="1"/>
        </dgm:presLayoutVars>
      </dgm:prSet>
      <dgm:spPr/>
    </dgm:pt>
    <dgm:pt modelId="{0DF40C57-C489-5749-9FA9-BC76F996B462}" type="pres">
      <dgm:prSet presAssocID="{037D7F8B-A08E-224A-BEDD-3F45929B1B93}" presName="vSp" presStyleCnt="0"/>
      <dgm:spPr/>
    </dgm:pt>
    <dgm:pt modelId="{77B20A45-2A7B-1B45-826B-EA9039BF4A33}" type="pres">
      <dgm:prSet presAssocID="{013BB445-65FB-1046-8B37-BE58F9C3D2DE}" presName="horFlow" presStyleCnt="0"/>
      <dgm:spPr/>
    </dgm:pt>
    <dgm:pt modelId="{7441CB7D-ACD3-3541-BAB4-958B325FACCD}" type="pres">
      <dgm:prSet presAssocID="{013BB445-65FB-1046-8B37-BE58F9C3D2DE}" presName="bigChev" presStyleLbl="node1" presStyleIdx="1" presStyleCnt="3"/>
      <dgm:spPr/>
    </dgm:pt>
    <dgm:pt modelId="{F6B69829-645E-6C45-B5BD-16E63D250677}" type="pres">
      <dgm:prSet presAssocID="{60DD571C-1BD4-B94A-894C-D4F885732220}" presName="parTrans" presStyleCnt="0"/>
      <dgm:spPr/>
    </dgm:pt>
    <dgm:pt modelId="{EF076780-87B0-1B49-8343-D9B3A18E89A2}" type="pres">
      <dgm:prSet presAssocID="{6A5301F5-6D54-0245-A8A0-C4AFCF3589F8}" presName="node" presStyleLbl="alignAccFollowNode1" presStyleIdx="1" presStyleCnt="3">
        <dgm:presLayoutVars>
          <dgm:bulletEnabled val="1"/>
        </dgm:presLayoutVars>
      </dgm:prSet>
      <dgm:spPr/>
    </dgm:pt>
    <dgm:pt modelId="{88F87710-1A07-4C4B-8EC4-6224E57C3E47}" type="pres">
      <dgm:prSet presAssocID="{013BB445-65FB-1046-8B37-BE58F9C3D2DE}" presName="vSp" presStyleCnt="0"/>
      <dgm:spPr/>
    </dgm:pt>
    <dgm:pt modelId="{43617705-047F-4048-B5AF-9E5BE8D2A867}" type="pres">
      <dgm:prSet presAssocID="{66468001-F69B-DF47-831B-47DA9397B1C3}" presName="horFlow" presStyleCnt="0"/>
      <dgm:spPr/>
    </dgm:pt>
    <dgm:pt modelId="{221AC1E6-E042-BC41-8009-5AA8F9DDD54D}" type="pres">
      <dgm:prSet presAssocID="{66468001-F69B-DF47-831B-47DA9397B1C3}" presName="bigChev" presStyleLbl="node1" presStyleIdx="2" presStyleCnt="3" custLinFactNeighborX="-2674" custLinFactNeighborY="28677"/>
      <dgm:spPr/>
    </dgm:pt>
    <dgm:pt modelId="{30A94A05-ECA3-8042-9E04-5F8A8972BAA8}" type="pres">
      <dgm:prSet presAssocID="{AFDDC1D7-D6C0-E740-97FF-648D0D8DBA4D}" presName="parTrans" presStyleCnt="0"/>
      <dgm:spPr/>
    </dgm:pt>
    <dgm:pt modelId="{5D13BC51-7B4C-2D43-878A-EC60324C81F6}" type="pres">
      <dgm:prSet presAssocID="{394CEC04-7439-8E43-AC21-81783301D6B8}" presName="node" presStyleLbl="alignAccFollowNode1" presStyleIdx="2" presStyleCnt="3" custLinFactNeighborX="-5348" custLinFactNeighborY="35599">
        <dgm:presLayoutVars>
          <dgm:bulletEnabled val="1"/>
        </dgm:presLayoutVars>
      </dgm:prSet>
      <dgm:spPr/>
    </dgm:pt>
  </dgm:ptLst>
  <dgm:cxnLst>
    <dgm:cxn modelId="{A7406F23-EC88-804E-A46F-764E40E1A3E2}" type="presOf" srcId="{037D7F8B-A08E-224A-BEDD-3F45929B1B93}" destId="{55A548CA-30BE-F645-AD6F-FA44B53E1D4E}" srcOrd="0" destOrd="0" presId="urn:microsoft.com/office/officeart/2005/8/layout/lProcess3"/>
    <dgm:cxn modelId="{2332202E-5FC7-7943-BFB4-80CBF484E515}" type="presOf" srcId="{9C8C8D41-76FD-C144-B920-EE2E0308975E}" destId="{E7248406-2061-2449-9FC9-9DA8379B1C7E}" srcOrd="0" destOrd="0" presId="urn:microsoft.com/office/officeart/2005/8/layout/lProcess3"/>
    <dgm:cxn modelId="{C649EB44-6976-E149-B56B-CE8651F5820F}" type="presOf" srcId="{EFF8F838-DE0C-7942-8513-48E18BF92F5A}" destId="{4C55560A-4776-2B49-B092-2A3357E529D9}" srcOrd="0" destOrd="0" presId="urn:microsoft.com/office/officeart/2005/8/layout/lProcess3"/>
    <dgm:cxn modelId="{D2071B4E-51E8-5D4A-B7BC-7A13B316E29C}" srcId="{66468001-F69B-DF47-831B-47DA9397B1C3}" destId="{394CEC04-7439-8E43-AC21-81783301D6B8}" srcOrd="0" destOrd="0" parTransId="{AFDDC1D7-D6C0-E740-97FF-648D0D8DBA4D}" sibTransId="{3823FD74-04AD-9547-8041-4C9193F88210}"/>
    <dgm:cxn modelId="{641A347A-54E6-0C4F-AE2D-60F2E85D6F92}" type="presOf" srcId="{013BB445-65FB-1046-8B37-BE58F9C3D2DE}" destId="{7441CB7D-ACD3-3541-BAB4-958B325FACCD}" srcOrd="0" destOrd="0" presId="urn:microsoft.com/office/officeart/2005/8/layout/lProcess3"/>
    <dgm:cxn modelId="{8584657C-DA9B-8049-B404-2FC883C5FC82}" type="presOf" srcId="{394CEC04-7439-8E43-AC21-81783301D6B8}" destId="{5D13BC51-7B4C-2D43-878A-EC60324C81F6}" srcOrd="0" destOrd="0" presId="urn:microsoft.com/office/officeart/2005/8/layout/lProcess3"/>
    <dgm:cxn modelId="{A60D937F-259A-E348-A07F-5B83A9BC956E}" type="presOf" srcId="{66468001-F69B-DF47-831B-47DA9397B1C3}" destId="{221AC1E6-E042-BC41-8009-5AA8F9DDD54D}" srcOrd="0" destOrd="0" presId="urn:microsoft.com/office/officeart/2005/8/layout/lProcess3"/>
    <dgm:cxn modelId="{58CA7088-9B11-9F4B-911C-AAAD68BA3874}" srcId="{9C8C8D41-76FD-C144-B920-EE2E0308975E}" destId="{66468001-F69B-DF47-831B-47DA9397B1C3}" srcOrd="2" destOrd="0" parTransId="{22135742-33B4-AC4B-A0F4-8594ACE7D2D3}" sibTransId="{38E70434-CD09-DC48-A151-4DFA554A4A55}"/>
    <dgm:cxn modelId="{54CF658B-7498-C140-8C72-FEFFE1CBD457}" srcId="{037D7F8B-A08E-224A-BEDD-3F45929B1B93}" destId="{EFF8F838-DE0C-7942-8513-48E18BF92F5A}" srcOrd="0" destOrd="0" parTransId="{3C7C8D99-AA90-6341-8980-86269891A9A0}" sibTransId="{4BD6DA3C-1397-8D49-9DF6-E65EE43030C6}"/>
    <dgm:cxn modelId="{B8318295-A295-384F-96A9-053CAAC806CF}" srcId="{9C8C8D41-76FD-C144-B920-EE2E0308975E}" destId="{037D7F8B-A08E-224A-BEDD-3F45929B1B93}" srcOrd="0" destOrd="0" parTransId="{45F4649B-B4E3-AB46-ADB0-444254F06549}" sibTransId="{BFBCA324-6C68-A54B-A7E3-CE5C99DF9359}"/>
    <dgm:cxn modelId="{41DF3FB2-CE8C-D145-998A-A66165F31210}" type="presOf" srcId="{6A5301F5-6D54-0245-A8A0-C4AFCF3589F8}" destId="{EF076780-87B0-1B49-8343-D9B3A18E89A2}" srcOrd="0" destOrd="0" presId="urn:microsoft.com/office/officeart/2005/8/layout/lProcess3"/>
    <dgm:cxn modelId="{F7381DD8-CABB-2F42-9C07-9B365D0EEBD9}" srcId="{9C8C8D41-76FD-C144-B920-EE2E0308975E}" destId="{013BB445-65FB-1046-8B37-BE58F9C3D2DE}" srcOrd="1" destOrd="0" parTransId="{D799B3AF-1375-5D42-9EAF-DC2CC36DCD69}" sibTransId="{5C0E2DDD-D86C-3442-AE4F-DD674D48D5F7}"/>
    <dgm:cxn modelId="{804C99F9-DC0A-494E-B4C3-FB1175B3982A}" srcId="{013BB445-65FB-1046-8B37-BE58F9C3D2DE}" destId="{6A5301F5-6D54-0245-A8A0-C4AFCF3589F8}" srcOrd="0" destOrd="0" parTransId="{60DD571C-1BD4-B94A-894C-D4F885732220}" sibTransId="{85CEA664-7B62-F444-8579-0C8128603B37}"/>
    <dgm:cxn modelId="{82EB34AD-11BA-6846-B8F9-71A5CF9CC663}" type="presParOf" srcId="{E7248406-2061-2449-9FC9-9DA8379B1C7E}" destId="{21FDB03C-88A9-C246-A475-5327EEC1DFE2}" srcOrd="0" destOrd="0" presId="urn:microsoft.com/office/officeart/2005/8/layout/lProcess3"/>
    <dgm:cxn modelId="{CF4B42E7-B6D8-AD40-9EBC-A4BAE455FC17}" type="presParOf" srcId="{21FDB03C-88A9-C246-A475-5327EEC1DFE2}" destId="{55A548CA-30BE-F645-AD6F-FA44B53E1D4E}" srcOrd="0" destOrd="0" presId="urn:microsoft.com/office/officeart/2005/8/layout/lProcess3"/>
    <dgm:cxn modelId="{0049C0F4-4479-0044-9D78-90F8395A2AF6}" type="presParOf" srcId="{21FDB03C-88A9-C246-A475-5327EEC1DFE2}" destId="{ACA58AB7-5B2E-B348-A975-30585F982D72}" srcOrd="1" destOrd="0" presId="urn:microsoft.com/office/officeart/2005/8/layout/lProcess3"/>
    <dgm:cxn modelId="{061EDFB8-982D-6B45-A040-4144DB1C5E3B}" type="presParOf" srcId="{21FDB03C-88A9-C246-A475-5327EEC1DFE2}" destId="{4C55560A-4776-2B49-B092-2A3357E529D9}" srcOrd="2" destOrd="0" presId="urn:microsoft.com/office/officeart/2005/8/layout/lProcess3"/>
    <dgm:cxn modelId="{EE28CA90-6819-104B-81C9-3299770BBCDA}" type="presParOf" srcId="{E7248406-2061-2449-9FC9-9DA8379B1C7E}" destId="{0DF40C57-C489-5749-9FA9-BC76F996B462}" srcOrd="1" destOrd="0" presId="urn:microsoft.com/office/officeart/2005/8/layout/lProcess3"/>
    <dgm:cxn modelId="{540FFCA6-0901-3642-B90C-C6C83DAC7D2D}" type="presParOf" srcId="{E7248406-2061-2449-9FC9-9DA8379B1C7E}" destId="{77B20A45-2A7B-1B45-826B-EA9039BF4A33}" srcOrd="2" destOrd="0" presId="urn:microsoft.com/office/officeart/2005/8/layout/lProcess3"/>
    <dgm:cxn modelId="{A6D97D7C-0736-FB48-9FDE-AA9E1C3A7B7E}" type="presParOf" srcId="{77B20A45-2A7B-1B45-826B-EA9039BF4A33}" destId="{7441CB7D-ACD3-3541-BAB4-958B325FACCD}" srcOrd="0" destOrd="0" presId="urn:microsoft.com/office/officeart/2005/8/layout/lProcess3"/>
    <dgm:cxn modelId="{867826FE-44FF-D24A-88D3-E6C2EB6F0A76}" type="presParOf" srcId="{77B20A45-2A7B-1B45-826B-EA9039BF4A33}" destId="{F6B69829-645E-6C45-B5BD-16E63D250677}" srcOrd="1" destOrd="0" presId="urn:microsoft.com/office/officeart/2005/8/layout/lProcess3"/>
    <dgm:cxn modelId="{DF6078E3-0005-BE4A-9CBC-3414774CE8F7}" type="presParOf" srcId="{77B20A45-2A7B-1B45-826B-EA9039BF4A33}" destId="{EF076780-87B0-1B49-8343-D9B3A18E89A2}" srcOrd="2" destOrd="0" presId="urn:microsoft.com/office/officeart/2005/8/layout/lProcess3"/>
    <dgm:cxn modelId="{4828D05F-0EA8-CB40-977B-5285A86F879B}" type="presParOf" srcId="{E7248406-2061-2449-9FC9-9DA8379B1C7E}" destId="{88F87710-1A07-4C4B-8EC4-6224E57C3E47}" srcOrd="3" destOrd="0" presId="urn:microsoft.com/office/officeart/2005/8/layout/lProcess3"/>
    <dgm:cxn modelId="{6BED794E-1637-7947-A5A1-D95E895AD8A3}" type="presParOf" srcId="{E7248406-2061-2449-9FC9-9DA8379B1C7E}" destId="{43617705-047F-4048-B5AF-9E5BE8D2A867}" srcOrd="4" destOrd="0" presId="urn:microsoft.com/office/officeart/2005/8/layout/lProcess3"/>
    <dgm:cxn modelId="{C55FC9AB-5C66-6444-B2BF-F4FEB2C96680}" type="presParOf" srcId="{43617705-047F-4048-B5AF-9E5BE8D2A867}" destId="{221AC1E6-E042-BC41-8009-5AA8F9DDD54D}" srcOrd="0" destOrd="0" presId="urn:microsoft.com/office/officeart/2005/8/layout/lProcess3"/>
    <dgm:cxn modelId="{E23E6E1B-02F1-304C-9F79-4D838CF7E69A}" type="presParOf" srcId="{43617705-047F-4048-B5AF-9E5BE8D2A867}" destId="{30A94A05-ECA3-8042-9E04-5F8A8972BAA8}" srcOrd="1" destOrd="0" presId="urn:microsoft.com/office/officeart/2005/8/layout/lProcess3"/>
    <dgm:cxn modelId="{B65FFD81-9853-3541-9A59-4E0181427912}" type="presParOf" srcId="{43617705-047F-4048-B5AF-9E5BE8D2A867}" destId="{5D13BC51-7B4C-2D43-878A-EC60324C81F6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811251" cy="4650657"/>
        <a:chOff x="0" y="0"/>
        <a:chExt cx="4811251" cy="4650657"/>
      </a:xfrm>
    </dsp:grpSpPr>
    <dsp:sp modelId="{55A548CA-30BE-F645-AD6F-FA44B53E1D4E}">
      <dsp:nvSpPr>
        <dsp:cNvPr id="3" name="燕尾形 2"/>
        <dsp:cNvSpPr/>
      </dsp:nvSpPr>
      <dsp:spPr bwMode="white">
        <a:xfrm>
          <a:off x="78705" y="78214"/>
          <a:ext cx="2830148" cy="1132059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0480" tIns="15240" rIns="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/>
            <a:t>推理路径</a:t>
          </a:r>
          <a:endParaRPr lang="en-US" altLang="zh-CN" sz="2400" dirty="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/>
            <a:t>单一性</a:t>
          </a:r>
        </a:p>
      </dsp:txBody>
      <dsp:txXfrm>
        <a:off x="78705" y="78214"/>
        <a:ext cx="2830148" cy="1132059"/>
      </dsp:txXfrm>
    </dsp:sp>
    <dsp:sp modelId="{4C55560A-4776-2B49-B092-2A3357E529D9}">
      <dsp:nvSpPr>
        <dsp:cNvPr id="4" name="燕尾形 3"/>
        <dsp:cNvSpPr/>
      </dsp:nvSpPr>
      <dsp:spPr bwMode="white">
        <a:xfrm>
          <a:off x="2462228" y="176589"/>
          <a:ext cx="2349023" cy="939609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4130" tIns="12065" rIns="0" bIns="1206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dk1"/>
              </a:solidFill>
            </a:rPr>
            <a:t>不可重构，路径错了就全错。</a:t>
          </a:r>
          <a:endParaRPr>
            <a:solidFill>
              <a:schemeClr val="dk1"/>
            </a:solidFill>
          </a:endParaRPr>
        </a:p>
      </dsp:txBody>
      <dsp:txXfrm>
        <a:off x="2462228" y="176589"/>
        <a:ext cx="2349023" cy="939609"/>
      </dsp:txXfrm>
    </dsp:sp>
    <dsp:sp modelId="{7441CB7D-ACD3-3541-BAB4-958B325FACCD}">
      <dsp:nvSpPr>
        <dsp:cNvPr id="5" name="燕尾形 4"/>
        <dsp:cNvSpPr/>
      </dsp:nvSpPr>
      <dsp:spPr bwMode="white">
        <a:xfrm>
          <a:off x="0" y="1759299"/>
          <a:ext cx="2830148" cy="1132059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0480" tIns="15240" rIns="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/>
            <a:t>注意力衰减</a:t>
          </a:r>
        </a:p>
      </dsp:txBody>
      <dsp:txXfrm>
        <a:off x="0" y="1759299"/>
        <a:ext cx="2830148" cy="1132059"/>
      </dsp:txXfrm>
    </dsp:sp>
    <dsp:sp modelId="{EF076780-87B0-1B49-8343-D9B3A18E89A2}">
      <dsp:nvSpPr>
        <dsp:cNvPr id="6" name="燕尾形 5"/>
        <dsp:cNvSpPr/>
      </dsp:nvSpPr>
      <dsp:spPr bwMode="white">
        <a:xfrm>
          <a:off x="2462228" y="1855524"/>
          <a:ext cx="2349023" cy="939609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4130" tIns="12065" rIns="0" bIns="1206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dk1"/>
              </a:solidFill>
            </a:rPr>
            <a:t>回答最后一跳问题注意力衰减。</a:t>
          </a:r>
          <a:endParaRPr>
            <a:solidFill>
              <a:schemeClr val="dk1"/>
            </a:solidFill>
          </a:endParaRPr>
        </a:p>
      </dsp:txBody>
      <dsp:txXfrm>
        <a:off x="2462228" y="1855524"/>
        <a:ext cx="2349023" cy="939609"/>
      </dsp:txXfrm>
    </dsp:sp>
    <dsp:sp modelId="{221AC1E6-E042-BC41-8009-5AA8F9DDD54D}">
      <dsp:nvSpPr>
        <dsp:cNvPr id="7" name="燕尾形 6"/>
        <dsp:cNvSpPr/>
      </dsp:nvSpPr>
      <dsp:spPr bwMode="white">
        <a:xfrm>
          <a:off x="9838" y="3374487"/>
          <a:ext cx="2830148" cy="1132059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30480" tIns="15240" rIns="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/>
            <a:t>推理脆弱性</a:t>
          </a:r>
        </a:p>
      </dsp:txBody>
      <dsp:txXfrm>
        <a:off x="9838" y="3374487"/>
        <a:ext cx="2830148" cy="1132059"/>
      </dsp:txXfrm>
    </dsp:sp>
    <dsp:sp modelId="{5D13BC51-7B4C-2D43-878A-EC60324C81F6}">
      <dsp:nvSpPr>
        <dsp:cNvPr id="8" name="燕尾形 7"/>
        <dsp:cNvSpPr/>
      </dsp:nvSpPr>
      <dsp:spPr bwMode="white">
        <a:xfrm>
          <a:off x="2462228" y="3480563"/>
          <a:ext cx="2349023" cy="939609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4130" tIns="12065" rIns="0" bIns="1206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solidFill>
                <a:schemeClr val="dk1"/>
              </a:solidFill>
            </a:rPr>
            <a:t>早期错误会导致雪崩错误。</a:t>
          </a:r>
          <a:endParaRPr>
            <a:solidFill>
              <a:schemeClr val="dk1"/>
            </a:solidFill>
          </a:endParaRPr>
        </a:p>
      </dsp:txBody>
      <dsp:txXfrm>
        <a:off x="2462228" y="3480563"/>
        <a:ext cx="2349023" cy="9396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nodeVertAlign" val="t"/>
          <dgm:param type="vertAlign" val="mid"/>
          <dgm:param type="nodeHorzAlign" val="l"/>
          <dgm:param type="fallback" val="2D"/>
        </dgm:alg>
      </dgm:if>
      <dgm:else name="Name3">
        <dgm:alg type="lin">
          <dgm:param type="linDir" val="fromT"/>
          <dgm:param type="nodeVertAlign" val="t"/>
          <dgm:param type="vertAlign" val="mid"/>
          <dgm:param type="nodeHorzAlign" val="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VertAlign" val="mid"/>
              <dgm:param type="nodeHorzAlign" val="l"/>
              <dgm:param type="fallback" val="2D"/>
            </dgm:alg>
          </dgm:if>
          <dgm:else name="Name7">
            <dgm:alg type="lin">
              <dgm:param type="linDir" val="fromR"/>
              <dgm:param type="nodeVertAlign" val="mid"/>
              <dgm:param type="nodeHorzAlign" val="r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type="chevron" r:blip="" rot="180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type="chevron" r:blip="" rot="180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10A8D-FE58-5D44-BF57-68666AFEC72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D31FC-319D-AE48-A523-BCDCD5D6F28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A626-5409-FF44-82C6-AF3719CA7D38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DF1AE-1ECF-7C48-867A-049666B482ED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3EBA-3601-3E4D-BD95-24B571C3AB14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F81B-173C-694C-AF3A-CCC2B3780C68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A3EE-8C76-6F47-AA2C-98BDBBDE349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1DB5-65B7-CB46-9F22-E8C62E07636B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9BB5-B292-A141-8F2E-EE3B4A816726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32371-77F5-E44D-9A53-F98FADE6B9C0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61B17-7931-7B45-BA21-1873DB398E32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72AA-F4F4-7445-A59D-C62ED3914ABC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94D3-B012-8049-8194-DF3FFE1473FC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88F131-0CBA-A84F-8653-BAFF88B505AD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999014"/>
            <a:ext cx="9144000" cy="859971"/>
          </a:xfrm>
        </p:spPr>
        <p:txBody>
          <a:bodyPr>
            <a:normAutofit fontScale="90000"/>
          </a:bodyPr>
          <a:lstStyle/>
          <a:p>
            <a:r>
              <a:rPr kumimoji="1" lang="en-US" altLang="zh-CN" sz="8000" dirty="0"/>
              <a:t>New Idea</a:t>
            </a:r>
            <a:br>
              <a:rPr kumimoji="1" lang="en-US" altLang="zh-CN" dirty="0"/>
            </a:b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Multi-hop</a:t>
            </a:r>
            <a:r>
              <a:rPr kumimoji="1" lang="zh-CN" altLang="en-US" dirty="0"/>
              <a:t> </a:t>
            </a:r>
            <a:r>
              <a:rPr kumimoji="1" lang="en-US" altLang="zh-CN" dirty="0"/>
              <a:t>QA</a:t>
            </a:r>
            <a:r>
              <a:rPr kumimoji="1" lang="zh-CN" altLang="en-US" dirty="0"/>
              <a:t> </a:t>
            </a:r>
            <a:r>
              <a:rPr kumimoji="1" lang="en-US" altLang="zh-CN" dirty="0"/>
              <a:t>Task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72886" y="4916128"/>
            <a:ext cx="1446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MBIT</a:t>
            </a:r>
            <a:r>
              <a:rPr kumimoji="1" lang="zh-CN" altLang="en-US" dirty="0"/>
              <a:t> 凌子扬</a:t>
            </a:r>
            <a:endParaRPr kumimoji="1" lang="en-US" altLang="zh-CN" dirty="0"/>
          </a:p>
          <a:p>
            <a:pPr algn="ctr"/>
            <a:r>
              <a:rPr kumimoji="1" lang="en-US" altLang="zh-CN" dirty="0"/>
              <a:t>2025.9.22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99" y="1104228"/>
            <a:ext cx="9144000" cy="859971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New Idea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332790" y="2873829"/>
            <a:ext cx="752641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en-US" altLang="zh-CN" sz="2800" dirty="0"/>
              <a:t>Multi-hop QA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Task </a:t>
            </a:r>
            <a:r>
              <a:rPr kumimoji="1" lang="zh-CN" altLang="en-US" sz="2800" dirty="0"/>
              <a:t>介绍</a:t>
            </a:r>
            <a:endParaRPr kumimoji="1"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2800" dirty="0"/>
              <a:t>Multi-hop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QA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Task</a:t>
            </a:r>
            <a:r>
              <a:rPr kumimoji="1" lang="zh-CN" altLang="en-US" sz="2800" dirty="0"/>
              <a:t> 问题分析及现有解决方案</a:t>
            </a:r>
            <a:endParaRPr kumimoji="1"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2800" dirty="0"/>
              <a:t>Theta-gamma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Coupling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System</a:t>
            </a:r>
            <a:endParaRPr kumimoji="1"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2800" dirty="0"/>
              <a:t>切入点，核心问题</a:t>
            </a:r>
            <a:endParaRPr kumimoji="1"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2800" dirty="0"/>
              <a:t>Implement</a:t>
            </a:r>
            <a:endParaRPr kumimoji="1"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2800" dirty="0"/>
              <a:t>Milestone</a:t>
            </a:r>
            <a:endParaRPr kumimoji="1" lang="en-US" altLang="zh-CN" sz="2800" dirty="0"/>
          </a:p>
          <a:p>
            <a:pPr marL="342900" indent="-342900">
              <a:buFont typeface="+mj-lt"/>
              <a:buAutoNum type="arabicPeriod"/>
            </a:pPr>
            <a:endParaRPr kumimoji="1"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4402"/>
            <a:ext cx="10515600" cy="1010088"/>
          </a:xfrm>
        </p:spPr>
        <p:txBody>
          <a:bodyPr/>
          <a:lstStyle/>
          <a:p>
            <a:r>
              <a:rPr kumimoji="1" lang="en-US" altLang="zh-CN" b="1" dirty="0"/>
              <a:t>Multi-hop QA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Tasks</a:t>
            </a:r>
            <a:endParaRPr kumimoji="1" lang="zh-CN" altLang="en-US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0" y="767086"/>
            <a:ext cx="12192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000" b="1" dirty="0"/>
              <a:t>Multi-hop QA</a:t>
            </a:r>
            <a:r>
              <a:rPr lang="zh-CN" altLang="en-US" sz="2000" b="1" dirty="0"/>
              <a:t>任务：</a:t>
            </a:r>
            <a:endParaRPr lang="en-US" altLang="zh-CN" sz="2000" b="1" dirty="0"/>
          </a:p>
          <a:p>
            <a:r>
              <a:rPr lang="zh-CN" altLang="en-US" sz="2000" dirty="0"/>
              <a:t>     模型需要通过多个推理步骤，整合来自多个信息源的信息才能回答问题的问答任务。</a:t>
            </a:r>
            <a:endParaRPr lang="en-US" altLang="zh-CN" sz="2000" dirty="0"/>
          </a:p>
          <a:p>
            <a:endParaRPr lang="en-US" altLang="zh-CN" sz="20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000" b="1" dirty="0"/>
              <a:t>多跳问答类型：</a:t>
            </a:r>
            <a:endParaRPr lang="en-US" altLang="zh-CN" sz="2000" b="1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altLang="zh-CN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62642" y="2156217"/>
          <a:ext cx="11266715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215"/>
                <a:gridCol w="1926772"/>
                <a:gridCol w="740772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Types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Description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Examples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组合型（</a:t>
                      </a:r>
                      <a:r>
                        <a:rPr lang="en-US" altLang="zh-CN" sz="1600" b="1" dirty="0"/>
                        <a:t>Compositional</a:t>
                      </a:r>
                      <a:r>
                        <a:rPr lang="zh-CN" altLang="en-US" sz="1600" b="1" dirty="0"/>
                        <a:t>）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解答这类问题需要串联中间实体来完成推理。 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Versus</a:t>
                      </a:r>
                      <a:r>
                        <a:rPr lang="zh-CN" altLang="en-US" sz="1600" dirty="0"/>
                        <a:t>创始人为何去世？</a:t>
                      </a:r>
                      <a:endParaRPr lang="en-US" altLang="zh-CN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比较型（</a:t>
                      </a:r>
                      <a:r>
                        <a:rPr lang="en-US" altLang="zh-CN" sz="1600" b="1" dirty="0"/>
                        <a:t>Comparison</a:t>
                      </a:r>
                      <a:r>
                        <a:rPr lang="zh-CN" altLang="en-US" sz="1600" b="1" dirty="0"/>
                        <a:t>）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涉及对不同实体的属性进行比较。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Theodor Haecker </a:t>
                      </a:r>
                      <a:r>
                        <a:rPr lang="zh-CN" altLang="en-US" sz="1600" dirty="0"/>
                        <a:t>和 </a:t>
                      </a:r>
                      <a:r>
                        <a:rPr lang="en-US" altLang="zh-CN" sz="1600" dirty="0"/>
                        <a:t>Harry Vaughan Watkins </a:t>
                      </a:r>
                      <a:r>
                        <a:rPr lang="zh-CN" altLang="en-US" sz="1600" dirty="0"/>
                        <a:t>谁活得更久？</a:t>
                      </a:r>
                      <a:endParaRPr lang="zh-CN" altLang="en-US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相交型（</a:t>
                      </a:r>
                      <a:r>
                        <a:rPr lang="en-US" altLang="zh-CN" sz="1600" b="1" dirty="0"/>
                        <a:t>Intersection</a:t>
                      </a:r>
                      <a:r>
                        <a:rPr lang="zh-CN" altLang="en-US" sz="1600" b="1" dirty="0"/>
                        <a:t>）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模型必须找到集合 </a:t>
                      </a:r>
                      <a:r>
                        <a:rPr lang="en-US" altLang="zh-CN" sz="1600" dirty="0"/>
                        <a:t>A </a:t>
                      </a:r>
                      <a:r>
                        <a:rPr lang="zh-CN" altLang="en-US" sz="1600" dirty="0"/>
                        <a:t>和集合 </a:t>
                      </a:r>
                      <a:r>
                        <a:rPr lang="en-US" altLang="zh-CN" sz="1600" dirty="0"/>
                        <a:t>B </a:t>
                      </a:r>
                      <a:r>
                        <a:rPr lang="zh-CN" altLang="en-US" sz="1600" dirty="0"/>
                        <a:t>的</a:t>
                      </a:r>
                      <a:r>
                        <a:rPr lang="zh-CN" altLang="en-US" sz="1600" b="1" dirty="0"/>
                        <a:t>交集</a:t>
                      </a:r>
                      <a:r>
                        <a:rPr lang="zh-CN" altLang="en-US" sz="1600" b="0" dirty="0"/>
                        <a:t>或者</a:t>
                      </a:r>
                      <a:r>
                        <a:rPr lang="zh-CN" altLang="en-US" sz="1600" b="1" dirty="0"/>
                        <a:t>差集。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/>
                        <a:t>请找出一位既出演过</a:t>
                      </a:r>
                      <a:r>
                        <a:rPr lang="en-US" altLang="zh-CN" sz="1600" b="0" dirty="0"/>
                        <a:t>《Unknown》</a:t>
                      </a:r>
                      <a:r>
                        <a:rPr lang="zh-CN" altLang="en-US" sz="1600" b="0" dirty="0"/>
                        <a:t>，又出演过</a:t>
                      </a:r>
                      <a:r>
                        <a:rPr lang="en-US" altLang="zh-CN" sz="1600" b="0" dirty="0"/>
                        <a:t>《Harry</a:t>
                      </a:r>
                      <a:r>
                        <a:rPr lang="zh-CN" altLang="en-US" sz="1600" b="0" dirty="0"/>
                        <a:t> </a:t>
                      </a:r>
                      <a:r>
                        <a:rPr lang="en-US" altLang="zh-CN" sz="1600" b="0" dirty="0"/>
                        <a:t>Porter》</a:t>
                      </a:r>
                      <a:r>
                        <a:rPr lang="zh-CN" altLang="en-US" sz="1600" b="0" dirty="0"/>
                        <a:t>的演员。</a:t>
                      </a:r>
                      <a:endParaRPr lang="zh-CN" altLang="en-US" sz="1600" b="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推理型（</a:t>
                      </a:r>
                      <a:r>
                        <a:rPr lang="en-US" altLang="zh-CN" sz="1600" b="1" dirty="0"/>
                        <a:t>Inference</a:t>
                      </a:r>
                      <a:r>
                        <a:rPr lang="zh-CN" altLang="en-US" sz="1600" b="1" dirty="0"/>
                        <a:t>）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要求模型依据表述的桥梁事实进行隐含推理。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谁是 </a:t>
                      </a:r>
                      <a:r>
                        <a:rPr lang="en-US" altLang="zh-CN" sz="1600" dirty="0"/>
                        <a:t>Dambar Shah </a:t>
                      </a:r>
                      <a:r>
                        <a:rPr lang="zh-CN" altLang="en-US" sz="1600" dirty="0"/>
                        <a:t>的孙子</a:t>
                      </a:r>
                      <a:endParaRPr lang="zh-CN" altLang="en-US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桥接比较型（</a:t>
                      </a:r>
                      <a:r>
                        <a:rPr lang="en-US" altLang="zh-CN" sz="1600" b="1" dirty="0"/>
                        <a:t>Bridge Comparison</a:t>
                      </a:r>
                      <a:r>
                        <a:rPr lang="zh-CN" altLang="en-US" sz="1600" b="1" dirty="0"/>
                        <a:t>）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先进行推理，再对推理结果进行比较。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Intercept</a:t>
                      </a:r>
                      <a:r>
                        <a:rPr lang="zh-CN" altLang="en-US" sz="1600" dirty="0"/>
                        <a:t> 和 </a:t>
                      </a:r>
                      <a:r>
                        <a:rPr lang="en-US" altLang="zh-CN" sz="1600" dirty="0"/>
                        <a:t>The Big Money </a:t>
                      </a:r>
                      <a:r>
                        <a:rPr lang="zh-CN" altLang="en-US" sz="1600" dirty="0"/>
                        <a:t>的导演是否来自同一个国家</a:t>
                      </a:r>
                      <a:endParaRPr lang="zh-CN" alt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527449" y="6550223"/>
            <a:ext cx="86645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/>
              <a:t>Yadav, 2025, Hop, Skip, and Overthink: Diagnosing Why Reasoning Models Fumble during Multi-Hop Analysis</a:t>
            </a:r>
            <a:endParaRPr kumimoji="1" lang="zh-CN" altLang="en-US" sz="1400" i="1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1028343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000" b="1" dirty="0"/>
              <a:t>代表性</a:t>
            </a:r>
            <a:r>
              <a:rPr lang="en-US" altLang="zh-CN" sz="2000" b="1" dirty="0"/>
              <a:t>Multi-hop QA</a:t>
            </a:r>
            <a:r>
              <a:rPr lang="zh-CN" altLang="en-US" sz="2000" b="1" dirty="0"/>
              <a:t>数据集：</a:t>
            </a:r>
            <a:endParaRPr kumimoji="1" lang="zh-CN" altLang="en-US" sz="2000" b="1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" y="1562099"/>
          <a:ext cx="12191999" cy="2209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2169196"/>
                <a:gridCol w="3926803"/>
                <a:gridCol w="1524000"/>
                <a:gridCol w="1524000"/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Dataset</a:t>
                      </a:r>
                      <a:endParaRPr lang="zh-CN" altLang="en-US" b="1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Detail</a:t>
                      </a:r>
                      <a:endParaRPr lang="zh-CN" altLang="en-US" b="1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Types</a:t>
                      </a:r>
                      <a:endParaRPr lang="zh-CN" altLang="en-US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Metrics SOTA</a:t>
                      </a:r>
                      <a:endParaRPr lang="zh-CN" altLang="en-US" b="1" dirty="0"/>
                    </a:p>
                  </a:txBody>
                  <a:tcPr anchor="ctr"/>
                </a:tc>
                <a:tc hMerge="1">
                  <a:tcPr/>
                </a:tc>
              </a:tr>
              <a:tr h="401139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EM</a:t>
                      </a:r>
                      <a:endParaRPr lang="zh-CN" altLang="en-US" b="1" dirty="0"/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F1</a:t>
                      </a:r>
                      <a:endParaRPr lang="zh-CN" altLang="en-US" b="1" dirty="0"/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</a:tr>
              <a:tr h="401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HotpotQA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用得最多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Compositional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\ Comparison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56.3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69.8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01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2Wiki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题类别最多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Compositional \ </a:t>
                      </a:r>
                      <a:r>
                        <a:rPr lang="en-US" altLang="zh-CN" dirty="0" err="1"/>
                        <a:t>Comparision</a:t>
                      </a:r>
                      <a:r>
                        <a:rPr lang="en-US" altLang="zh-CN" dirty="0"/>
                        <a:t> \ Inference \ Bridge-Comparison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72.5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77.3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401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Musique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最难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Compositional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\ Inference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30.9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42.4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标题 1"/>
          <p:cNvSpPr>
            <a:spLocks noGrp="1"/>
          </p:cNvSpPr>
          <p:nvPr/>
        </p:nvSpPr>
        <p:spPr>
          <a:xfrm>
            <a:off x="0" y="-48568"/>
            <a:ext cx="10515600" cy="1010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b="1" dirty="0"/>
              <a:t>Multi-hop QA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Tasks</a:t>
            </a:r>
            <a:endParaRPr kumimoji="1" lang="zh-CN" altLang="en-US" b="1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19389"/>
          </a:xfrm>
        </p:spPr>
        <p:txBody>
          <a:bodyPr/>
          <a:lstStyle/>
          <a:p>
            <a:r>
              <a:rPr kumimoji="1" lang="en-US" altLang="zh-CN" b="1" dirty="0">
                <a:latin typeface="+mj-ea"/>
              </a:rPr>
              <a:t>Context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Engineering</a:t>
            </a:r>
            <a:r>
              <a:rPr kumimoji="1" lang="zh-CN" altLang="en-US" b="1" dirty="0">
                <a:latin typeface="+mj-ea"/>
              </a:rPr>
              <a:t> 与 </a:t>
            </a:r>
            <a:r>
              <a:rPr kumimoji="1" lang="en-US" altLang="zh-CN" b="1" dirty="0">
                <a:latin typeface="+mj-ea"/>
              </a:rPr>
              <a:t>RAG</a:t>
            </a:r>
            <a:r>
              <a:rPr kumimoji="1" lang="zh-CN" altLang="en-US" b="1" dirty="0">
                <a:latin typeface="+mj-ea"/>
              </a:rPr>
              <a:t>的关系</a:t>
            </a:r>
            <a:endParaRPr kumimoji="1" lang="zh-CN" altLang="en-US" b="1" dirty="0">
              <a:latin typeface="+mj-ea"/>
            </a:endParaRPr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558" y="919389"/>
            <a:ext cx="7772400" cy="156045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783782" y="2479841"/>
            <a:ext cx="20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/>
              <a:t>Aug</a:t>
            </a:r>
            <a:r>
              <a:rPr kumimoji="1" lang="zh-CN" altLang="en-US" sz="1400" i="1" dirty="0"/>
              <a:t> </a:t>
            </a:r>
            <a:r>
              <a:rPr kumimoji="1" lang="en-US" altLang="zh-CN" sz="1400" i="1" dirty="0"/>
              <a:t>20, 2025, Jeff Huber</a:t>
            </a:r>
            <a:endParaRPr kumimoji="1" lang="zh-CN" altLang="en-US" sz="1400" i="1" dirty="0"/>
          </a:p>
        </p:txBody>
      </p:sp>
      <p:pic>
        <p:nvPicPr>
          <p:cNvPr id="11" name="图片 10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2" y="2979375"/>
            <a:ext cx="7423917" cy="3225482"/>
          </a:xfrm>
          <a:prstGeom prst="rect">
            <a:avLst/>
          </a:prstGeom>
        </p:spPr>
      </p:pic>
      <p:pic>
        <p:nvPicPr>
          <p:cNvPr id="15" name="图片 14" descr="图片包含 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517" y="900319"/>
            <a:ext cx="3755571" cy="977866"/>
          </a:xfrm>
          <a:prstGeom prst="rect">
            <a:avLst/>
          </a:prstGeom>
        </p:spPr>
      </p:pic>
      <p:cxnSp>
        <p:nvCxnSpPr>
          <p:cNvPr id="17" name="直线连接符 16"/>
          <p:cNvCxnSpPr/>
          <p:nvPr/>
        </p:nvCxnSpPr>
        <p:spPr>
          <a:xfrm>
            <a:off x="762000" y="3559629"/>
            <a:ext cx="2786743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/>
          <p:cNvCxnSpPr/>
          <p:nvPr/>
        </p:nvCxnSpPr>
        <p:spPr>
          <a:xfrm>
            <a:off x="2160325" y="4724400"/>
            <a:ext cx="2008904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/>
          <p:cNvCxnSpPr/>
          <p:nvPr/>
        </p:nvCxnSpPr>
        <p:spPr>
          <a:xfrm>
            <a:off x="2356268" y="5050971"/>
            <a:ext cx="2008904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918" y="2849495"/>
            <a:ext cx="4344768" cy="641509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640404" y="1967717"/>
            <a:ext cx="4737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随着上下文长度增加，模型性能会显著下降。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7640404" y="2337049"/>
            <a:ext cx="4414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更长的上下文窗口并不意味着更好的性能。</a:t>
            </a:r>
            <a:endParaRPr lang="zh-CN" altLang="en-US" dirty="0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827497" y="5178832"/>
            <a:ext cx="4158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dirty="0"/>
              <a:t>更需要重视的是检索到的东西在上下文中的排布，让模型可以理解而不是反复复杂思考。</a:t>
            </a:r>
            <a:endParaRPr kumimoji="1"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dirty="0"/>
              <a:t>上下文的选择和排布是可以动态调整的，可以优化的，而不是一成不变的。</a:t>
            </a:r>
            <a:endParaRPr kumimoji="1" lang="zh-CN" altLang="en-US" dirty="0"/>
          </a:p>
        </p:txBody>
      </p:sp>
      <p:sp>
        <p:nvSpPr>
          <p:cNvPr id="31" name="椭圆 30"/>
          <p:cNvSpPr/>
          <p:nvPr/>
        </p:nvSpPr>
        <p:spPr>
          <a:xfrm>
            <a:off x="272143" y="5551714"/>
            <a:ext cx="1023257" cy="653143"/>
          </a:xfrm>
          <a:prstGeom prst="ellipse">
            <a:avLst/>
          </a:prstGeom>
          <a:solidFill>
            <a:srgbClr val="FFC000">
              <a:alpha val="2248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3" name="直线箭头连接符 32"/>
          <p:cNvCxnSpPr/>
          <p:nvPr/>
        </p:nvCxnSpPr>
        <p:spPr>
          <a:xfrm flipV="1">
            <a:off x="4060371" y="5399314"/>
            <a:ext cx="1767126" cy="293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/>
          <p:nvPr/>
        </p:nvCxnSpPr>
        <p:spPr>
          <a:xfrm>
            <a:off x="4459537" y="6085568"/>
            <a:ext cx="1367960" cy="1071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7153859" y="4097200"/>
            <a:ext cx="4900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RAG</a:t>
            </a:r>
            <a:r>
              <a:rPr kumimoji="1" lang="zh-CN" altLang="en-US" dirty="0"/>
              <a:t>：重视检索，上下文够大，忽略放入。</a:t>
            </a:r>
            <a:endParaRPr kumimoji="1" lang="en-US" altLang="zh-CN" dirty="0"/>
          </a:p>
          <a:p>
            <a:r>
              <a:rPr kumimoji="1" lang="en-US" altLang="zh-CN" dirty="0"/>
              <a:t>Context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Engineering</a:t>
            </a:r>
            <a:r>
              <a:rPr kumimoji="1" lang="zh-CN" altLang="en-US" dirty="0"/>
              <a:t>：重视</a:t>
            </a:r>
            <a:r>
              <a:rPr kumimoji="1" lang="en-US" altLang="zh-CN" dirty="0" err="1"/>
              <a:t>rerank</a:t>
            </a:r>
            <a:r>
              <a:rPr kumimoji="1" lang="zh-CN" altLang="en-US" dirty="0"/>
              <a:t>，重视逻辑。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19389"/>
          </a:xfrm>
        </p:spPr>
        <p:txBody>
          <a:bodyPr/>
          <a:lstStyle/>
          <a:p>
            <a:r>
              <a:rPr kumimoji="1" lang="en-US" altLang="zh-CN" b="1" dirty="0">
                <a:latin typeface="+mj-ea"/>
              </a:rPr>
              <a:t>RAG \ Context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Engineering \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Multi-hop</a:t>
            </a:r>
            <a:endParaRPr kumimoji="1" lang="zh-CN" altLang="en-US" b="1" dirty="0">
              <a:latin typeface="+mj-ea"/>
            </a:endParaRPr>
          </a:p>
        </p:txBody>
      </p:sp>
      <p:pic>
        <p:nvPicPr>
          <p:cNvPr id="13" name="图片 12" descr="文本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648" y="2190125"/>
            <a:ext cx="5759352" cy="1560452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681266" y="2370187"/>
            <a:ext cx="3078087" cy="1200329"/>
          </a:xfrm>
          <a:prstGeom prst="rect">
            <a:avLst/>
          </a:prstGeom>
          <a:solidFill>
            <a:schemeClr val="accent2">
              <a:lumMod val="50000"/>
              <a:alpha val="40000"/>
            </a:schemeClr>
          </a:solidFill>
          <a:ln>
            <a:noFill/>
          </a:ln>
          <a:effectLst>
            <a:softEdge rad="0"/>
          </a:effectLst>
        </p:spPr>
        <p:txBody>
          <a:bodyPr wrap="none" rtlCol="0">
            <a:spAutoFit/>
          </a:bodyPr>
          <a:lstStyle/>
          <a:p>
            <a:r>
              <a:rPr lang="zh-CN" altLang="en-US" dirty="0"/>
              <a:t>哪些信息该写入（</a:t>
            </a:r>
            <a:r>
              <a:rPr lang="en-US" altLang="zh-CN" dirty="0"/>
              <a:t>Write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哪些信息需要选择（</a:t>
            </a:r>
            <a:r>
              <a:rPr lang="en-US" altLang="zh-CN" dirty="0"/>
              <a:t>Select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哪些必须压缩（</a:t>
            </a:r>
            <a:r>
              <a:rPr lang="en-US" altLang="zh-CN" dirty="0"/>
              <a:t>Compress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哪些应该隔离（</a:t>
            </a:r>
            <a:r>
              <a:rPr lang="en-US" altLang="zh-CN" dirty="0"/>
              <a:t>Isolate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6" name="圆角矩形 5"/>
          <p:cNvSpPr/>
          <p:nvPr/>
        </p:nvSpPr>
        <p:spPr>
          <a:xfrm>
            <a:off x="185060" y="1979809"/>
            <a:ext cx="1556656" cy="1981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000" dirty="0"/>
              <a:t>RAG</a:t>
            </a:r>
            <a:endParaRPr kumimoji="1" lang="en-US" altLang="zh-CN" sz="4000" dirty="0"/>
          </a:p>
          <a:p>
            <a:pPr algn="ctr"/>
            <a:r>
              <a:rPr kumimoji="1" lang="zh-CN" altLang="en-US" dirty="0"/>
              <a:t>检索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排序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生成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726150" y="3801482"/>
            <a:ext cx="3033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/>
              <a:t>Context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Engineering</a:t>
            </a:r>
            <a:endParaRPr kumimoji="1"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693379" y="3861650"/>
            <a:ext cx="54986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/>
              <a:t>Multi-hop</a:t>
            </a:r>
            <a:endParaRPr kumimoji="1" lang="en-US" altLang="zh-CN" sz="2400" b="1" dirty="0"/>
          </a:p>
          <a:p>
            <a:r>
              <a:rPr kumimoji="1" lang="zh-CN" altLang="en-US" sz="2000" dirty="0"/>
              <a:t>需要更加复杂的，精细的</a:t>
            </a:r>
            <a:r>
              <a:rPr kumimoji="1" lang="en-US" altLang="zh-CN" sz="2000" dirty="0"/>
              <a:t>Context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Engineering</a:t>
            </a:r>
            <a:r>
              <a:rPr kumimoji="1" lang="zh-CN" altLang="en-US" sz="2000" dirty="0"/>
              <a:t>。</a:t>
            </a:r>
            <a:endParaRPr kumimoji="1" lang="en-US" altLang="zh-C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19389"/>
          </a:xfrm>
        </p:spPr>
        <p:txBody>
          <a:bodyPr/>
          <a:lstStyle/>
          <a:p>
            <a:r>
              <a:rPr kumimoji="1" lang="en-US" altLang="zh-CN" b="1" dirty="0">
                <a:latin typeface="+mj-ea"/>
              </a:rPr>
              <a:t>Multi-hop QA</a:t>
            </a:r>
            <a:r>
              <a:rPr kumimoji="1" lang="zh-CN" altLang="en-US" b="1" dirty="0">
                <a:latin typeface="+mj-ea"/>
              </a:rPr>
              <a:t> 深度分析</a:t>
            </a:r>
            <a:endParaRPr kumimoji="1" lang="zh-CN" altLang="en-US" b="1" dirty="0">
              <a:latin typeface="+mj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40179" y="1260056"/>
          <a:ext cx="11511642" cy="4561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764"/>
                <a:gridCol w="5532664"/>
                <a:gridCol w="3837214"/>
              </a:tblGrid>
              <a:tr h="4686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Common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Errors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Description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Reason</a:t>
                      </a:r>
                      <a:endParaRPr lang="zh-CN" altLang="en-US" sz="1800" dirty="0"/>
                    </a:p>
                  </a:txBody>
                  <a:tcPr anchor="ctr"/>
                </a:tc>
              </a:tr>
              <a:tr h="32004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Overhopping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过度跳数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早期无关：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推理前期或过程中插入无关步骤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推理问题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20040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后期无关：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完成必要推理后额外阐述冗余信息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cPr/>
                </a:tc>
              </a:tr>
              <a:tr h="5926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Underhopping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（跳数不足）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推理链不完整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推理问题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5914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推理偏差</a:t>
                      </a:r>
                      <a:endParaRPr lang="zh-CN" alt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推理中出现错误：涉及错误文档、实体或关系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检索问题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2793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过度思考</a:t>
                      </a:r>
                      <a:endParaRPr lang="zh-CN" alt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引入非必要信息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推理问题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27939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重复、循环推理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cPr/>
                </a:tc>
              </a:tr>
              <a:tr h="7330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问题误解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推理初期误解问题意图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推理问题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5411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覆盖度不足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未能检索到关键证据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检索问题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27449" y="6550223"/>
            <a:ext cx="86645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/>
              <a:t>Yadav, 2025, Hop, Skip, and Overthink: Diagnosing Why Reasoning Models Fumble during Multi-Hop Analysis</a:t>
            </a:r>
            <a:endParaRPr kumimoji="1" lang="zh-CN" altLang="en-US" sz="14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19389"/>
          </a:xfrm>
        </p:spPr>
        <p:txBody>
          <a:bodyPr/>
          <a:lstStyle/>
          <a:p>
            <a:r>
              <a:rPr kumimoji="1" lang="en-US" altLang="zh-CN" b="1" dirty="0">
                <a:latin typeface="+mj-ea"/>
              </a:rPr>
              <a:t>Multi-hop </a:t>
            </a:r>
            <a:r>
              <a:rPr kumimoji="1" lang="zh-CN" altLang="en-US" b="1" dirty="0">
                <a:latin typeface="+mj-ea"/>
              </a:rPr>
              <a:t>中不同类型</a:t>
            </a:r>
            <a:r>
              <a:rPr kumimoji="1" lang="en-US" altLang="zh-CN" b="1" dirty="0">
                <a:latin typeface="+mj-ea"/>
              </a:rPr>
              <a:t>QA</a:t>
            </a:r>
            <a:r>
              <a:rPr kumimoji="1" lang="zh-CN" altLang="en-US" b="1" dirty="0">
                <a:latin typeface="+mj-ea"/>
              </a:rPr>
              <a:t>的错误分析</a:t>
            </a:r>
            <a:endParaRPr kumimoji="1" lang="zh-CN" altLang="en-US" b="1" dirty="0">
              <a:latin typeface="+mj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13657" y="1113262"/>
          <a:ext cx="11168742" cy="5087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5230"/>
                <a:gridCol w="4800598"/>
                <a:gridCol w="3722914"/>
              </a:tblGrid>
              <a:tr h="7269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Type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Performance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Details</a:t>
                      </a:r>
                      <a:endParaRPr lang="zh-CN" altLang="en-US" sz="1800" dirty="0"/>
                    </a:p>
                  </a:txBody>
                  <a:tcPr anchor="ctr"/>
                </a:tc>
              </a:tr>
              <a:tr h="13742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Comparison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易引发冗余推理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HotpotQA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与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2Wiki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中的比较题，完全正确率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50%-68%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25%-45%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错误源于早期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后续无关，对称表述促使模型过度探索。</a:t>
                      </a:r>
                      <a:endParaRPr lang="zh-CN" altLang="en-US" sz="1800" dirty="0"/>
                    </a:p>
                  </a:txBody>
                  <a:tcPr anchor="ctr"/>
                </a:tc>
              </a:tr>
              <a:tr h="13742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Inference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错误率最高且易过度思考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MuSiQue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与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2Wiki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中的推理题需隐性推理与多步逻辑，无强词汇提示，错误类型多样（早期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后续无关、误解、跳数不足）</a:t>
                      </a:r>
                      <a:endParaRPr lang="zh-CN" altLang="en-US" sz="1800" dirty="0"/>
                    </a:p>
                  </a:txBody>
                  <a:tcPr anchor="ctr"/>
                </a:tc>
              </a:tr>
              <a:tr h="8850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Compositional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组合题暴露整合缺陷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此类题目考验模型整合离散事实的能力，小型模型常出现部分正确链</a:t>
                      </a:r>
                      <a:endParaRPr lang="zh-CN" altLang="en-US" sz="1800" dirty="0"/>
                    </a:p>
                  </a:txBody>
                  <a:tcPr anchor="ctr"/>
                </a:tc>
              </a:tr>
              <a:tr h="7269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Bridge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桥接比较题易解决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8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7449" y="6550223"/>
            <a:ext cx="86645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/>
              <a:t>Yadav, 2025, Hop, Skip, and Overthink: Diagnosing Why Reasoning Models Fumble during Multi-Hop Analysis</a:t>
            </a:r>
            <a:endParaRPr kumimoji="1" lang="zh-CN" altLang="en-US" sz="1400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72776" y="1091685"/>
            <a:ext cx="99902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Thomas Parker Sanborn was a model for the protagonist in </a:t>
            </a:r>
            <a:r>
              <a:rPr kumimoji="1" lang="en-US" altLang="zh-C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only novel </a:t>
            </a:r>
            <a:r>
              <a:rPr kumimoji="1"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a poet </a:t>
            </a:r>
            <a:r>
              <a:rPr kumimoji="1" lang="en-US" altLang="zh-CN" dirty="0"/>
              <a:t>originally from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FF0000"/>
                </a:solidFill>
              </a:rPr>
              <a:t>what country</a:t>
            </a:r>
            <a:r>
              <a:rPr kumimoji="1" lang="en-US" altLang="zh-CN" dirty="0"/>
              <a:t>?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lang="zh-CN" altLang="en-US" dirty="0"/>
              <a:t>托马斯</a:t>
            </a:r>
            <a:r>
              <a:rPr lang="en-US" altLang="zh-CN" dirty="0"/>
              <a:t>·</a:t>
            </a:r>
            <a:r>
              <a:rPr lang="zh-CN" altLang="en-US" dirty="0"/>
              <a:t>帕克</a:t>
            </a:r>
            <a:r>
              <a:rPr lang="en-US" altLang="zh-CN" dirty="0"/>
              <a:t>·</a:t>
            </a:r>
            <a:r>
              <a:rPr lang="zh-CN" altLang="en-US" dirty="0"/>
              <a:t>桑伯恩是某位诗人唯一一部小说中主人公的原型，这位诗人最初来自哪个国家？</a:t>
            </a:r>
            <a:endParaRPr lang="zh-CN" altLang="en-US" dirty="0"/>
          </a:p>
        </p:txBody>
      </p:sp>
      <p:pic>
        <p:nvPicPr>
          <p:cNvPr id="9" name="图片 8" descr="文本, 信件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8976" y="2448495"/>
            <a:ext cx="7695567" cy="3965203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073487" y="6557706"/>
            <a:ext cx="446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/>
              <a:t>Wang, 2025, Chain of Retrieval-Augmented Generation</a:t>
            </a:r>
            <a:endParaRPr kumimoji="1" lang="zh-CN" altLang="en-US" sz="1400" i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337457" y="3200400"/>
            <a:ext cx="34398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托马斯</a:t>
            </a:r>
            <a:r>
              <a:rPr lang="en-US" altLang="zh-CN" dirty="0"/>
              <a:t>·</a:t>
            </a:r>
            <a:r>
              <a:rPr lang="zh-CN" altLang="en-US" dirty="0"/>
              <a:t>帕克</a:t>
            </a:r>
            <a:r>
              <a:rPr lang="en-US" altLang="zh-CN" dirty="0"/>
              <a:t>·</a:t>
            </a:r>
            <a:r>
              <a:rPr lang="zh-CN" altLang="en-US" dirty="0"/>
              <a:t>桑伯恩是哪</a:t>
            </a:r>
            <a:r>
              <a:rPr kumimoji="1" lang="zh-CN" altLang="en-US" dirty="0"/>
              <a:t>一部小说的主人公原型？</a:t>
            </a:r>
            <a:br>
              <a:rPr kumimoji="1" lang="en-US" altLang="zh-CN" dirty="0"/>
            </a:br>
            <a:endParaRPr kumimoji="1" lang="en-US" altLang="zh-CN" dirty="0"/>
          </a:p>
          <a:p>
            <a:r>
              <a:rPr kumimoji="1" lang="zh-CN" altLang="en-US" dirty="0"/>
              <a:t>这部小说的作者是否只写了唯一这一部小说？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这部小说的作者来源哪个国家？</a:t>
            </a:r>
            <a:br>
              <a:rPr kumimoji="1" lang="en-US" altLang="zh-CN" dirty="0"/>
            </a:br>
            <a:endParaRPr kumimoji="1" lang="zh-CN" altLang="en-US" dirty="0"/>
          </a:p>
        </p:txBody>
      </p:sp>
      <p:cxnSp>
        <p:nvCxnSpPr>
          <p:cNvPr id="13" name="直线连接符 12"/>
          <p:cNvCxnSpPr/>
          <p:nvPr/>
        </p:nvCxnSpPr>
        <p:spPr>
          <a:xfrm>
            <a:off x="5138057" y="3918857"/>
            <a:ext cx="30371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5138057" y="4354562"/>
            <a:ext cx="39950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214363" y="3590925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直接问诗人国籍 </a:t>
            </a:r>
            <a:r>
              <a:rPr kumimoji="1" lang="en-US" altLang="zh-CN" dirty="0">
                <a:solidFill>
                  <a:srgbClr val="FF0000"/>
                </a:solidFill>
              </a:rPr>
              <a:t>❌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081953" y="4116738"/>
            <a:ext cx="2555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问谁只写了一部小说 </a:t>
            </a:r>
            <a:r>
              <a:rPr kumimoji="1" lang="en-US" altLang="zh-CN" dirty="0">
                <a:solidFill>
                  <a:srgbClr val="FF0000"/>
                </a:solidFill>
              </a:rPr>
              <a:t>❌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0" y="0"/>
            <a:ext cx="10515600" cy="9193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latin typeface="+mj-ea"/>
              </a:rPr>
              <a:t>现有方案 </a:t>
            </a:r>
            <a:r>
              <a:rPr kumimoji="1" lang="en-US" altLang="zh-CN" b="1" dirty="0">
                <a:latin typeface="+mj-ea"/>
              </a:rPr>
              <a:t>Chain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of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RAG</a:t>
            </a:r>
            <a:endParaRPr kumimoji="1" lang="zh-CN" altLang="en-US" b="1" dirty="0">
              <a:latin typeface="+mj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0" y="0"/>
            <a:ext cx="10515600" cy="9193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latin typeface="+mj-ea"/>
              </a:rPr>
              <a:t>现有方案 </a:t>
            </a:r>
            <a:r>
              <a:rPr kumimoji="1" lang="en-US" altLang="zh-CN" b="1" dirty="0">
                <a:latin typeface="+mj-ea"/>
              </a:rPr>
              <a:t>Chain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of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RAG</a:t>
            </a:r>
            <a:r>
              <a:rPr kumimoji="1" lang="zh-CN" altLang="en-US" b="1" dirty="0">
                <a:latin typeface="+mj-ea"/>
              </a:rPr>
              <a:t> 缺陷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73487" y="6557706"/>
            <a:ext cx="446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/>
              <a:t>Wang, 2025, Chain of Retrieval-Augmented Generation</a:t>
            </a:r>
            <a:endParaRPr kumimoji="1" lang="zh-CN" altLang="en-US" sz="1400" i="1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82599" y="1120744"/>
          <a:ext cx="11053969" cy="4648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433"/>
                <a:gridCol w="4200268"/>
                <a:gridCol w="4200268"/>
              </a:tblGrid>
              <a:tr h="8545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Deficiency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Description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Metaphor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948524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推理脆弱性</a:t>
                      </a:r>
                      <a:endParaRPr lang="en-US" altLang="zh-CN" b="1" dirty="0"/>
                    </a:p>
                    <a:p>
                      <a:pPr algn="ctr"/>
                      <a:r>
                        <a:rPr lang="en-US" altLang="zh-CN" b="1" dirty="0"/>
                        <a:t>Error-Compounding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取决于前一步的问题和答案，早期危害大。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第一个子问题找错了，比如人民地名找错，后面的所有检索和推理都毫无意义。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948524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无法重构逻辑空间</a:t>
                      </a:r>
                      <a:br>
                        <a:rPr lang="en-US" altLang="zh-CN" b="1" dirty="0"/>
                      </a:br>
                      <a:r>
                        <a:rPr lang="zh-CN" altLang="en-US" b="1" dirty="0"/>
                        <a:t>无错误修复能力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中间出现错误只会多余思考，无法重新检索，只能原地思考。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只会检索一次，如果发现检索的东西没有自己想要的，只能原地愣住，或者幻觉分析，会经常输出“</a:t>
                      </a:r>
                      <a:r>
                        <a:rPr lang="en-US" altLang="zh-CN" dirty="0"/>
                        <a:t>maybe</a:t>
                      </a:r>
                      <a:r>
                        <a:rPr lang="zh-CN" altLang="en-US" dirty="0"/>
                        <a:t>”。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948524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注意力衰减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回答最终问题时注意力偏移，仅关注在最后一个子问题上。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找着找着，分析分析，就会忘记自己原来的根本问题到底是什么了。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94852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检索技术、检索成本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检索工具没有更新，检索次数按照问题复杂度和子问题需要线形增加。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12722" y="3830309"/>
            <a:ext cx="10923638" cy="2811175"/>
          </a:xfrm>
        </p:spPr>
        <p:txBody>
          <a:bodyPr>
            <a:noAutofit/>
          </a:bodyPr>
          <a:lstStyle/>
          <a:p>
            <a:r>
              <a:rPr lang="zh-CN" altLang="en-US" sz="1600" dirty="0"/>
              <a:t>当解决复杂问题时：</a:t>
            </a:r>
            <a:endParaRPr lang="en-US" altLang="zh-CN" sz="1600" dirty="0"/>
          </a:p>
          <a:p>
            <a:pPr lvl="1"/>
            <a:r>
              <a:rPr lang="zh-CN" altLang="en-US" sz="1600" dirty="0"/>
              <a:t>人脑 </a:t>
            </a:r>
            <a:r>
              <a:rPr lang="en-US" altLang="zh-CN" sz="1600" dirty="0"/>
              <a:t>theta-gamma </a:t>
            </a:r>
            <a:r>
              <a:rPr lang="zh-CN" altLang="en-US" sz="1600" dirty="0"/>
              <a:t>耦合强度与任务目标相关度呈正相关 </a:t>
            </a:r>
            <a:r>
              <a:rPr lang="en-US" altLang="zh-CN" sz="1600" b="1" u="sng" dirty="0"/>
              <a:t>r=0.78</a:t>
            </a:r>
            <a:endParaRPr lang="en-US" altLang="zh-CN" sz="1600" b="1" u="sng" dirty="0"/>
          </a:p>
          <a:p>
            <a:pPr lvl="1"/>
            <a:r>
              <a:rPr lang="en-US" altLang="zh-CN" sz="1600" dirty="0"/>
              <a:t>AI</a:t>
            </a:r>
            <a:r>
              <a:rPr lang="zh-CN" altLang="en-US" sz="1600" dirty="0"/>
              <a:t>的注意力与目标相关度仅 </a:t>
            </a:r>
            <a:r>
              <a:rPr lang="en-US" altLang="zh-CN" sz="1600" b="1" u="sng" dirty="0"/>
              <a:t>r=0.32</a:t>
            </a:r>
            <a:r>
              <a:rPr lang="zh-CN" altLang="en-US" sz="1600" i="1" dirty="0"/>
              <a:t>（</a:t>
            </a:r>
            <a:r>
              <a:rPr lang="en-US" altLang="zh-CN" sz="1600" i="1" dirty="0"/>
              <a:t>Wang et al., PNAS 2023</a:t>
            </a:r>
            <a:r>
              <a:rPr lang="zh-CN" altLang="en-US" sz="1600" i="1" dirty="0"/>
              <a:t>）</a:t>
            </a:r>
            <a:r>
              <a:rPr lang="zh-CN" altLang="en-US" sz="1600" dirty="0"/>
              <a:t>。 </a:t>
            </a:r>
            <a:endParaRPr lang="en-US" altLang="zh-CN" sz="1600" dirty="0"/>
          </a:p>
          <a:p>
            <a:r>
              <a:rPr lang="zh-CN" altLang="en-US" sz="1600" dirty="0"/>
              <a:t>面对</a:t>
            </a:r>
            <a:r>
              <a:rPr lang="zh-CN" altLang="en-US" sz="1600" b="1" u="sng" dirty="0"/>
              <a:t>角色别名</a:t>
            </a:r>
            <a:r>
              <a:rPr lang="zh-CN" altLang="en-US" sz="1600" dirty="0"/>
              <a:t>问题时，人脑 </a:t>
            </a:r>
            <a:r>
              <a:rPr lang="en-US" altLang="zh-CN" sz="1600" dirty="0"/>
              <a:t>gamma </a:t>
            </a:r>
            <a:r>
              <a:rPr lang="zh-CN" altLang="en-US" sz="1600" dirty="0"/>
              <a:t>振荡同步性提高 </a:t>
            </a:r>
            <a:r>
              <a:rPr lang="en-US" altLang="zh-CN" sz="1600" dirty="0"/>
              <a:t>40%</a:t>
            </a:r>
            <a:r>
              <a:rPr lang="zh-CN" altLang="en-US" sz="1600" dirty="0"/>
              <a:t>，表明</a:t>
            </a:r>
            <a:r>
              <a:rPr lang="zh-CN" altLang="en-US" sz="1600" b="1" u="sng" dirty="0"/>
              <a:t>更强的概念绑定</a:t>
            </a:r>
            <a:r>
              <a:rPr lang="zh-CN" altLang="en-US" sz="1600" i="1" dirty="0"/>
              <a:t>（</a:t>
            </a:r>
            <a:r>
              <a:rPr lang="en-US" altLang="zh-CN" sz="1600" i="1" dirty="0"/>
              <a:t>Lakatos et al., Neuron 2023</a:t>
            </a:r>
            <a:r>
              <a:rPr lang="zh-CN" altLang="en-US" sz="1600" i="1" dirty="0"/>
              <a:t>）</a:t>
            </a:r>
            <a:r>
              <a:rPr lang="zh-CN" altLang="en-US" sz="1600" dirty="0"/>
              <a:t>。 </a:t>
            </a:r>
            <a:endParaRPr lang="en-US" altLang="zh-CN" sz="1600" dirty="0"/>
          </a:p>
          <a:p>
            <a:r>
              <a:rPr lang="zh-CN" altLang="en-US" sz="1600" dirty="0"/>
              <a:t>当问题有</a:t>
            </a:r>
            <a:r>
              <a:rPr lang="zh-CN" altLang="en-US" sz="1600" b="1" u="sng" dirty="0"/>
              <a:t>隐性简化可能</a:t>
            </a:r>
            <a:r>
              <a:rPr lang="zh-CN" altLang="en-US" sz="1600" dirty="0"/>
              <a:t>时，人脑前额叶 </a:t>
            </a:r>
            <a:r>
              <a:rPr lang="en-US" altLang="zh-CN" sz="1600" dirty="0"/>
              <a:t>theta </a:t>
            </a:r>
            <a:r>
              <a:rPr lang="zh-CN" altLang="en-US" sz="1600" dirty="0"/>
              <a:t>功率下降 </a:t>
            </a:r>
            <a:r>
              <a:rPr lang="en-US" altLang="zh-CN" sz="1600" dirty="0"/>
              <a:t>35%</a:t>
            </a:r>
            <a:r>
              <a:rPr lang="zh-CN" altLang="en-US" sz="1600" dirty="0"/>
              <a:t>，表明认知负荷降低</a:t>
            </a:r>
            <a:r>
              <a:rPr lang="zh-CN" altLang="en-US" sz="1600" i="1" dirty="0"/>
              <a:t>（</a:t>
            </a:r>
            <a:r>
              <a:rPr lang="en-US" altLang="zh-CN" sz="1600" i="1" dirty="0"/>
              <a:t>Hsieh et al., Nature Neuroscience 2022</a:t>
            </a:r>
            <a:r>
              <a:rPr lang="zh-CN" altLang="en-US" sz="1600" i="1" dirty="0"/>
              <a:t>）。 </a:t>
            </a:r>
            <a:endParaRPr lang="zh-CN" altLang="en-US" sz="1600" i="1" dirty="0"/>
          </a:p>
          <a:p>
            <a:r>
              <a:rPr lang="zh-CN" altLang="en-US" sz="1600" b="1" u="sng" dirty="0"/>
              <a:t>前扣带回（</a:t>
            </a:r>
            <a:r>
              <a:rPr lang="en-US" altLang="zh-CN" sz="1600" b="1" u="sng" dirty="0"/>
              <a:t>ACC</a:t>
            </a:r>
            <a:r>
              <a:rPr lang="zh-CN" altLang="en-US" sz="1600" b="1" u="sng" dirty="0"/>
              <a:t>）</a:t>
            </a:r>
            <a:r>
              <a:rPr lang="zh-CN" altLang="en-US" sz="1600" dirty="0"/>
              <a:t>在错误发生前 </a:t>
            </a:r>
            <a:r>
              <a:rPr lang="en-US" altLang="zh-CN" sz="1600" dirty="0"/>
              <a:t>300ms </a:t>
            </a:r>
            <a:r>
              <a:rPr lang="zh-CN" altLang="en-US" sz="1600" dirty="0"/>
              <a:t>就产生</a:t>
            </a:r>
            <a:r>
              <a:rPr lang="en-US" altLang="zh-CN" sz="1600" dirty="0"/>
              <a:t>"</a:t>
            </a:r>
            <a:r>
              <a:rPr lang="zh-CN" altLang="en-US" sz="1600" dirty="0"/>
              <a:t>错误相关 </a:t>
            </a:r>
            <a:r>
              <a:rPr lang="en-US" altLang="zh-CN" sz="1600" dirty="0"/>
              <a:t>negativity"</a:t>
            </a:r>
            <a:r>
              <a:rPr lang="zh-CN" altLang="en-US" sz="1600" dirty="0"/>
              <a:t>信号</a:t>
            </a:r>
            <a:r>
              <a:rPr lang="zh-CN" altLang="en-US" sz="1600" i="1" dirty="0"/>
              <a:t>（</a:t>
            </a:r>
            <a:r>
              <a:rPr lang="en-US" altLang="zh-CN" sz="1600" i="1" dirty="0"/>
              <a:t>Alexander &amp; Brown, Nature Reviews Neuroscience 2022</a:t>
            </a:r>
            <a:r>
              <a:rPr lang="zh-CN" altLang="en-US" sz="1600" i="1" dirty="0"/>
              <a:t>）。 </a:t>
            </a:r>
            <a:endParaRPr lang="zh-CN" altLang="en-US" sz="1600" i="1" dirty="0"/>
          </a:p>
          <a:p>
            <a:r>
              <a:rPr lang="zh-CN" altLang="en-US" sz="1600" dirty="0"/>
              <a:t>人脑在解决多跳问题时，海马</a:t>
            </a:r>
            <a:r>
              <a:rPr lang="en-US" altLang="zh-CN" sz="1600" dirty="0"/>
              <a:t>-</a:t>
            </a:r>
            <a:r>
              <a:rPr lang="zh-CN" altLang="en-US" sz="1600" dirty="0"/>
              <a:t>皮层 </a:t>
            </a:r>
            <a:r>
              <a:rPr lang="en-US" altLang="zh-CN" sz="1600" dirty="0"/>
              <a:t>theta </a:t>
            </a:r>
            <a:r>
              <a:rPr lang="zh-CN" altLang="en-US" sz="1600" dirty="0"/>
              <a:t>同步性提高 </a:t>
            </a:r>
            <a:r>
              <a:rPr lang="en-US" altLang="zh-CN" sz="1600" dirty="0"/>
              <a:t>50%</a:t>
            </a:r>
            <a:r>
              <a:rPr lang="zh-CN" altLang="en-US" sz="1600" dirty="0"/>
              <a:t>，表明</a:t>
            </a:r>
            <a:r>
              <a:rPr lang="zh-CN" altLang="en-US" sz="1600" b="1" u="sng" dirty="0"/>
              <a:t>长期记忆</a:t>
            </a:r>
            <a:r>
              <a:rPr lang="zh-CN" altLang="en-US" sz="1600" dirty="0"/>
              <a:t>与</a:t>
            </a:r>
            <a:r>
              <a:rPr lang="zh-CN" altLang="en-US" sz="1600" b="1" u="sng" dirty="0"/>
              <a:t>工作记忆</a:t>
            </a:r>
            <a:r>
              <a:rPr lang="zh-CN" altLang="en-US" sz="1600" dirty="0"/>
              <a:t>的整合（</a:t>
            </a:r>
            <a:r>
              <a:rPr lang="en-US" altLang="zh-CN" sz="1600" dirty="0"/>
              <a:t>Schomburg et al., Science 2020</a:t>
            </a:r>
            <a:r>
              <a:rPr lang="zh-CN" altLang="en-US" sz="1600" dirty="0"/>
              <a:t>）。 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0"/>
            <a:ext cx="12192000" cy="806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b="1" dirty="0">
                <a:latin typeface="+mj-ea"/>
              </a:rPr>
              <a:t>Theta-Gamma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Coupling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Mechanism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5636" y="942391"/>
            <a:ext cx="116807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      人脑的</a:t>
            </a:r>
            <a:r>
              <a:rPr kumimoji="1" lang="en-US" altLang="zh-CN" dirty="0"/>
              <a:t>Theta-Gamma</a:t>
            </a:r>
            <a:r>
              <a:rPr kumimoji="1" lang="zh-CN" altLang="en-US" dirty="0"/>
              <a:t>机制是一种神经振荡的跨频耦合现象，其中慢速的</a:t>
            </a:r>
            <a:r>
              <a:rPr kumimoji="1" lang="en-US" altLang="zh-CN" dirty="0"/>
              <a:t>theta</a:t>
            </a:r>
            <a:r>
              <a:rPr kumimoji="1" lang="zh-CN" altLang="en-US" dirty="0"/>
              <a:t>波（</a:t>
            </a:r>
            <a:r>
              <a:rPr kumimoji="1" lang="en-US" altLang="zh-CN" dirty="0"/>
              <a:t>4-8 Hz</a:t>
            </a:r>
            <a:r>
              <a:rPr kumimoji="1" lang="zh-CN" altLang="en-US" dirty="0"/>
              <a:t>）调控局部快速的</a:t>
            </a:r>
            <a:r>
              <a:rPr kumimoji="1" lang="en-US" altLang="zh-CN" dirty="0"/>
              <a:t>gamma</a:t>
            </a:r>
            <a:r>
              <a:rPr kumimoji="1" lang="zh-CN" altLang="en-US" dirty="0"/>
              <a:t>波（</a:t>
            </a:r>
            <a:r>
              <a:rPr kumimoji="1" lang="en-US" altLang="zh-CN" dirty="0"/>
              <a:t>30-150 Hz</a:t>
            </a:r>
            <a:r>
              <a:rPr kumimoji="1" lang="zh-CN" altLang="en-US" dirty="0"/>
              <a:t>）的幅值和相位。</a:t>
            </a:r>
            <a:endParaRPr kumimoji="1" lang="en-US" altLang="zh-CN" dirty="0"/>
          </a:p>
          <a:p>
            <a:r>
              <a:rPr kumimoji="1" lang="zh-CN" altLang="en-US" dirty="0"/>
              <a:t>       该机制被认为是大脑</a:t>
            </a:r>
            <a:r>
              <a:rPr kumimoji="1" lang="zh-CN" altLang="en-US" b="1" u="sng" dirty="0">
                <a:solidFill>
                  <a:srgbClr val="FF0000"/>
                </a:solidFill>
              </a:rPr>
              <a:t>整合分布式信息</a:t>
            </a:r>
            <a:r>
              <a:rPr kumimoji="1" lang="zh-CN" altLang="en-US" b="1" u="sng" dirty="0"/>
              <a:t>的核心“时钟”框架</a:t>
            </a:r>
            <a:r>
              <a:rPr kumimoji="1" lang="zh-CN" altLang="en-US" dirty="0"/>
              <a:t>：</a:t>
            </a:r>
            <a:r>
              <a:rPr kumimoji="1" lang="en-US" altLang="zh-CN" dirty="0"/>
              <a:t>theta</a:t>
            </a:r>
            <a:r>
              <a:rPr kumimoji="1" lang="zh-CN" altLang="en-US" dirty="0"/>
              <a:t>振荡提供一个周期性时间窗口，而</a:t>
            </a:r>
            <a:r>
              <a:rPr kumimoji="1" lang="en-US" altLang="zh-CN" dirty="0"/>
              <a:t>gamma</a:t>
            </a:r>
            <a:r>
              <a:rPr kumimoji="1" lang="zh-CN" altLang="en-US" dirty="0"/>
              <a:t>振荡在此窗口内以“子周期”形式编码不同神经元集群的放电，实现多项目或特征的序列化绑定，即</a:t>
            </a:r>
            <a:r>
              <a:rPr kumimoji="1" lang="en-US" altLang="zh-CN" dirty="0"/>
              <a:t>gamma</a:t>
            </a:r>
            <a:r>
              <a:rPr kumimoji="1" lang="zh-CN" altLang="en-US" dirty="0"/>
              <a:t>周期嵌套于</a:t>
            </a:r>
            <a:r>
              <a:rPr kumimoji="1" lang="en-US" altLang="zh-CN" dirty="0"/>
              <a:t>theta</a:t>
            </a:r>
            <a:r>
              <a:rPr kumimoji="1" lang="zh-CN" altLang="en-US" dirty="0"/>
              <a:t>周期，构成可动态重构的信息单元。</a:t>
            </a:r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-2" y="2944075"/>
            <a:ext cx="12192000" cy="806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b="1" dirty="0">
                <a:latin typeface="+mj-ea"/>
              </a:rPr>
              <a:t>Empirical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Proofs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53804" y="2401976"/>
            <a:ext cx="4182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/>
              <a:t>John, 2013 Mar 20, The Theta-Gamma Neural Code</a:t>
            </a:r>
            <a:endParaRPr lang="en-US" altLang="zh-CN" sz="1400" i="1" dirty="0"/>
          </a:p>
        </p:txBody>
      </p:sp>
      <p:sp>
        <p:nvSpPr>
          <p:cNvPr id="11" name="椭圆 10"/>
          <p:cNvSpPr/>
          <p:nvPr/>
        </p:nvSpPr>
        <p:spPr>
          <a:xfrm>
            <a:off x="6924902" y="4682923"/>
            <a:ext cx="1657804" cy="383458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914968" y="4334907"/>
            <a:ext cx="2574744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Gamma</a:t>
            </a:r>
            <a:r>
              <a:rPr kumimoji="1" lang="zh-CN" altLang="en-US" dirty="0">
                <a:solidFill>
                  <a:srgbClr val="FF0000"/>
                </a:solidFill>
              </a:rPr>
              <a:t>的检索能力到位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944193" y="5044167"/>
            <a:ext cx="1657804" cy="383458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62858" y="5044167"/>
            <a:ext cx="1107996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动态重构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2858" y="5658159"/>
            <a:ext cx="1107996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错误检测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291816" y="5614537"/>
            <a:ext cx="1657804" cy="383458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884368" y="6164621"/>
            <a:ext cx="2249800" cy="383458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6628904" y="4064887"/>
            <a:ext cx="961599" cy="383458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495993" y="3655561"/>
            <a:ext cx="1338828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注意力保持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9389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+mj-ea"/>
              </a:rPr>
              <a:t>Theta-Gamma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Coupling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Mechanism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-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Inspired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25230" y="695408"/>
            <a:ext cx="8323604" cy="793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人脑并非像计算机那样</a:t>
            </a:r>
            <a:r>
              <a:rPr lang="zh-CN" altLang="en-US" sz="1600" b="1" u="sng" dirty="0"/>
              <a:t>串行</a:t>
            </a:r>
            <a:r>
              <a:rPr lang="zh-CN" altLang="en-US" sz="1600" dirty="0"/>
              <a:t>解决多跳问题。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kumimoji="1" lang="zh-CN" altLang="en-US" sz="1600" dirty="0"/>
              <a:t>同时，</a:t>
            </a:r>
            <a:r>
              <a:rPr lang="zh-CN" altLang="en-US" sz="1600" dirty="0"/>
              <a:t>人脑不是</a:t>
            </a:r>
            <a:r>
              <a:rPr lang="en-US" altLang="zh-CN" sz="1600" dirty="0"/>
              <a:t>"</a:t>
            </a:r>
            <a:r>
              <a:rPr lang="zh-CN" altLang="en-US" sz="1600" dirty="0"/>
              <a:t>按部就班</a:t>
            </a:r>
            <a:r>
              <a:rPr lang="en-US" altLang="zh-CN" sz="1600" dirty="0"/>
              <a:t>"</a:t>
            </a:r>
            <a:r>
              <a:rPr lang="zh-CN" altLang="en-US" sz="1600" dirty="0"/>
              <a:t>推理，而是通过 </a:t>
            </a:r>
            <a:r>
              <a:rPr lang="en-US" altLang="zh-CN" sz="1600" dirty="0"/>
              <a:t>theta-gamma </a:t>
            </a:r>
            <a:r>
              <a:rPr lang="zh-CN" altLang="en-US" sz="1600" dirty="0"/>
              <a:t>机制</a:t>
            </a:r>
            <a:r>
              <a:rPr lang="zh-CN" altLang="en-US" sz="1600" b="1" u="sng" dirty="0"/>
              <a:t>动态重构</a:t>
            </a:r>
            <a:r>
              <a:rPr lang="zh-CN" altLang="en-US" sz="1600" dirty="0"/>
              <a:t>问题空间。 </a:t>
            </a:r>
            <a:endParaRPr lang="en-US" altLang="zh-CN" sz="16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244929" y="1720284"/>
            <a:ext cx="9737271" cy="4769448"/>
            <a:chOff x="146957" y="1025122"/>
            <a:chExt cx="9737271" cy="476944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68723" y="2232441"/>
              <a:ext cx="7415505" cy="3053443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/>
          </p:nvGrpSpPr>
          <p:grpSpPr>
            <a:xfrm>
              <a:off x="146957" y="1025122"/>
              <a:ext cx="8594272" cy="4769448"/>
              <a:chOff x="146957" y="1025122"/>
              <a:chExt cx="8594272" cy="4769448"/>
            </a:xfrm>
          </p:grpSpPr>
          <p:sp>
            <p:nvSpPr>
              <p:cNvPr id="6" name="圆角矩形 5"/>
              <p:cNvSpPr/>
              <p:nvPr/>
            </p:nvSpPr>
            <p:spPr>
              <a:xfrm>
                <a:off x="146957" y="3086364"/>
                <a:ext cx="1964872" cy="86508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/>
                  <a:t>海马体</a:t>
                </a:r>
                <a:endParaRPr lang="en-US" altLang="zh-CN" sz="1400" dirty="0"/>
              </a:p>
              <a:p>
                <a:pPr algn="ctr"/>
                <a:r>
                  <a:rPr lang="zh-CN" altLang="en-US" sz="1400" dirty="0"/>
                  <a:t>（负责情景记忆检索）</a:t>
                </a:r>
                <a:endParaRPr lang="en-US" altLang="zh-CN" sz="1400" dirty="0"/>
              </a:p>
              <a:p>
                <a:pPr algn="ctr"/>
                <a:r>
                  <a:rPr kumimoji="1" lang="zh-CN" altLang="en-US" sz="1400" dirty="0"/>
                  <a:t>由问题产生强</a:t>
                </a:r>
                <a:r>
                  <a:rPr kumimoji="1" lang="en-US" altLang="zh-CN" sz="1400" dirty="0"/>
                  <a:t>Theta</a:t>
                </a:r>
                <a:r>
                  <a:rPr kumimoji="1" lang="zh-CN" altLang="en-US" sz="1400" dirty="0"/>
                  <a:t>波</a:t>
                </a:r>
                <a:endParaRPr kumimoji="1" lang="zh-CN" altLang="en-US" sz="1400" dirty="0"/>
              </a:p>
            </p:txBody>
          </p:sp>
          <p:sp>
            <p:nvSpPr>
              <p:cNvPr id="7" name="圆角矩形 6"/>
              <p:cNvSpPr/>
              <p:nvPr/>
            </p:nvSpPr>
            <p:spPr>
              <a:xfrm>
                <a:off x="4760166" y="1025122"/>
                <a:ext cx="3200400" cy="881075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400" dirty="0"/>
                  <a:t>前额叶皮层</a:t>
                </a:r>
                <a:endParaRPr kumimoji="1" lang="en-US" altLang="zh-CN" sz="1400" dirty="0"/>
              </a:p>
              <a:p>
                <a:pPr algn="ctr"/>
                <a:r>
                  <a:rPr lang="zh-CN" altLang="en-US" sz="1400" dirty="0"/>
                  <a:t>（负责执行控制和工作记忆）</a:t>
                </a:r>
                <a:endParaRPr lang="en-US" altLang="zh-CN" sz="1400" dirty="0"/>
              </a:p>
              <a:p>
                <a:pPr algn="ctr"/>
                <a:r>
                  <a:rPr kumimoji="1" lang="zh-CN" altLang="en-US" sz="1400" dirty="0"/>
                  <a:t>产生</a:t>
                </a:r>
                <a:r>
                  <a:rPr kumimoji="1" lang="en-US" altLang="zh-CN" sz="1400" dirty="0"/>
                  <a:t>Gamma</a:t>
                </a:r>
                <a:r>
                  <a:rPr kumimoji="1" lang="zh-CN" altLang="en-US" sz="1400" dirty="0"/>
                  <a:t>波</a:t>
                </a:r>
                <a:endParaRPr kumimoji="1" lang="zh-CN" altLang="en-US" sz="1400" dirty="0"/>
              </a:p>
            </p:txBody>
          </p:sp>
          <p:sp>
            <p:nvSpPr>
              <p:cNvPr id="8" name="圆角矩形 7"/>
              <p:cNvSpPr/>
              <p:nvPr/>
            </p:nvSpPr>
            <p:spPr>
              <a:xfrm>
                <a:off x="4038600" y="5429685"/>
                <a:ext cx="4702629" cy="36488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工作记忆</a:t>
                </a:r>
                <a:endParaRPr kumimoji="1" lang="zh-CN" altLang="en-US" dirty="0"/>
              </a:p>
            </p:txBody>
          </p:sp>
        </p:grpSp>
      </p:grpSp>
      <p:sp>
        <p:nvSpPr>
          <p:cNvPr id="9" name="文本框 8"/>
          <p:cNvSpPr txBox="1"/>
          <p:nvPr/>
        </p:nvSpPr>
        <p:spPr>
          <a:xfrm>
            <a:off x="8839201" y="1218532"/>
            <a:ext cx="32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在多跳任务中，海马体按</a:t>
            </a:r>
            <a:r>
              <a:rPr lang="en-US" altLang="zh-CN" dirty="0"/>
              <a:t>theta</a:t>
            </a:r>
            <a:r>
              <a:rPr lang="zh-CN" altLang="en-US" dirty="0"/>
              <a:t>节奏依次提取记忆片段，前额叶则在每个</a:t>
            </a:r>
            <a:r>
              <a:rPr lang="en-US" altLang="zh-CN" dirty="0"/>
              <a:t>gamma</a:t>
            </a:r>
            <a:r>
              <a:rPr lang="zh-CN" altLang="en-US" dirty="0"/>
              <a:t>窗口内对当前信息进行加工和保持，从而实现跨跳信息整合。</a:t>
            </a:r>
            <a:endParaRPr kumimoji="1"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5" name="图片 14" descr="图标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030" y="4443413"/>
            <a:ext cx="406400" cy="406400"/>
          </a:xfrm>
          <a:prstGeom prst="rect">
            <a:avLst/>
          </a:prstGeom>
        </p:spPr>
      </p:pic>
      <p:pic>
        <p:nvPicPr>
          <p:cNvPr id="17" name="图片 16" descr="卡通人物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725" y="4047924"/>
            <a:ext cx="406400" cy="406400"/>
          </a:xfrm>
          <a:prstGeom prst="rect">
            <a:avLst/>
          </a:prstGeom>
        </p:spPr>
      </p:pic>
      <p:pic>
        <p:nvPicPr>
          <p:cNvPr id="18" name="图片 17" descr="卡通人物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305" y="4079707"/>
            <a:ext cx="406400" cy="406400"/>
          </a:xfrm>
          <a:prstGeom prst="rect">
            <a:avLst/>
          </a:prstGeom>
        </p:spPr>
      </p:pic>
      <p:pic>
        <p:nvPicPr>
          <p:cNvPr id="19" name="图片 18" descr="图标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627" y="4454324"/>
            <a:ext cx="406400" cy="4064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44929" y="5801681"/>
            <a:ext cx="2175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前面</a:t>
            </a:r>
            <a:r>
              <a:rPr kumimoji="1" lang="en-US" altLang="zh-CN" dirty="0"/>
              <a:t>Jeff</a:t>
            </a:r>
            <a:r>
              <a:rPr kumimoji="1" lang="zh-CN" altLang="en-US" dirty="0"/>
              <a:t>也提到了</a:t>
            </a:r>
            <a:br>
              <a:rPr kumimoji="1" lang="en-US" altLang="zh-CN" dirty="0"/>
            </a:br>
            <a:r>
              <a:rPr kumimoji="1" lang="zh-CN" altLang="en-US" dirty="0"/>
              <a:t>“内循环” </a:t>
            </a:r>
            <a:r>
              <a:rPr kumimoji="1" lang="en-US" altLang="zh-CN" dirty="0"/>
              <a:t>+</a:t>
            </a:r>
            <a:r>
              <a:rPr kumimoji="1" lang="zh-CN" altLang="en-US" dirty="0"/>
              <a:t> “外循环”</a:t>
            </a:r>
            <a:endParaRPr kumimoji="1" lang="zh-CN" altLang="en-US" dirty="0"/>
          </a:p>
        </p:txBody>
      </p:sp>
      <p:sp>
        <p:nvSpPr>
          <p:cNvPr id="21" name="三角形 20"/>
          <p:cNvSpPr/>
          <p:nvPr/>
        </p:nvSpPr>
        <p:spPr>
          <a:xfrm>
            <a:off x="324465" y="5565058"/>
            <a:ext cx="226141" cy="206477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三角形 21"/>
          <p:cNvSpPr/>
          <p:nvPr/>
        </p:nvSpPr>
        <p:spPr>
          <a:xfrm>
            <a:off x="8965966" y="1026218"/>
            <a:ext cx="226141" cy="206477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0" y="1170908"/>
            <a:ext cx="5808406" cy="4925092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zh-CN" altLang="en-US" sz="1600" dirty="0"/>
              <a:t>可动态重构逻辑空间</a:t>
            </a:r>
            <a:endParaRPr lang="en-US" altLang="zh-CN" sz="1600" dirty="0"/>
          </a:p>
          <a:p>
            <a:pPr lvl="1">
              <a:lnSpc>
                <a:spcPct val="170000"/>
              </a:lnSpc>
            </a:pPr>
            <a:r>
              <a:rPr lang="zh-CN" altLang="en-US" sz="1600" dirty="0"/>
              <a:t>初始生成多条路径</a:t>
            </a:r>
            <a:r>
              <a:rPr lang="en-US" altLang="zh-CN" sz="1600" b="1" u="sng" dirty="0"/>
              <a:t>DAG</a:t>
            </a:r>
            <a:r>
              <a:rPr lang="zh-CN" altLang="en-US" sz="1600" b="1" u="sng" dirty="0"/>
              <a:t>图</a:t>
            </a:r>
            <a:r>
              <a:rPr lang="zh-CN" altLang="en-US" sz="1600" dirty="0"/>
              <a:t>（有向无环图），并根据检索内容</a:t>
            </a:r>
            <a:r>
              <a:rPr lang="zh-CN" altLang="en-US" sz="1600" b="1" u="sng" dirty="0"/>
              <a:t>动态更新推理路径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>
              <a:lnSpc>
                <a:spcPct val="170000"/>
              </a:lnSpc>
            </a:pPr>
            <a:r>
              <a:rPr lang="zh-CN" altLang="en-US" sz="1600" dirty="0"/>
              <a:t>注意力保持</a:t>
            </a:r>
            <a:endParaRPr lang="en-US" altLang="zh-CN" sz="1600" dirty="0"/>
          </a:p>
          <a:p>
            <a:pPr lvl="1">
              <a:lnSpc>
                <a:spcPct val="170000"/>
              </a:lnSpc>
            </a:pPr>
            <a:r>
              <a:rPr lang="zh-CN" altLang="en-US" sz="1600" dirty="0"/>
              <a:t>始终在</a:t>
            </a:r>
            <a:r>
              <a:rPr lang="en-US" altLang="zh-CN" sz="1600" dirty="0"/>
              <a:t>theta</a:t>
            </a:r>
            <a:r>
              <a:rPr lang="zh-CN" altLang="en-US" sz="1600" dirty="0"/>
              <a:t>节律</a:t>
            </a:r>
            <a:r>
              <a:rPr lang="en-US" altLang="zh-CN" sz="1600" dirty="0"/>
              <a:t>-</a:t>
            </a:r>
            <a:r>
              <a:rPr lang="zh-CN" altLang="en-US" sz="1600" dirty="0"/>
              <a:t>逻辑空间解决问题，</a:t>
            </a:r>
            <a:r>
              <a:rPr lang="en-US" altLang="zh-CN" sz="1600" dirty="0"/>
              <a:t>gamma</a:t>
            </a:r>
            <a:r>
              <a:rPr lang="zh-CN" altLang="en-US" sz="1600" dirty="0"/>
              <a:t>检索的子问题，子实体保持在</a:t>
            </a:r>
            <a:r>
              <a:rPr lang="zh-CN" altLang="en-US" sz="1600" b="1" u="sng" dirty="0"/>
              <a:t>工作记忆空间</a:t>
            </a:r>
            <a:r>
              <a:rPr lang="zh-CN" altLang="en-US" sz="1600" dirty="0"/>
              <a:t>，不影响推理链注意力保持。</a:t>
            </a:r>
            <a:endParaRPr lang="en-US" altLang="zh-CN" sz="1600" dirty="0"/>
          </a:p>
          <a:p>
            <a:pPr>
              <a:lnSpc>
                <a:spcPct val="170000"/>
              </a:lnSpc>
            </a:pPr>
            <a:r>
              <a:rPr lang="zh-CN" altLang="en-US" sz="1600" dirty="0"/>
              <a:t>缓解推理脆弱性</a:t>
            </a:r>
            <a:endParaRPr lang="en-US" altLang="zh-CN" sz="1600" dirty="0"/>
          </a:p>
          <a:p>
            <a:pPr lvl="1">
              <a:lnSpc>
                <a:spcPct val="170000"/>
              </a:lnSpc>
            </a:pPr>
            <a:r>
              <a:rPr lang="en-US" altLang="zh-CN" sz="1600" dirty="0"/>
              <a:t>Early-Late</a:t>
            </a:r>
            <a:r>
              <a:rPr lang="zh-CN" altLang="en-US" sz="1600" dirty="0"/>
              <a:t> </a:t>
            </a:r>
            <a:r>
              <a:rPr lang="en-US" altLang="zh-CN" sz="1600" dirty="0"/>
              <a:t>Attenuation</a:t>
            </a:r>
            <a:r>
              <a:rPr lang="zh-CN" altLang="en-US" sz="1600" dirty="0"/>
              <a:t>，</a:t>
            </a:r>
            <a:r>
              <a:rPr lang="zh-CN" altLang="en-US" sz="1600" b="1" u="sng" dirty="0"/>
              <a:t>早期错误权重加大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1">
              <a:lnSpc>
                <a:spcPct val="170000"/>
              </a:lnSpc>
            </a:pPr>
            <a:r>
              <a:rPr lang="en-US" altLang="zh-CN" sz="1600" dirty="0"/>
              <a:t>ACC</a:t>
            </a:r>
            <a:r>
              <a:rPr lang="zh-CN" altLang="en-US" sz="1600" dirty="0"/>
              <a:t> 错误感知与修复：目标是防止早期错误放大并节省不必要计算。</a:t>
            </a:r>
            <a:endParaRPr lang="en-US" altLang="zh-CN" sz="16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0" y="0"/>
            <a:ext cx="12192000" cy="9193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latin typeface="+mj-ea"/>
              </a:rPr>
              <a:t>切入点，核心问题</a:t>
            </a:r>
            <a:endParaRPr kumimoji="1" lang="zh-CN" altLang="en-US" b="1" dirty="0">
              <a:latin typeface="+mj-ea"/>
            </a:endParaRPr>
          </a:p>
        </p:txBody>
      </p:sp>
      <p:graphicFrame>
        <p:nvGraphicFramePr>
          <p:cNvPr id="16" name="图示 15"/>
          <p:cNvGraphicFramePr/>
          <p:nvPr/>
        </p:nvGraphicFramePr>
        <p:xfrm>
          <a:off x="1147097" y="1091381"/>
          <a:ext cx="4811251" cy="4650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9389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+mj-ea"/>
              </a:rPr>
              <a:t>Theta-Gamma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Coupling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Mechanism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-</a:t>
            </a:r>
            <a:r>
              <a:rPr kumimoji="1" lang="zh-CN" altLang="en-US" b="1" dirty="0">
                <a:latin typeface="+mj-ea"/>
              </a:rPr>
              <a:t> </a:t>
            </a:r>
            <a:r>
              <a:rPr kumimoji="1" lang="en-US" altLang="zh-CN" b="1" dirty="0">
                <a:latin typeface="+mj-ea"/>
              </a:rPr>
              <a:t>Inspired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911997" y="1106815"/>
            <a:ext cx="3200400" cy="8650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海马体</a:t>
            </a:r>
            <a:endParaRPr lang="en-US" altLang="zh-CN" sz="1400" dirty="0"/>
          </a:p>
          <a:p>
            <a:pPr algn="ctr"/>
            <a:r>
              <a:rPr lang="zh-CN" altLang="en-US" sz="1400" dirty="0"/>
              <a:t>（负责情景记忆检索）</a:t>
            </a:r>
            <a:endParaRPr lang="en-US" altLang="zh-CN" sz="1400" dirty="0"/>
          </a:p>
          <a:p>
            <a:pPr algn="ctr"/>
            <a:r>
              <a:rPr kumimoji="1" lang="zh-CN" altLang="en-US" sz="1400" dirty="0"/>
              <a:t>由问题产生强</a:t>
            </a:r>
            <a:r>
              <a:rPr kumimoji="1" lang="en-US" altLang="zh-CN" sz="1400" dirty="0"/>
              <a:t>Theta</a:t>
            </a:r>
            <a:r>
              <a:rPr kumimoji="1" lang="zh-CN" altLang="en-US" sz="1400" dirty="0"/>
              <a:t>波</a:t>
            </a:r>
            <a:endParaRPr kumimoji="1" lang="zh-CN" altLang="en-US" sz="1400" dirty="0"/>
          </a:p>
        </p:txBody>
      </p:sp>
      <p:sp>
        <p:nvSpPr>
          <p:cNvPr id="7" name="圆角矩形 6"/>
          <p:cNvSpPr/>
          <p:nvPr/>
        </p:nvSpPr>
        <p:spPr>
          <a:xfrm>
            <a:off x="5656683" y="1090827"/>
            <a:ext cx="3200400" cy="88107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前额叶皮层</a:t>
            </a:r>
            <a:endParaRPr kumimoji="1" lang="en-US" altLang="zh-CN" sz="1400" dirty="0"/>
          </a:p>
          <a:p>
            <a:pPr algn="ctr"/>
            <a:r>
              <a:rPr lang="zh-CN" altLang="en-US" sz="1400" dirty="0"/>
              <a:t>（负责执行控制和工作记忆）</a:t>
            </a:r>
            <a:endParaRPr lang="en-US" altLang="zh-CN" sz="1400" dirty="0"/>
          </a:p>
          <a:p>
            <a:pPr algn="ctr"/>
            <a:r>
              <a:rPr kumimoji="1" lang="zh-CN" altLang="en-US" sz="1400" dirty="0"/>
              <a:t>产生</a:t>
            </a:r>
            <a:r>
              <a:rPr kumimoji="1" lang="en-US" altLang="zh-CN" sz="1400" dirty="0"/>
              <a:t>Gamma</a:t>
            </a:r>
            <a:r>
              <a:rPr kumimoji="1" lang="zh-CN" altLang="en-US" sz="1400" dirty="0"/>
              <a:t>波</a:t>
            </a:r>
            <a:endParaRPr kumimoji="1" lang="zh-CN" altLang="en-US" sz="1400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11997" y="2315129"/>
          <a:ext cx="32004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Theta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问题分解</a:t>
                      </a:r>
                      <a:br>
                        <a:rPr lang="en-US" altLang="zh-CN" dirty="0"/>
                      </a:br>
                      <a:r>
                        <a:rPr lang="en-US" altLang="zh-CN" dirty="0"/>
                        <a:t>Decomposition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逻辑空间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Seq2DAG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Early-Late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attenuation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早期错误缓解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ACC</a:t>
                      </a:r>
                      <a:br>
                        <a:rPr lang="en-US" altLang="zh-CN" dirty="0"/>
                      </a:br>
                      <a:r>
                        <a:rPr lang="zh-CN" altLang="en-US" dirty="0"/>
                        <a:t>错误监控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656683" y="2315129"/>
          <a:ext cx="3200400" cy="2661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00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Gamma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别名检测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Alias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Expansion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混合检索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Hybrid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Retrieval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工作记忆空间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Work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Memory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4" name="图片 13" descr="图标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597" y="2315129"/>
            <a:ext cx="406400" cy="406400"/>
          </a:xfrm>
          <a:prstGeom prst="rect">
            <a:avLst/>
          </a:prstGeom>
        </p:spPr>
      </p:pic>
      <p:pic>
        <p:nvPicPr>
          <p:cNvPr id="15" name="图片 14" descr="卡通人物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083" y="2315129"/>
            <a:ext cx="406400" cy="4064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195102" y="35353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✅</a:t>
            </a:r>
            <a:endParaRPr kumimoji="1"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8195102" y="416960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✅</a:t>
            </a:r>
            <a:endParaRPr kumimoji="1"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4542418" y="28766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✅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73365" y="5914015"/>
            <a:ext cx="86478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Early-Late</a:t>
            </a:r>
            <a:r>
              <a:rPr lang="zh-CN" altLang="en-US" dirty="0"/>
              <a:t> </a:t>
            </a:r>
            <a:r>
              <a:rPr lang="en-US" altLang="zh-CN" dirty="0"/>
              <a:t>Attenuation</a:t>
            </a:r>
            <a:r>
              <a:rPr lang="zh-CN" altLang="en-US" dirty="0"/>
              <a:t>：用于训练中早期错误，正、负样本的权重增加。</a:t>
            </a:r>
            <a:endParaRPr lang="en-US" altLang="zh-CN" dirty="0"/>
          </a:p>
          <a:p>
            <a:r>
              <a:rPr lang="en-US" altLang="zh-CN" dirty="0"/>
              <a:t>ACC</a:t>
            </a:r>
            <a:r>
              <a:rPr lang="zh-CN" altLang="en-US" dirty="0"/>
              <a:t>：一个实时监控器，基于证据置信、不一致性与检索</a:t>
            </a:r>
            <a:r>
              <a:rPr lang="en-US" altLang="zh-CN" dirty="0"/>
              <a:t>/</a:t>
            </a:r>
            <a:r>
              <a:rPr lang="zh-CN" altLang="en-US" dirty="0"/>
              <a:t>推理的边际效用来决定是否继续、回滚、扩展或询问澄清，目标是防止早期错误放大并节省不必要计算。</a:t>
            </a:r>
            <a:endParaRPr lang="zh-CN" altLang="en-US" dirty="0"/>
          </a:p>
        </p:txBody>
      </p:sp>
      <p:sp>
        <p:nvSpPr>
          <p:cNvPr id="21" name="三角形 20"/>
          <p:cNvSpPr/>
          <p:nvPr/>
        </p:nvSpPr>
        <p:spPr>
          <a:xfrm>
            <a:off x="157317" y="5732029"/>
            <a:ext cx="226141" cy="206477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812971" cy="802433"/>
          </a:xfrm>
        </p:spPr>
        <p:txBody>
          <a:bodyPr>
            <a:normAutofit fontScale="90000"/>
          </a:bodyPr>
          <a:lstStyle/>
          <a:p>
            <a:r>
              <a:rPr kumimoji="1" lang="zh-CN" altLang="en-US" sz="2800" dirty="0"/>
              <a:t>后续</a:t>
            </a:r>
            <a:r>
              <a:rPr kumimoji="1" lang="en-US" altLang="zh-CN" sz="2800" dirty="0"/>
              <a:t>：Upcoming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Alternative Conferences</a:t>
            </a:r>
            <a:endParaRPr kumimoji="1" lang="zh-CN" altLang="en-US" sz="2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630127"/>
          <a:ext cx="12192000" cy="596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  <a:gridCol w="2438400"/>
                <a:gridCol w="2438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Conference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CCF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Overlap Scope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Deadline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Category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EDBT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knowledge management;</a:t>
                      </a:r>
                      <a:br>
                        <a:rPr lang="en-US" altLang="zh-CN" dirty="0"/>
                      </a:br>
                      <a:r>
                        <a:rPr lang="en-US" altLang="zh-CN" dirty="0"/>
                        <a:t>Query processing and optimization techniques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2025.10.8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DM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SIGMOD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Query processing and optimization;</a:t>
                      </a:r>
                      <a:br>
                        <a:rPr lang="en-US" altLang="zh-CN" dirty="0"/>
                      </a:br>
                      <a:r>
                        <a:rPr lang="en-US" altLang="zh-CN" dirty="0"/>
                        <a:t>Natural language queries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2025.10.18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DM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ICDE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Query Processing and Optimization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2025.10.28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DM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DASFAA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Neural networks and deep learning;</a:t>
                      </a:r>
                      <a:br>
                        <a:rPr lang="en-US" altLang="zh-CN" dirty="0"/>
                      </a:br>
                      <a:r>
                        <a:rPr lang="en-US" altLang="zh-CN" dirty="0"/>
                        <a:t>Information retrieval and summarization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2025.10.28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DM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SIGIR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2026.1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DM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KDD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2026.2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DM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ACL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2025.2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NLP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F02-5F07-F345-B8B6-8FB1E9FC60C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4747</Words>
  <Application>WPS 表格</Application>
  <PresentationFormat>宽屏</PresentationFormat>
  <Paragraphs>496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Cambria Math</vt:lpstr>
      <vt:lpstr>Kingsoft Math</vt:lpstr>
      <vt:lpstr>Calibri</vt:lpstr>
      <vt:lpstr>Helvetica Neue</vt:lpstr>
      <vt:lpstr>汉仪书宋二KW</vt:lpstr>
      <vt:lpstr>Apple Color Emoji</vt:lpstr>
      <vt:lpstr>Office 主题​​</vt:lpstr>
      <vt:lpstr>New Idea for Multi-hop QA Task</vt:lpstr>
      <vt:lpstr>New Idea</vt:lpstr>
      <vt:lpstr>Multi-hop QA Tasks</vt:lpstr>
      <vt:lpstr>PowerPoint 演示文稿</vt:lpstr>
      <vt:lpstr>Context Engineering 与 RAG的关系</vt:lpstr>
      <vt:lpstr>RAG \ Context Engineering \ Multi-hop</vt:lpstr>
      <vt:lpstr>Multi-hop QA 深度分析</vt:lpstr>
      <vt:lpstr>Multi-hop 中不同类型QA的错误分析</vt:lpstr>
      <vt:lpstr>PowerPoint 演示文稿</vt:lpstr>
      <vt:lpstr>PowerPoint 演示文稿</vt:lpstr>
      <vt:lpstr>PowerPoint 演示文稿</vt:lpstr>
      <vt:lpstr>Theta-Gamma Coupling Mechanism - Inspired</vt:lpstr>
      <vt:lpstr>PowerPoint 演示文稿</vt:lpstr>
      <vt:lpstr>Theta-Gamma Coupling Mechanism - Inspired</vt:lpstr>
      <vt:lpstr>Upcoming Alternative Conferences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ZaneLing</cp:lastModifiedBy>
  <cp:revision>114</cp:revision>
  <dcterms:created xsi:type="dcterms:W3CDTF">2025-09-23T01:34:28Z</dcterms:created>
  <dcterms:modified xsi:type="dcterms:W3CDTF">2025-09-23T01:34:28Z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F487F32831E832970BF9D168937C3D4C_43</vt:lpwstr>
  </property>
  <property fmtid="{D5CDD505-2E9C-101B-9397-08002B2CF9AE}" pid="3" name="KSOProductBuildVer">
    <vt:lpwstr>2052-12.1.22553.22553</vt:lpwstr>
  </property>
</Properties>
</file>