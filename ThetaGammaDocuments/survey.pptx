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49"/>
    <p:restoredTop sz="94651"/>
  </p:normalViewPr>
  <p:slideViewPr>
    <p:cSldViewPr snapToGrid="0">
      <p:cViewPr varScale="1">
        <p:scale>
          <a:sx n="111" d="100"/>
          <a:sy n="111" d="100"/>
        </p:scale>
        <p:origin x="216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5FACCB-B3BF-99E4-3D29-4DB269F33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F5BD8B3-0306-C39B-73BF-484F0EB2E6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C84815-8F4A-E086-7C03-2B3A320D4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F77EE-FCF3-041D-726C-91E6BBE3F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365AFE-D12F-309C-F4BD-6C6F441B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8716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778FD-5CCE-F526-F189-F7271B317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9FF8C7-A6EF-80C0-BBCF-0AD308471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6B4BD4-C652-1542-913A-3739EFF06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160E5-722C-B8C0-E4F1-7490FB2D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02B4E0-0371-6420-A12A-0F99A1376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4491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0D6ADA-4956-22F2-CE15-5AFCADB0E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54BDF5-4443-0EDC-298F-BFEB599275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4AAC0A-2D52-07E9-8FD1-DD529CCF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154AE5-168E-6AE6-6990-A5F6C008D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63DF93-731E-C451-D351-5B9CA6C2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6296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51839A-840D-E65F-4510-DD6ADE11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283A9-9F96-2F07-7012-4252D66BA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06A1DF-D3B1-84E7-0DBC-2CEC3DFA0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0FC18BB-72ED-482D-3FDC-AAAFDA05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FDF2A0A-CE09-FB04-568C-4B71642A9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36F7DA-423E-8806-908C-C252EF16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341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35E94D-118C-6E0B-45DA-739E0FBD9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C7B7AFC-F36E-54B8-D286-006773666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6385C5-6D0B-7FC0-7DBA-237AF6993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F8AFC0-4838-4E05-5CE3-D407724F07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81F561-380C-571E-82AE-C1E84CAF00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211438-9FF7-6FC8-136F-19EF63BB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EF2F42E-A9BE-86BC-FF9A-64F870AD0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3F9312C-23CE-2299-C436-DB0129FE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01932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23844A-83EA-DC7B-221D-4969CDF5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9D69515-1B4C-8C28-9D80-B571275C5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F027985-E553-14FA-4A15-2EE69411F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0FC39DE-9603-77CB-CCA9-47E4A018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09912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C657A6-E15E-7F84-51F7-F688518F2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9BF2F0-E5F5-86B6-766D-7C89CC5FC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01DBDA-055F-1994-DA54-FA8B5AC27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1437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B0A0F-3107-DD3D-D841-6C0A18C19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F5E836-5488-3323-143F-F95D12A52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05A69E-1B44-E809-5D77-00E9FEFB0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B5B94-1543-B9FF-4FC8-785A68973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AF7290-A572-F5D5-4024-9149698EE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A47981-BBC4-A4B6-F3E2-FA5FB10AA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614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79A5E2-E7DD-BE5E-24FC-B31BF1BED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7E397F-7304-B10A-6D53-8796841666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818365-E85B-B7FF-182C-E6F5F3DC4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A0A3FC-11A6-47F7-0B3A-E561B627D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5C4E9D-0307-444F-8F9C-BF1BA9D3A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4AD9C7-10C4-AB7C-54AF-9FEC93382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5763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B0A06-EC92-7C2F-3F26-B276915CF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174FC9-4477-157A-0FB7-00E7B7BF4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BCC4F3-9A44-609D-D8DA-7EC33ACC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B705F1-8751-2561-EE0C-062751907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398501-E87D-6C29-7844-A99D46CAC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3832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FB2778-1DB2-BB33-6D1D-563C13F3E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1E58EB-9F34-28CA-EDD9-FBC51C00D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997806-74F1-62FC-374B-BA112C871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98E0E0-3449-2D76-C6BF-28A3613E6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D59C59-4997-C3B6-A8AC-52B5F96CF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483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BC59D3-351F-55B4-5326-F11A260A4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9BD158-58FF-78A6-C7F1-33D5BB795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E8BD1F-0460-F55F-CED7-7F3C9720BC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A4C6A2-968E-9A4F-BF6B-F55B1F8A82E0}" type="datetimeFigureOut">
              <a:rPr kumimoji="1" lang="zh-CN" altLang="en-US" smtClean="0"/>
              <a:t>2025/8/8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B15B0F-CDC4-3EFE-0DEA-CCCCA2C13F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DCB3AB-956E-0CDB-103F-39013E9EC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E5028-BF39-8F4C-BDF1-0A0CE33E5A2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083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FC38B-9A55-A5EB-6739-03C2907D7A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/>
              <a:t>A Survey of RAG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8E2A239-899B-86A2-ABD9-0CAFD5D838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zh-CN" dirty="0"/>
              <a:t>Filter and Focus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2025.8 </a:t>
            </a:r>
            <a:r>
              <a:rPr kumimoji="1" lang="zh-CN" altLang="en-US" dirty="0"/>
              <a:t>凌子扬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1556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927A9-1704-0C1F-C30E-AF6BBEA5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724401" cy="1325563"/>
          </a:xfrm>
        </p:spPr>
        <p:txBody>
          <a:bodyPr>
            <a:normAutofit/>
          </a:bodyPr>
          <a:lstStyle/>
          <a:p>
            <a:r>
              <a:rPr kumimoji="1" lang="en-US" altLang="zh-CN" sz="3200" dirty="0"/>
              <a:t>RAG</a:t>
            </a:r>
            <a:r>
              <a:rPr kumimoji="1" lang="zh-CN" altLang="en-US" sz="3200" dirty="0"/>
              <a:t>整体流程和问题分析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267F5F8-1FAE-E263-0493-6B7B2F4FA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066800"/>
            <a:ext cx="9779000" cy="579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圆角矩形 3">
            <a:extLst>
              <a:ext uri="{FF2B5EF4-FFF2-40B4-BE49-F238E27FC236}">
                <a16:creationId xmlns:a16="http://schemas.microsoft.com/office/drawing/2014/main" id="{7611CA28-FA29-D62C-006B-D10E35A57212}"/>
              </a:ext>
            </a:extLst>
          </p:cNvPr>
          <p:cNvSpPr/>
          <p:nvPr/>
        </p:nvSpPr>
        <p:spPr>
          <a:xfrm>
            <a:off x="7315200" y="577970"/>
            <a:ext cx="1647646" cy="42269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不准确的分块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0B5604E-566B-3B9E-6342-4B878BDC717B}"/>
              </a:ext>
            </a:extLst>
          </p:cNvPr>
          <p:cNvSpPr/>
          <p:nvPr/>
        </p:nvSpPr>
        <p:spPr>
          <a:xfrm>
            <a:off x="7315200" y="122208"/>
            <a:ext cx="1647646" cy="42269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分块关系缺失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A9DC7474-A4A0-122E-A18D-68BAF80BFF1E}"/>
              </a:ext>
            </a:extLst>
          </p:cNvPr>
          <p:cNvSpPr/>
          <p:nvPr/>
        </p:nvSpPr>
        <p:spPr>
          <a:xfrm>
            <a:off x="9690339" y="1411856"/>
            <a:ext cx="1647646" cy="42269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Parser</a:t>
            </a:r>
            <a:r>
              <a:rPr kumimoji="1" lang="zh-CN" altLang="en-US" dirty="0"/>
              <a:t>准确度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8A4E3741-DF31-7611-E777-21E9155FB33B}"/>
              </a:ext>
            </a:extLst>
          </p:cNvPr>
          <p:cNvSpPr/>
          <p:nvPr/>
        </p:nvSpPr>
        <p:spPr>
          <a:xfrm>
            <a:off x="5195977" y="1256581"/>
            <a:ext cx="1647646" cy="42269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块向量不准确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779C1030-A6FD-9683-449F-A2BDCA911C70}"/>
              </a:ext>
            </a:extLst>
          </p:cNvPr>
          <p:cNvSpPr/>
          <p:nvPr/>
        </p:nvSpPr>
        <p:spPr>
          <a:xfrm>
            <a:off x="6019800" y="4150438"/>
            <a:ext cx="1647646" cy="42269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Rerank</a:t>
            </a:r>
            <a:r>
              <a:rPr kumimoji="1" lang="zh-CN" altLang="en-US" dirty="0"/>
              <a:t>等策略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0D342663-02AA-FF67-B83A-629824A4AFDB}"/>
              </a:ext>
            </a:extLst>
          </p:cNvPr>
          <p:cNvSpPr/>
          <p:nvPr/>
        </p:nvSpPr>
        <p:spPr>
          <a:xfrm>
            <a:off x="1099128" y="5368506"/>
            <a:ext cx="2752436" cy="42269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Prompt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补全策略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84D0E18-9F8F-2552-8D92-89F36A6E64EC}"/>
              </a:ext>
            </a:extLst>
          </p:cNvPr>
          <p:cNvSpPr/>
          <p:nvPr/>
        </p:nvSpPr>
        <p:spPr>
          <a:xfrm>
            <a:off x="309419" y="2472906"/>
            <a:ext cx="2752436" cy="422694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Prompt</a:t>
            </a:r>
            <a:r>
              <a:rPr kumimoji="1" lang="zh-CN" altLang="en-US" dirty="0"/>
              <a:t> </a:t>
            </a:r>
            <a:r>
              <a:rPr kumimoji="1" lang="en-US" altLang="zh-CN" dirty="0"/>
              <a:t>+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补全策略</a:t>
            </a: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1C9B489-87BF-E911-AAB9-5F3500F1ECF6}"/>
              </a:ext>
            </a:extLst>
          </p:cNvPr>
          <p:cNvSpPr/>
          <p:nvPr/>
        </p:nvSpPr>
        <p:spPr>
          <a:xfrm>
            <a:off x="10173058" y="3923581"/>
            <a:ext cx="1647646" cy="422694"/>
          </a:xfrm>
          <a:prstGeom prst="roundRect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Memory</a:t>
            </a:r>
            <a:r>
              <a:rPr kumimoji="1" lang="zh-CN" altLang="en-US" dirty="0"/>
              <a:t>机制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650405DB-629C-F350-724B-1A52B72DC5BA}"/>
              </a:ext>
            </a:extLst>
          </p:cNvPr>
          <p:cNvSpPr/>
          <p:nvPr/>
        </p:nvSpPr>
        <p:spPr>
          <a:xfrm>
            <a:off x="10161677" y="4455630"/>
            <a:ext cx="1647646" cy="422694"/>
          </a:xfrm>
          <a:prstGeom prst="roundRect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GraphRAG</a:t>
            </a:r>
            <a:endParaRPr kumimoji="1" lang="zh-CN" altLang="en-US" dirty="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AA2AB401-4253-A512-336F-0803CE85630A}"/>
              </a:ext>
            </a:extLst>
          </p:cNvPr>
          <p:cNvSpPr/>
          <p:nvPr/>
        </p:nvSpPr>
        <p:spPr>
          <a:xfrm>
            <a:off x="10161677" y="4969556"/>
            <a:ext cx="1647646" cy="422694"/>
          </a:xfrm>
          <a:prstGeom prst="roundRect">
            <a:avLst/>
          </a:prstGeom>
          <a:solidFill>
            <a:srgbClr val="002060"/>
          </a:soli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CIG</a:t>
            </a:r>
          </a:p>
        </p:txBody>
      </p:sp>
    </p:spTree>
    <p:extLst>
      <p:ext uri="{BB962C8B-B14F-4D97-AF65-F5344CB8AC3E}">
        <p14:creationId xmlns:p14="http://schemas.microsoft.com/office/powerpoint/2010/main" val="376291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7C67-9FBB-E303-8EEF-FA3F942D3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en-US" altLang="zh-CN" dirty="0"/>
              <a:t>RAG</a:t>
            </a:r>
            <a:r>
              <a:rPr kumimoji="1" lang="zh-CN" altLang="en-US" dirty="0"/>
              <a:t>块匹配问题</a:t>
            </a:r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0C43C0E2-44E9-0F58-E50C-FC1AD002C77B}"/>
              </a:ext>
            </a:extLst>
          </p:cNvPr>
          <p:cNvSpPr/>
          <p:nvPr/>
        </p:nvSpPr>
        <p:spPr>
          <a:xfrm>
            <a:off x="4762260" y="2322684"/>
            <a:ext cx="2009954" cy="115594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无法精准检索到精确信息所在块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B89B241A-BBC3-159F-4354-1A6C6816AB12}"/>
              </a:ext>
            </a:extLst>
          </p:cNvPr>
          <p:cNvSpPr/>
          <p:nvPr/>
        </p:nvSpPr>
        <p:spPr>
          <a:xfrm>
            <a:off x="9992526" y="2526698"/>
            <a:ext cx="1866180" cy="3968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问题回答不准确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237C278-95D5-BE51-0DDE-7862BF3C5EF9}"/>
              </a:ext>
            </a:extLst>
          </p:cNvPr>
          <p:cNvSpPr/>
          <p:nvPr/>
        </p:nvSpPr>
        <p:spPr>
          <a:xfrm>
            <a:off x="9992526" y="3081809"/>
            <a:ext cx="1866180" cy="3968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多跳推理不准确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0ACB1F9-FC53-5735-5842-E18BA05907CB}"/>
              </a:ext>
            </a:extLst>
          </p:cNvPr>
          <p:cNvSpPr/>
          <p:nvPr/>
        </p:nvSpPr>
        <p:spPr>
          <a:xfrm>
            <a:off x="4629683" y="5319421"/>
            <a:ext cx="2504535" cy="1155940"/>
          </a:xfrm>
          <a:prstGeom prst="roundRect">
            <a:avLst>
              <a:gd name="adj" fmla="val 0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更合理的</a:t>
            </a:r>
            <a:r>
              <a:rPr kumimoji="1" lang="en-US" altLang="zh-CN" dirty="0"/>
              <a:t>chunk</a:t>
            </a:r>
            <a:r>
              <a:rPr kumimoji="1" lang="zh-CN" altLang="en-US" dirty="0"/>
              <a:t>方法</a:t>
            </a:r>
          </a:p>
        </p:txBody>
      </p:sp>
      <p:sp>
        <p:nvSpPr>
          <p:cNvPr id="8" name="右箭头 7">
            <a:extLst>
              <a:ext uri="{FF2B5EF4-FFF2-40B4-BE49-F238E27FC236}">
                <a16:creationId xmlns:a16="http://schemas.microsoft.com/office/drawing/2014/main" id="{BB10AF39-A7E6-BC12-F402-1EE451DA62FE}"/>
              </a:ext>
            </a:extLst>
          </p:cNvPr>
          <p:cNvSpPr/>
          <p:nvPr/>
        </p:nvSpPr>
        <p:spPr>
          <a:xfrm>
            <a:off x="7028873" y="2900654"/>
            <a:ext cx="2567709" cy="4571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A3B277-7B1F-A222-EDA7-E73540FD2626}"/>
              </a:ext>
            </a:extLst>
          </p:cNvPr>
          <p:cNvSpPr txBox="1"/>
          <p:nvPr/>
        </p:nvSpPr>
        <p:spPr>
          <a:xfrm>
            <a:off x="5213239" y="190691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核心问题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DA3B879-2F7A-0DCA-3DB5-1C951753D3E8}"/>
              </a:ext>
            </a:extLst>
          </p:cNvPr>
          <p:cNvSpPr txBox="1"/>
          <p:nvPr/>
        </p:nvSpPr>
        <p:spPr>
          <a:xfrm>
            <a:off x="8059204" y="252669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导致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B3A96BE8-EF84-8BB4-4515-46D3772FAE6D}"/>
              </a:ext>
            </a:extLst>
          </p:cNvPr>
          <p:cNvCxnSpPr/>
          <p:nvPr/>
        </p:nvCxnSpPr>
        <p:spPr>
          <a:xfrm>
            <a:off x="5767237" y="3629891"/>
            <a:ext cx="0" cy="13946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FA944DA4-5EF4-45F9-98F1-FA0219A1DC6E}"/>
              </a:ext>
            </a:extLst>
          </p:cNvPr>
          <p:cNvSpPr txBox="1"/>
          <p:nvPr/>
        </p:nvSpPr>
        <p:spPr>
          <a:xfrm>
            <a:off x="5865091" y="41840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解决方案</a:t>
            </a: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ECAB3612-21DC-AD37-0AC7-C30173EC129A}"/>
              </a:ext>
            </a:extLst>
          </p:cNvPr>
          <p:cNvCxnSpPr>
            <a:cxnSpLocks/>
          </p:cNvCxnSpPr>
          <p:nvPr/>
        </p:nvCxnSpPr>
        <p:spPr>
          <a:xfrm>
            <a:off x="2429164" y="2896030"/>
            <a:ext cx="22005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A390B7E-121D-0CAD-EA9F-7E9BBD0F4D39}"/>
              </a:ext>
            </a:extLst>
          </p:cNvPr>
          <p:cNvSpPr/>
          <p:nvPr/>
        </p:nvSpPr>
        <p:spPr>
          <a:xfrm>
            <a:off x="199627" y="1780992"/>
            <a:ext cx="2200518" cy="74570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文档块和</a:t>
            </a:r>
            <a:r>
              <a:rPr kumimoji="1" lang="en-US" altLang="zh-CN" dirty="0"/>
              <a:t>query</a:t>
            </a:r>
            <a:r>
              <a:rPr kumimoji="1" lang="zh-CN" altLang="en-US" dirty="0"/>
              <a:t>之间的语义匹配度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406769F-3118-36C8-5C80-A4FF4748950B}"/>
              </a:ext>
            </a:extLst>
          </p:cNvPr>
          <p:cNvSpPr/>
          <p:nvPr/>
        </p:nvSpPr>
        <p:spPr>
          <a:xfrm>
            <a:off x="199627" y="2711364"/>
            <a:ext cx="2200519" cy="37043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文档切分方式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3F21617C-BC3D-6964-C912-2187595C4DCE}"/>
              </a:ext>
            </a:extLst>
          </p:cNvPr>
          <p:cNvSpPr/>
          <p:nvPr/>
        </p:nvSpPr>
        <p:spPr>
          <a:xfrm>
            <a:off x="199628" y="3280215"/>
            <a:ext cx="2200518" cy="63228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关键信息分散在多个文档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E3D4F76-230C-4BF2-D09A-170C581AD53B}"/>
              </a:ext>
            </a:extLst>
          </p:cNvPr>
          <p:cNvSpPr txBox="1"/>
          <p:nvPr/>
        </p:nvSpPr>
        <p:spPr>
          <a:xfrm>
            <a:off x="745888" y="137213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根本原因</a:t>
            </a:r>
          </a:p>
        </p:txBody>
      </p:sp>
    </p:spTree>
    <p:extLst>
      <p:ext uri="{BB962C8B-B14F-4D97-AF65-F5344CB8AC3E}">
        <p14:creationId xmlns:p14="http://schemas.microsoft.com/office/powerpoint/2010/main" val="423051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D202E-C7F7-EB7A-6D60-EE9B5AA2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问题</a:t>
            </a:r>
            <a:r>
              <a:rPr kumimoji="1" lang="en-US" altLang="zh-CN" dirty="0"/>
              <a:t>1</a:t>
            </a:r>
            <a:r>
              <a:rPr kumimoji="1" lang="zh-CN" altLang="en-US" dirty="0"/>
              <a:t> 文档块本身的语义问题</a:t>
            </a:r>
            <a:br>
              <a:rPr kumimoji="1" lang="en-US" altLang="zh-CN" dirty="0"/>
            </a:br>
            <a:r>
              <a:rPr kumimoji="1" lang="zh-CN" altLang="en-US" dirty="0"/>
              <a:t>问题</a:t>
            </a:r>
            <a:r>
              <a:rPr kumimoji="1" lang="en-US" altLang="zh-CN" dirty="0"/>
              <a:t>2</a:t>
            </a:r>
            <a:r>
              <a:rPr kumimoji="1" lang="zh-CN" altLang="en-US" dirty="0"/>
              <a:t> 文档块之间的关系问题</a:t>
            </a:r>
          </a:p>
        </p:txBody>
      </p:sp>
    </p:spTree>
    <p:extLst>
      <p:ext uri="{BB962C8B-B14F-4D97-AF65-F5344CB8AC3E}">
        <p14:creationId xmlns:p14="http://schemas.microsoft.com/office/powerpoint/2010/main" val="1330539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D6F546-2162-A2A4-C2BC-212F772A2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32B4B-E1C7-652B-C9E3-559C895B6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60913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</TotalTime>
  <Words>122</Words>
  <Application>Microsoft Macintosh PowerPoint</Application>
  <PresentationFormat>宽屏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A Survey of RAG</vt:lpstr>
      <vt:lpstr>RAG整体流程和问题分析</vt:lpstr>
      <vt:lpstr>RAG块匹配问题</vt:lpstr>
      <vt:lpstr>问题1 文档块本身的语义问题 问题2 文档块之间的关系问题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3</cp:revision>
  <dcterms:created xsi:type="dcterms:W3CDTF">2025-08-08T02:02:10Z</dcterms:created>
  <dcterms:modified xsi:type="dcterms:W3CDTF">2025-08-11T07:53:54Z</dcterms:modified>
</cp:coreProperties>
</file>